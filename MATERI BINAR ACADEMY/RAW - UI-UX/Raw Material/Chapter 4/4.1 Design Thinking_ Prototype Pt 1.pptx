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4"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Lst>
  <p:sldSz cy="5143500" cx="9144000"/>
  <p:notesSz cx="6858000" cy="9144000"/>
  <p:embeddedFontLst>
    <p:embeddedFont>
      <p:font typeface="Raleway"/>
      <p:regular r:id="rId61"/>
      <p:bold r:id="rId62"/>
      <p:italic r:id="rId63"/>
      <p:boldItalic r:id="rId64"/>
    </p:embeddedFont>
    <p:embeddedFont>
      <p:font typeface="Montserrat"/>
      <p:regular r:id="rId65"/>
      <p:bold r:id="rId66"/>
      <p:italic r:id="rId67"/>
      <p:boldItalic r:id="rId68"/>
    </p:embeddedFont>
    <p:embeddedFont>
      <p:font typeface="Lato Black"/>
      <p:bold r:id="rId69"/>
      <p:boldItalic r:id="rId70"/>
    </p:embeddedFont>
    <p:embeddedFont>
      <p:font typeface="Raleway Medium"/>
      <p:regular r:id="rId71"/>
      <p:bold r:id="rId72"/>
      <p:italic r:id="rId73"/>
      <p:boldItalic r:id="rId7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3024">
          <p15:clr>
            <a:srgbClr val="A4A3A4"/>
          </p15:clr>
        </p15:guide>
        <p15:guide id="2" pos="2921">
          <p15:clr>
            <a:srgbClr val="A4A3A4"/>
          </p15:clr>
        </p15:guide>
        <p15:guide id="3" orient="horz" pos="576">
          <p15:clr>
            <a:srgbClr val="9AA0A6"/>
          </p15:clr>
        </p15:guide>
        <p15:guide id="4" pos="2976">
          <p15:clr>
            <a:srgbClr val="9AA0A6"/>
          </p15:clr>
        </p15:guide>
        <p15:guide id="5" pos="307">
          <p15:clr>
            <a:srgbClr val="9AA0A6"/>
          </p15:clr>
        </p15:guide>
        <p15:guide id="6" pos="4934">
          <p15:clr>
            <a:srgbClr val="9AA0A6"/>
          </p15:clr>
        </p15:guide>
        <p15:guide id="7" pos="5428">
          <p15:clr>
            <a:srgbClr val="9AA0A6"/>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3024" orient="horz"/>
        <p:guide pos="2921"/>
        <p:guide pos="576" orient="horz"/>
        <p:guide pos="2976"/>
        <p:guide pos="307"/>
        <p:guide pos="4934"/>
        <p:guide pos="5428"/>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73" Type="http://schemas.openxmlformats.org/officeDocument/2006/relationships/font" Target="fonts/RalewayMedium-italic.fntdata"/><Relationship Id="rId72" Type="http://schemas.openxmlformats.org/officeDocument/2006/relationships/font" Target="fonts/RalewayMedium-bold.fntdata"/><Relationship Id="rId31" Type="http://schemas.openxmlformats.org/officeDocument/2006/relationships/slide" Target="slides/slide26.xml"/><Relationship Id="rId30" Type="http://schemas.openxmlformats.org/officeDocument/2006/relationships/slide" Target="slides/slide25.xml"/><Relationship Id="rId74" Type="http://schemas.openxmlformats.org/officeDocument/2006/relationships/font" Target="fonts/RalewayMedium-boldItalic.fntdata"/><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71" Type="http://schemas.openxmlformats.org/officeDocument/2006/relationships/font" Target="fonts/RalewayMedium-regular.fntdata"/><Relationship Id="rId70" Type="http://schemas.openxmlformats.org/officeDocument/2006/relationships/font" Target="fonts/LatoBlack-boldItalic.fntdata"/><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62" Type="http://schemas.openxmlformats.org/officeDocument/2006/relationships/font" Target="fonts/Raleway-bold.fntdata"/><Relationship Id="rId61" Type="http://schemas.openxmlformats.org/officeDocument/2006/relationships/font" Target="fonts/Raleway-regular.fntdata"/><Relationship Id="rId20" Type="http://schemas.openxmlformats.org/officeDocument/2006/relationships/slide" Target="slides/slide15.xml"/><Relationship Id="rId64" Type="http://schemas.openxmlformats.org/officeDocument/2006/relationships/font" Target="fonts/Raleway-boldItalic.fntdata"/><Relationship Id="rId63" Type="http://schemas.openxmlformats.org/officeDocument/2006/relationships/font" Target="fonts/Raleway-italic.fntdata"/><Relationship Id="rId22" Type="http://schemas.openxmlformats.org/officeDocument/2006/relationships/slide" Target="slides/slide17.xml"/><Relationship Id="rId66" Type="http://schemas.openxmlformats.org/officeDocument/2006/relationships/font" Target="fonts/Montserrat-bold.fntdata"/><Relationship Id="rId21" Type="http://schemas.openxmlformats.org/officeDocument/2006/relationships/slide" Target="slides/slide16.xml"/><Relationship Id="rId65" Type="http://schemas.openxmlformats.org/officeDocument/2006/relationships/font" Target="fonts/Montserrat-regular.fntdata"/><Relationship Id="rId24" Type="http://schemas.openxmlformats.org/officeDocument/2006/relationships/slide" Target="slides/slide19.xml"/><Relationship Id="rId68" Type="http://schemas.openxmlformats.org/officeDocument/2006/relationships/font" Target="fonts/Montserrat-boldItalic.fntdata"/><Relationship Id="rId23" Type="http://schemas.openxmlformats.org/officeDocument/2006/relationships/slide" Target="slides/slide18.xml"/><Relationship Id="rId67" Type="http://schemas.openxmlformats.org/officeDocument/2006/relationships/font" Target="fonts/Montserrat-italic.fntdata"/><Relationship Id="rId60" Type="http://schemas.openxmlformats.org/officeDocument/2006/relationships/slide" Target="slides/slide55.xml"/><Relationship Id="rId26" Type="http://schemas.openxmlformats.org/officeDocument/2006/relationships/slide" Target="slides/slide21.xml"/><Relationship Id="rId25" Type="http://schemas.openxmlformats.org/officeDocument/2006/relationships/slide" Target="slides/slide20.xml"/><Relationship Id="rId69" Type="http://schemas.openxmlformats.org/officeDocument/2006/relationships/font" Target="fonts/LatoBlack-bold.fntdata"/><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11" Type="http://schemas.openxmlformats.org/officeDocument/2006/relationships/slide" Target="slides/slide6.xml"/><Relationship Id="rId55" Type="http://schemas.openxmlformats.org/officeDocument/2006/relationships/slide" Target="slides/slide50.xml"/><Relationship Id="rId10" Type="http://schemas.openxmlformats.org/officeDocument/2006/relationships/slide" Target="slides/slide5.xml"/><Relationship Id="rId54" Type="http://schemas.openxmlformats.org/officeDocument/2006/relationships/slide" Target="slides/slide49.xml"/><Relationship Id="rId13" Type="http://schemas.openxmlformats.org/officeDocument/2006/relationships/slide" Target="slides/slide8.xml"/><Relationship Id="rId57" Type="http://schemas.openxmlformats.org/officeDocument/2006/relationships/slide" Target="slides/slide52.xml"/><Relationship Id="rId12" Type="http://schemas.openxmlformats.org/officeDocument/2006/relationships/slide" Target="slides/slide7.xml"/><Relationship Id="rId56" Type="http://schemas.openxmlformats.org/officeDocument/2006/relationships/slide" Target="slides/slide51.xml"/><Relationship Id="rId15" Type="http://schemas.openxmlformats.org/officeDocument/2006/relationships/slide" Target="slides/slide10.xml"/><Relationship Id="rId59" Type="http://schemas.openxmlformats.org/officeDocument/2006/relationships/slide" Target="slides/slide54.xml"/><Relationship Id="rId14" Type="http://schemas.openxmlformats.org/officeDocument/2006/relationships/slide" Target="slides/slide9.xml"/><Relationship Id="rId58" Type="http://schemas.openxmlformats.org/officeDocument/2006/relationships/slide" Target="slides/slide53.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amayli?utm_source=unsplash&amp;utm_medium=referral&amp;utm_content=creditCopyText" TargetMode="External"/><Relationship Id="rId3" Type="http://schemas.openxmlformats.org/officeDocument/2006/relationships/hyperlink" Target="https://unsplash.com/@amayli?utm_source=unsplash&amp;utm_medium=referral&amp;utm_content=creditCopyText" TargetMode="External"/><Relationship Id="rId4" Type="http://schemas.openxmlformats.org/officeDocument/2006/relationships/hyperlink" Target="https://unsplash.com/s/photos/prototyping?utm_source=unsplash&amp;utm_medium=referral&amp;utm_content=creditCopyText" TargetMode="External"/><Relationship Id="rId5" Type="http://schemas.openxmlformats.org/officeDocument/2006/relationships/hyperlink" Target="https://unsplash.com/s/photos/prototyping?utm_source=unsplash&amp;utm_medium=referral&amp;utm_content=creditCopyText" TargetMode="Externa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sigmund?utm_source=unsplash&amp;utm_medium=referral&amp;utm_content=creditCopyText" TargetMode="External"/><Relationship Id="rId3" Type="http://schemas.openxmlformats.org/officeDocument/2006/relationships/hyperlink" Target="https://unsplash.com/@sigmund?utm_source=unsplash&amp;utm_medium=referral&amp;utm_content=creditCopyText" TargetMode="External"/><Relationship Id="rId4" Type="http://schemas.openxmlformats.org/officeDocument/2006/relationships/hyperlink" Target="https://unsplash.com/s/photos/prototyping?utm_source=unsplash&amp;utm_medium=referral&amp;utm_content=creditCopyText" TargetMode="External"/><Relationship Id="rId5" Type="http://schemas.openxmlformats.org/officeDocument/2006/relationships/hyperlink" Target="https://unsplash.com/s/photos/prototyping?utm_source=unsplash&amp;utm_medium=referral&amp;utm_content=creditCopyText" TargetMode="Externa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sigmund?utm_source=unsplash&amp;utm_medium=referral&amp;utm_content=creditCopyText" TargetMode="External"/><Relationship Id="rId3" Type="http://schemas.openxmlformats.org/officeDocument/2006/relationships/hyperlink" Target="https://unsplash.com/@sigmund?utm_source=unsplash&amp;utm_medium=referral&amp;utm_content=creditCopyText" TargetMode="External"/><Relationship Id="rId4" Type="http://schemas.openxmlformats.org/officeDocument/2006/relationships/hyperlink" Target="https://unsplash.com/s/photos/prototyping?utm_source=unsplash&amp;utm_medium=referral&amp;utm_content=creditCopyText" TargetMode="External"/><Relationship Id="rId5" Type="http://schemas.openxmlformats.org/officeDocument/2006/relationships/hyperlink" Target="https://unsplash.com/s/photos/prototyping?utm_source=unsplash&amp;utm_medium=referral&amp;utm_content=creditCopyText" TargetMode="Externa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amayli?utm_source=unsplash&amp;utm_medium=referral&amp;utm_content=creditCopyText" TargetMode="External"/><Relationship Id="rId3" Type="http://schemas.openxmlformats.org/officeDocument/2006/relationships/hyperlink" Target="https://unsplash.com/@amayli?utm_source=unsplash&amp;utm_medium=referral&amp;utm_content=creditCopyText" TargetMode="External"/><Relationship Id="rId4" Type="http://schemas.openxmlformats.org/officeDocument/2006/relationships/hyperlink" Target="https://unsplash.com/s/photos/prototype?utm_source=unsplash&amp;utm_medium=referral&amp;utm_content=creditCopyText" TargetMode="External"/><Relationship Id="rId5" Type="http://schemas.openxmlformats.org/officeDocument/2006/relationships/hyperlink" Target="https://unsplash.com/s/photos/prototype?utm_source=unsplash&amp;utm_medium=referral&amp;utm_content=creditCopyText" TargetMode="Externa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amayli?utm_source=unsplash&amp;utm_medium=referral&amp;utm_content=creditCopyText" TargetMode="External"/><Relationship Id="rId3" Type="http://schemas.openxmlformats.org/officeDocument/2006/relationships/hyperlink" Target="https://unsplash.com/@amayli?utm_source=unsplash&amp;utm_medium=referral&amp;utm_content=creditCopyText" TargetMode="External"/><Relationship Id="rId4" Type="http://schemas.openxmlformats.org/officeDocument/2006/relationships/hyperlink" Target="https://unsplash.com/s/photos/prototype?utm_source=unsplash&amp;utm_medium=referral&amp;utm_content=creditCopyText" TargetMode="External"/><Relationship Id="rId5" Type="http://schemas.openxmlformats.org/officeDocument/2006/relationships/hyperlink" Target="https://unsplash.com/s/photos/prototype?utm_source=unsplash&amp;utm_medium=referral&amp;utm_content=creditCopyText" TargetMode="Externa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sigmund?utm_source=unsplash&amp;utm_medium=referral&amp;utm_content=creditCopyText" TargetMode="External"/><Relationship Id="rId3" Type="http://schemas.openxmlformats.org/officeDocument/2006/relationships/hyperlink" Target="https://unsplash.com/@sigmund?utm_source=unsplash&amp;utm_medium=referral&amp;utm_content=creditCopyText" TargetMode="External"/><Relationship Id="rId4" Type="http://schemas.openxmlformats.org/officeDocument/2006/relationships/hyperlink" Target="https://unsplash.com/s/photos/prototype?utm_source=unsplash&amp;utm_medium=referral&amp;utm_content=creditCopyText" TargetMode="External"/><Relationship Id="rId5" Type="http://schemas.openxmlformats.org/officeDocument/2006/relationships/hyperlink" Target="https://unsplash.com/s/photos/prototype?utm_source=unsplash&amp;utm_medium=referral&amp;utm_content=creditCopyText" TargetMode="Externa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sigmund?utm_source=unsplash&amp;utm_medium=referral&amp;utm_content=creditCopyText" TargetMode="External"/><Relationship Id="rId3" Type="http://schemas.openxmlformats.org/officeDocument/2006/relationships/hyperlink" Target="https://unsplash.com/@sigmund?utm_source=unsplash&amp;utm_medium=referral&amp;utm_content=creditCopyText" TargetMode="External"/><Relationship Id="rId4" Type="http://schemas.openxmlformats.org/officeDocument/2006/relationships/hyperlink" Target="https://unsplash.com/s/photos/prototype?utm_source=unsplash&amp;utm_medium=referral&amp;utm_content=creditCopyText" TargetMode="External"/><Relationship Id="rId5" Type="http://schemas.openxmlformats.org/officeDocument/2006/relationships/hyperlink" Target="https://unsplash.com/s/photos/prototype?utm_source=unsplash&amp;utm_medium=referral&amp;utm_content=creditCopyText" TargetMode="Externa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louismornaud?utm_source=unsplash&amp;utm_medium=referral&amp;utm_content=creditCopyText" TargetMode="External"/><Relationship Id="rId3" Type="http://schemas.openxmlformats.org/officeDocument/2006/relationships/hyperlink" Target="https://unsplash.com/@louismornaud?utm_source=unsplash&amp;utm_medium=referral&amp;utm_content=creditCopyText" TargetMode="External"/><Relationship Id="rId4" Type="http://schemas.openxmlformats.org/officeDocument/2006/relationships/hyperlink" Target="https://unsplash.com/s/photos/prototype?utm_source=unsplash&amp;utm_medium=referral&amp;utm_content=creditCopyText" TargetMode="External"/><Relationship Id="rId5" Type="http://schemas.openxmlformats.org/officeDocument/2006/relationships/hyperlink" Target="https://unsplash.com/s/photos/prototype?utm_source=unsplash&amp;utm_medium=referral&amp;utm_content=creditCopyText" TargetMode="Externa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hamishkale_?utm_source=unsplash&amp;utm_medium=referral&amp;utm_content=creditCopyText" TargetMode="External"/><Relationship Id="rId3" Type="http://schemas.openxmlformats.org/officeDocument/2006/relationships/hyperlink" Target="https://unsplash.com/@hamishkale_?utm_source=unsplash&amp;utm_medium=referral&amp;utm_content=creditCopyText" TargetMode="External"/><Relationship Id="rId4" Type="http://schemas.openxmlformats.org/officeDocument/2006/relationships/hyperlink" Target="https://unsplash.com/s/photos/drama?utm_source=unsplash&amp;utm_medium=referral&amp;utm_content=creditCopyText" TargetMode="External"/><Relationship Id="rId5" Type="http://schemas.openxmlformats.org/officeDocument/2006/relationships/hyperlink" Target="https://unsplash.com/s/photos/drama?utm_source=unsplash&amp;utm_medium=referral&amp;utm_content=creditCopyText" TargetMode="Externa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ralstonhsmith?utm_source=unsplash&amp;utm_medium=referral&amp;utm_content=creditCopyText" TargetMode="External"/><Relationship Id="rId3" Type="http://schemas.openxmlformats.org/officeDocument/2006/relationships/hyperlink" Target="https://unsplash.com/@ralstonhsmith?utm_source=unsplash&amp;utm_medium=referral&amp;utm_content=creditCopyText" TargetMode="External"/><Relationship Id="rId4" Type="http://schemas.openxmlformats.org/officeDocument/2006/relationships/hyperlink" Target="https://unsplash.com/s/photos/video-prototype?utm_source=unsplash&amp;utm_medium=referral&amp;utm_content=creditCopyText" TargetMode="External"/><Relationship Id="rId5" Type="http://schemas.openxmlformats.org/officeDocument/2006/relationships/hyperlink" Target="https://unsplash.com/s/photos/video-prototype?utm_source=unsplash&amp;utm_medium=referral&amp;utm_content=creditCopyText" TargetMode="Externa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nate_dumlao?utm_source=unsplash&amp;utm_medium=referral&amp;utm_content=creditCopyText" TargetMode="External"/><Relationship Id="rId3" Type="http://schemas.openxmlformats.org/officeDocument/2006/relationships/hyperlink" Target="https://unsplash.com/@nate_dumlao?utm_source=unsplash&amp;utm_medium=referral&amp;utm_content=creditCopyText" TargetMode="External"/><Relationship Id="rId4" Type="http://schemas.openxmlformats.org/officeDocument/2006/relationships/hyperlink" Target="https://unsplash.com/s/photos/on-the-phone?utm_source=unsplash&amp;utm_medium=referral&amp;utm_content=creditCopyText" TargetMode="External"/><Relationship Id="rId5" Type="http://schemas.openxmlformats.org/officeDocument/2006/relationships/hyperlink" Target="https://unsplash.com/s/photos/on-the-phone?utm_source=unsplash&amp;utm_medium=referral&amp;utm_content=creditCopyText" TargetMode="Externa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tezos?utm_source=unsplash&amp;utm_medium=referral&amp;utm_content=creditCopyText" TargetMode="External"/><Relationship Id="rId3" Type="http://schemas.openxmlformats.org/officeDocument/2006/relationships/hyperlink" Target="https://unsplash.com/@tezos?utm_source=unsplash&amp;utm_medium=referral&amp;utm_content=creditCopyText" TargetMode="External"/><Relationship Id="rId4" Type="http://schemas.openxmlformats.org/officeDocument/2006/relationships/hyperlink" Target="https://unsplash.com/s/photos/technology?utm_source=unsplash&amp;utm_medium=referral&amp;utm_content=creditCopyText" TargetMode="External"/><Relationship Id="rId5" Type="http://schemas.openxmlformats.org/officeDocument/2006/relationships/hyperlink" Target="https://unsplash.com/s/photos/technology?utm_source=unsplash&amp;utm_medium=referral&amp;utm_content=creditCopyText" TargetMode="Externa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nate_dumlao?utm_source=unsplash&amp;utm_medium=referral&amp;utm_content=creditCopyText" TargetMode="External"/><Relationship Id="rId3" Type="http://schemas.openxmlformats.org/officeDocument/2006/relationships/hyperlink" Target="https://unsplash.com/@nate_dumlao?utm_source=unsplash&amp;utm_medium=referral&amp;utm_content=creditCopyText" TargetMode="External"/><Relationship Id="rId4" Type="http://schemas.openxmlformats.org/officeDocument/2006/relationships/hyperlink" Target="https://unsplash.com/s/photos/on-the-phone?utm_source=unsplash&amp;utm_medium=referral&amp;utm_content=creditCopyText" TargetMode="External"/><Relationship Id="rId5" Type="http://schemas.openxmlformats.org/officeDocument/2006/relationships/hyperlink" Target="https://unsplash.com/s/photos/on-the-phone?utm_source=unsplash&amp;utm_medium=referral&amp;utm_content=creditCopyText" TargetMode="Externa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fazurrehman?utm_source=unsplash&amp;utm_medium=referral&amp;utm_content=creditCopyText" TargetMode="External"/><Relationship Id="rId3" Type="http://schemas.openxmlformats.org/officeDocument/2006/relationships/hyperlink" Target="https://unsplash.com/@fazurrehman?utm_source=unsplash&amp;utm_medium=referral&amp;utm_content=creditCopyText" TargetMode="External"/><Relationship Id="rId4" Type="http://schemas.openxmlformats.org/officeDocument/2006/relationships/hyperlink" Target="https://unsplash.com/s/photos/wireframe?utm_source=unsplash&amp;utm_medium=referral&amp;utm_content=creditCopyText" TargetMode="External"/><Relationship Id="rId5" Type="http://schemas.openxmlformats.org/officeDocument/2006/relationships/hyperlink" Target="https://unsplash.com/s/photos/wireframe?utm_source=unsplash&amp;utm_medium=referral&amp;utm_content=creditCopyText" TargetMode="Externa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techdailyca?utm_source=unsplash&amp;utm_medium=referral&amp;utm_content=creditCopyText" TargetMode="External"/><Relationship Id="rId3" Type="http://schemas.openxmlformats.org/officeDocument/2006/relationships/hyperlink" Target="https://unsplash.com/@techdailyca?utm_source=unsplash&amp;utm_medium=referral&amp;utm_content=creditCopyText" TargetMode="External"/><Relationship Id="rId4" Type="http://schemas.openxmlformats.org/officeDocument/2006/relationships/hyperlink" Target="https://unsplash.com/s/photos/prototype-interactive?utm_source=unsplash&amp;utm_medium=referral&amp;utm_content=creditCopyText" TargetMode="External"/><Relationship Id="rId5" Type="http://schemas.openxmlformats.org/officeDocument/2006/relationships/hyperlink" Target="https://unsplash.com/s/photos/prototype-interactive?utm_source=unsplash&amp;utm_medium=referral&amp;utm_content=creditCopyText" TargetMode="Externa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alexbemore?utm_source=unsplash&amp;utm_medium=referral&amp;utm_content=creditCopyText" TargetMode="External"/><Relationship Id="rId3" Type="http://schemas.openxmlformats.org/officeDocument/2006/relationships/hyperlink" Target="https://unsplash.com/@alexbemore?utm_source=unsplash&amp;utm_medium=referral&amp;utm_content=creditCopyText" TargetMode="External"/><Relationship Id="rId4" Type="http://schemas.openxmlformats.org/officeDocument/2006/relationships/hyperlink" Target="https://unsplash.com/s/photos/figma?utm_source=unsplash&amp;utm_medium=referral&amp;utm_content=creditCopyText" TargetMode="External"/><Relationship Id="rId5" Type="http://schemas.openxmlformats.org/officeDocument/2006/relationships/hyperlink" Target="https://unsplash.com/s/photos/figma?utm_source=unsplash&amp;utm_medium=referral&amp;utm_content=creditCopyText" TargetMode="Externa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ebdesign.tutsplus.com/courses/introduction-to-figma/lessons/working-with-projects-files-and-pages-in-figma" TargetMode="Externa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ebdesign.tutsplus.com/courses/introduction-to-figma/lessons/using-the-figma-ui" TargetMode="Externa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ebdesign.tutsplus.com/courses/introduction-to-figma/lessons/working-with-frames-shapes-and-text-in-figma" TargetMode="Externa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ebdesign.tutsplus.com/courses/introduction-to-figma/lessons/creating-vector-networks-with-the-pen-tool" TargetMode="Externa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ebdesign.tutsplus.com/courses/introduction-to-figma/lessons/working-with-grids-in-figma" TargetMode="Externa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ebdesign.tutsplus.com/courses/introduction-to-figma/lessons/using-figma-plugins" TargetMode="Externa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g7b9cd5a793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 name="Google Shape;88;g7b9cd5a793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g10b12bec43e_0_1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 name="Google Shape;96;g10b12bec43e_0_1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g10df2df5133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 name="Google Shape;104;g10df2df5133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Author/Copyright holder: Teo Yu Siang and Interaction Design Foundation. Copyright licence: CC BY-NC-SA 3.0</a:t>
            </a:r>
            <a:endParaRPr>
              <a:solidFill>
                <a:schemeClr val="dk1"/>
              </a:solidFil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g10b12bec43e_0_8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2" name="Google Shape;112;g10b12bec43e_0_8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g10df2df5133_0_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 name="Google Shape;118;g10df2df5133_0_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Author/Copyright holder: Teo Yu Siang and Interaction Design Foundation. Copyright licence: CC BY-NC-SA 3.0</a:t>
            </a:r>
            <a:endParaRPr>
              <a:solidFill>
                <a:schemeClr val="dk1"/>
              </a:solidFil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g10df2df5133_0_2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6" name="Google Shape;126;g10df2df5133_0_2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Amélie Mourichon</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g10df2df5133_0_1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4" name="Google Shape;134;g10df2df5133_0_1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g10df2df5133_0_3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0" name="Google Shape;140;g10df2df5133_0_3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Sigmund</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g10df2df5133_0_3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8" name="Google Shape;148;g10df2df5133_0_3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Sigmund</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10df2df5133_0_3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6" name="Google Shape;156;g10df2df5133_0_3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Amélie Mourichon</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g10df2df5133_0_4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4" name="Google Shape;164;g10df2df5133_0_4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Amélie Mourichon</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g10df2df5133_0_4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2" name="Google Shape;172;g10df2df5133_0_4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g10df2df5133_0_4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8" name="Google Shape;178;g10df2df5133_0_4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Sigmund</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10df2df5133_0_4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6" name="Google Shape;186;g10df2df5133_0_4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Sigmund</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g10df2df5133_0_5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7" name="Google Shape;207;g10df2df5133_0_5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Video from </a:t>
            </a:r>
            <a:endParaRPr>
              <a:solidFill>
                <a:schemeClr val="dk1"/>
              </a:solidFil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g10df2df5133_0_5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4" name="Google Shape;214;g10df2df5133_0_5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g10df2df5133_0_5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0" name="Google Shape;220;g10df2df5133_0_5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Louis Mornaud</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g10df2df5133_0_5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8" name="Google Shape;228;g10df2df5133_0_5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https://www.workshopper.com/post/design-thinking-phase-4-everything-you-need-to-know-about-prototyping</a:t>
            </a:r>
            <a:endParaRPr>
              <a:solidFill>
                <a:schemeClr val="dk1"/>
              </a:solidFill>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g10df2df5133_0_5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6" name="Google Shape;236;g10df2df5133_0_5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https://www.workshopper.com/post/design-thinking-phase-4-everything-you-need-to-know-about-prototyping</a:t>
            </a:r>
            <a:endParaRPr>
              <a:solidFill>
                <a:schemeClr val="dk1"/>
              </a:solidFill>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g10df2df5133_0_5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4" name="Google Shape;244;g10df2df5133_0_5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Hamish Kale</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g10df2df5133_0_5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2" name="Google Shape;252;g10df2df5133_0_5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Ralston Smith</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g10df2df5133_0_6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0" name="Google Shape;260;g10df2df5133_0_6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Nathan Dumlao</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g10df2df5133_0_6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8" name="Google Shape;268;g10df2df5133_0_6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g10df2df5133_0_6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4" name="Google Shape;274;g10df2df5133_0_6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https://www.reforge.com/brief/the-4-different-types-of-product-prototypes#9pIWKToQyqTn3SJqEiUchg</a:t>
            </a:r>
            <a:endParaRPr>
              <a:solidFill>
                <a:schemeClr val="dk1"/>
              </a:solidFill>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g10df2df5133_0_6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1" name="Google Shape;281;g10df2df5133_0_6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Tezos</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g10df2df5133_0_6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9" name="Google Shape;289;g10df2df5133_0_6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Nathan Dumlao</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 name="Shape 295"/>
        <p:cNvGrpSpPr/>
        <p:nvPr/>
      </p:nvGrpSpPr>
      <p:grpSpPr>
        <a:xfrm>
          <a:off x="0" y="0"/>
          <a:ext cx="0" cy="0"/>
          <a:chOff x="0" y="0"/>
          <a:chExt cx="0" cy="0"/>
        </a:xfrm>
      </p:grpSpPr>
      <p:sp>
        <p:nvSpPr>
          <p:cNvPr id="296" name="Google Shape;296;g10df2df5133_0_6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7" name="Google Shape;297;g10df2df5133_0_6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Faizur Rehman</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 name="Shape 303"/>
        <p:cNvGrpSpPr/>
        <p:nvPr/>
      </p:nvGrpSpPr>
      <p:grpSpPr>
        <a:xfrm>
          <a:off x="0" y="0"/>
          <a:ext cx="0" cy="0"/>
          <a:chOff x="0" y="0"/>
          <a:chExt cx="0" cy="0"/>
        </a:xfrm>
      </p:grpSpPr>
      <p:sp>
        <p:nvSpPr>
          <p:cNvPr id="304" name="Google Shape;304;g10df2df5133_0_6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5" name="Google Shape;305;g10df2df5133_0_6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Tech Daily</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g10df2df5133_0_6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3" name="Google Shape;313;g10df2df5133_0_6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https://www.toptal.com/designers/ui/invision-studio-tutorial</a:t>
            </a:r>
            <a:endParaRPr>
              <a:solidFill>
                <a:schemeClr val="dk1"/>
              </a:solidFill>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g10df2df5133_0_6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1" name="Google Shape;321;g10df2df5133_0_6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5" name="Shape 325"/>
        <p:cNvGrpSpPr/>
        <p:nvPr/>
      </p:nvGrpSpPr>
      <p:grpSpPr>
        <a:xfrm>
          <a:off x="0" y="0"/>
          <a:ext cx="0" cy="0"/>
          <a:chOff x="0" y="0"/>
          <a:chExt cx="0" cy="0"/>
        </a:xfrm>
      </p:grpSpPr>
      <p:sp>
        <p:nvSpPr>
          <p:cNvPr id="326" name="Google Shape;326;g10df2df5133_0_6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7" name="Google Shape;327;g10df2df5133_0_6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0" name="Shape 340"/>
        <p:cNvGrpSpPr/>
        <p:nvPr/>
      </p:nvGrpSpPr>
      <p:grpSpPr>
        <a:xfrm>
          <a:off x="0" y="0"/>
          <a:ext cx="0" cy="0"/>
          <a:chOff x="0" y="0"/>
          <a:chExt cx="0" cy="0"/>
        </a:xfrm>
      </p:grpSpPr>
      <p:sp>
        <p:nvSpPr>
          <p:cNvPr id="341" name="Google Shape;341;g10df2df5133_0_6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2" name="Google Shape;342;g10df2df5133_0_6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Alexander Shatov</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8" name="Shape 348"/>
        <p:cNvGrpSpPr/>
        <p:nvPr/>
      </p:nvGrpSpPr>
      <p:grpSpPr>
        <a:xfrm>
          <a:off x="0" y="0"/>
          <a:ext cx="0" cy="0"/>
          <a:chOff x="0" y="0"/>
          <a:chExt cx="0" cy="0"/>
        </a:xfrm>
      </p:grpSpPr>
      <p:sp>
        <p:nvSpPr>
          <p:cNvPr id="349" name="Google Shape;349;g10df2df5133_0_6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0" name="Google Shape;350;g10df2df5133_0_6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Video from </a:t>
            </a:r>
            <a:r>
              <a:rPr lang="en" u="sng">
                <a:solidFill>
                  <a:schemeClr val="hlink"/>
                </a:solidFill>
                <a:hlinkClick r:id="rId2"/>
              </a:rPr>
              <a:t>https://webdesign.tutsplus.com/courses/introduction-to-figma/lessons/working-with-projects-files-and-pages-in-figma</a:t>
            </a:r>
            <a:br>
              <a:rPr lang="en">
                <a:solidFill>
                  <a:schemeClr val="dk1"/>
                </a:solidFill>
              </a:rPr>
            </a:br>
            <a:r>
              <a:rPr lang="en">
                <a:solidFill>
                  <a:schemeClr val="dk1"/>
                </a:solidFill>
              </a:rPr>
              <a:t>Go to the website to play</a:t>
            </a:r>
            <a:endParaRPr>
              <a:solidFill>
                <a:schemeClr val="dk1"/>
              </a:solidFill>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6" name="Shape 356"/>
        <p:cNvGrpSpPr/>
        <p:nvPr/>
      </p:nvGrpSpPr>
      <p:grpSpPr>
        <a:xfrm>
          <a:off x="0" y="0"/>
          <a:ext cx="0" cy="0"/>
          <a:chOff x="0" y="0"/>
          <a:chExt cx="0" cy="0"/>
        </a:xfrm>
      </p:grpSpPr>
      <p:sp>
        <p:nvSpPr>
          <p:cNvPr id="357" name="Google Shape;357;g10df2df5133_0_7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8" name="Google Shape;358;g10df2df5133_0_7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Video from </a:t>
            </a:r>
            <a:r>
              <a:rPr lang="en" u="sng">
                <a:solidFill>
                  <a:schemeClr val="hlink"/>
                </a:solidFill>
                <a:hlinkClick r:id="rId2"/>
              </a:rPr>
              <a:t>https://webdesign.tutsplus.com/courses/introduction-to-figma/lessons/using-the-figma-ui</a:t>
            </a:r>
            <a:r>
              <a:rPr lang="en">
                <a:solidFill>
                  <a:schemeClr val="dk1"/>
                </a:solidFill>
              </a:rPr>
              <a:t> </a:t>
            </a:r>
            <a:br>
              <a:rPr lang="en">
                <a:solidFill>
                  <a:schemeClr val="dk1"/>
                </a:solidFill>
              </a:rPr>
            </a:br>
            <a:r>
              <a:rPr lang="en">
                <a:solidFill>
                  <a:schemeClr val="dk1"/>
                </a:solidFill>
              </a:rPr>
              <a:t>Go to the website to play</a:t>
            </a:r>
            <a:endParaRPr>
              <a:solidFill>
                <a:schemeClr val="dk1"/>
              </a:solidFill>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 name="Shape 364"/>
        <p:cNvGrpSpPr/>
        <p:nvPr/>
      </p:nvGrpSpPr>
      <p:grpSpPr>
        <a:xfrm>
          <a:off x="0" y="0"/>
          <a:ext cx="0" cy="0"/>
          <a:chOff x="0" y="0"/>
          <a:chExt cx="0" cy="0"/>
        </a:xfrm>
      </p:grpSpPr>
      <p:sp>
        <p:nvSpPr>
          <p:cNvPr id="365" name="Google Shape;365;g10df2df5133_0_7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6" name="Google Shape;366;g10df2df5133_0_7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Video from </a:t>
            </a:r>
            <a:r>
              <a:rPr lang="en" u="sng">
                <a:solidFill>
                  <a:schemeClr val="hlink"/>
                </a:solidFill>
                <a:hlinkClick r:id="rId2"/>
              </a:rPr>
              <a:t>https://webdesign.tutsplus.com/courses/introduction-to-figma/lessons/working-with-frames-shapes-and-text-in-figma</a:t>
            </a:r>
            <a:br>
              <a:rPr lang="en">
                <a:solidFill>
                  <a:schemeClr val="dk1"/>
                </a:solidFill>
              </a:rPr>
            </a:br>
            <a:r>
              <a:rPr lang="en">
                <a:solidFill>
                  <a:schemeClr val="dk1"/>
                </a:solidFill>
              </a:rPr>
              <a:t>Go to the website to play</a:t>
            </a:r>
            <a:endParaRPr>
              <a:solidFill>
                <a:schemeClr val="dk1"/>
              </a:solidFill>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2" name="Shape 372"/>
        <p:cNvGrpSpPr/>
        <p:nvPr/>
      </p:nvGrpSpPr>
      <p:grpSpPr>
        <a:xfrm>
          <a:off x="0" y="0"/>
          <a:ext cx="0" cy="0"/>
          <a:chOff x="0" y="0"/>
          <a:chExt cx="0" cy="0"/>
        </a:xfrm>
      </p:grpSpPr>
      <p:sp>
        <p:nvSpPr>
          <p:cNvPr id="373" name="Google Shape;373;g10df2df5133_0_7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4" name="Google Shape;374;g10df2df5133_0_7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Video from </a:t>
            </a:r>
            <a:r>
              <a:rPr lang="en" u="sng">
                <a:solidFill>
                  <a:schemeClr val="hlink"/>
                </a:solidFill>
                <a:hlinkClick r:id="rId2"/>
              </a:rPr>
              <a:t>https://webdesign.tutsplus.com/courses/introduction-to-figma/lessons/creating-vector-networks-with-the-pen-tool</a:t>
            </a:r>
            <a:r>
              <a:rPr lang="en">
                <a:solidFill>
                  <a:schemeClr val="dk1"/>
                </a:solidFill>
              </a:rPr>
              <a:t> </a:t>
            </a:r>
            <a:br>
              <a:rPr lang="en">
                <a:solidFill>
                  <a:schemeClr val="dk1"/>
                </a:solidFill>
              </a:rPr>
            </a:br>
            <a:r>
              <a:rPr lang="en">
                <a:solidFill>
                  <a:schemeClr val="dk1"/>
                </a:solidFill>
              </a:rPr>
              <a:t>Go to the website to play</a:t>
            </a:r>
            <a:endParaRPr>
              <a:solidFill>
                <a:schemeClr val="dk1"/>
              </a:solidFill>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0" name="Shape 380"/>
        <p:cNvGrpSpPr/>
        <p:nvPr/>
      </p:nvGrpSpPr>
      <p:grpSpPr>
        <a:xfrm>
          <a:off x="0" y="0"/>
          <a:ext cx="0" cy="0"/>
          <a:chOff x="0" y="0"/>
          <a:chExt cx="0" cy="0"/>
        </a:xfrm>
      </p:grpSpPr>
      <p:sp>
        <p:nvSpPr>
          <p:cNvPr id="381" name="Google Shape;381;g10df2df5133_0_7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2" name="Google Shape;382;g10df2df5133_0_7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Video from </a:t>
            </a:r>
            <a:r>
              <a:rPr lang="en" u="sng">
                <a:solidFill>
                  <a:schemeClr val="hlink"/>
                </a:solidFill>
                <a:hlinkClick r:id="rId2"/>
              </a:rPr>
              <a:t>https://webdesign.tutsplus.com/courses/introduction-to-figma/lessons/working-with-grids-in-figma</a:t>
            </a:r>
            <a:endParaRPr>
              <a:solidFill>
                <a:schemeClr val="dk1"/>
              </a:solidFill>
            </a:endParaRPr>
          </a:p>
          <a:p>
            <a:pPr indent="0" lvl="0" marL="0" rtl="0" algn="l">
              <a:spcBef>
                <a:spcPts val="0"/>
              </a:spcBef>
              <a:spcAft>
                <a:spcPts val="0"/>
              </a:spcAft>
              <a:buNone/>
            </a:pPr>
            <a:r>
              <a:rPr lang="en">
                <a:solidFill>
                  <a:schemeClr val="dk1"/>
                </a:solidFill>
              </a:rPr>
              <a:t>Go to the website to play</a:t>
            </a:r>
            <a:endParaRPr>
              <a:solidFill>
                <a:schemeClr val="dk1"/>
              </a:solidFill>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8" name="Shape 388"/>
        <p:cNvGrpSpPr/>
        <p:nvPr/>
      </p:nvGrpSpPr>
      <p:grpSpPr>
        <a:xfrm>
          <a:off x="0" y="0"/>
          <a:ext cx="0" cy="0"/>
          <a:chOff x="0" y="0"/>
          <a:chExt cx="0" cy="0"/>
        </a:xfrm>
      </p:grpSpPr>
      <p:sp>
        <p:nvSpPr>
          <p:cNvPr id="389" name="Google Shape;389;g10df2df5133_0_7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0" name="Google Shape;390;g10df2df5133_0_7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Video from </a:t>
            </a:r>
            <a:r>
              <a:rPr lang="en" u="sng">
                <a:solidFill>
                  <a:schemeClr val="hlink"/>
                </a:solidFill>
                <a:hlinkClick r:id="rId2"/>
              </a:rPr>
              <a:t>https://webdesign.tutsplus.com/courses/introduction-to-figma/lessons/using-figma-plugins</a:t>
            </a:r>
            <a:r>
              <a:rPr lang="en">
                <a:solidFill>
                  <a:schemeClr val="dk1"/>
                </a:solidFill>
              </a:rPr>
              <a:t> </a:t>
            </a:r>
            <a:endParaRPr>
              <a:solidFill>
                <a:schemeClr val="dk1"/>
              </a:solidFill>
            </a:endParaRPr>
          </a:p>
          <a:p>
            <a:pPr indent="0" lvl="0" marL="0" rtl="0" algn="l">
              <a:spcBef>
                <a:spcPts val="0"/>
              </a:spcBef>
              <a:spcAft>
                <a:spcPts val="0"/>
              </a:spcAft>
              <a:buNone/>
            </a:pPr>
            <a:r>
              <a:rPr lang="en">
                <a:solidFill>
                  <a:schemeClr val="dk1"/>
                </a:solidFill>
              </a:rPr>
              <a:t>Go to the website to play</a:t>
            </a:r>
            <a:endParaRPr>
              <a:solidFill>
                <a:schemeClr val="dk1"/>
              </a:solidFill>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6" name="Shape 396"/>
        <p:cNvGrpSpPr/>
        <p:nvPr/>
      </p:nvGrpSpPr>
      <p:grpSpPr>
        <a:xfrm>
          <a:off x="0" y="0"/>
          <a:ext cx="0" cy="0"/>
          <a:chOff x="0" y="0"/>
          <a:chExt cx="0" cy="0"/>
        </a:xfrm>
      </p:grpSpPr>
      <p:sp>
        <p:nvSpPr>
          <p:cNvPr id="397" name="Google Shape;397;g10e2c76066b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8" name="Google Shape;398;g10e2c76066b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5" name="Shape 405"/>
        <p:cNvGrpSpPr/>
        <p:nvPr/>
      </p:nvGrpSpPr>
      <p:grpSpPr>
        <a:xfrm>
          <a:off x="0" y="0"/>
          <a:ext cx="0" cy="0"/>
          <a:chOff x="0" y="0"/>
          <a:chExt cx="0" cy="0"/>
        </a:xfrm>
      </p:grpSpPr>
      <p:sp>
        <p:nvSpPr>
          <p:cNvPr id="406" name="Google Shape;406;g10e2c76066b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7" name="Google Shape;407;g10e2c76066b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4" name="Shape 414"/>
        <p:cNvGrpSpPr/>
        <p:nvPr/>
      </p:nvGrpSpPr>
      <p:grpSpPr>
        <a:xfrm>
          <a:off x="0" y="0"/>
          <a:ext cx="0" cy="0"/>
          <a:chOff x="0" y="0"/>
          <a:chExt cx="0" cy="0"/>
        </a:xfrm>
      </p:grpSpPr>
      <p:sp>
        <p:nvSpPr>
          <p:cNvPr id="415" name="Google Shape;415;g111421c87ef_0_2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6" name="Google Shape;416;g111421c87ef_0_2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0" name="Shape 420"/>
        <p:cNvGrpSpPr/>
        <p:nvPr/>
      </p:nvGrpSpPr>
      <p:grpSpPr>
        <a:xfrm>
          <a:off x="0" y="0"/>
          <a:ext cx="0" cy="0"/>
          <a:chOff x="0" y="0"/>
          <a:chExt cx="0" cy="0"/>
        </a:xfrm>
      </p:grpSpPr>
      <p:sp>
        <p:nvSpPr>
          <p:cNvPr id="421" name="Google Shape;421;g11174bdd19f_0_3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2" name="Google Shape;422;g11174bdd19f_0_3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6" name="Shape 426"/>
        <p:cNvGrpSpPr/>
        <p:nvPr/>
      </p:nvGrpSpPr>
      <p:grpSpPr>
        <a:xfrm>
          <a:off x="0" y="0"/>
          <a:ext cx="0" cy="0"/>
          <a:chOff x="0" y="0"/>
          <a:chExt cx="0" cy="0"/>
        </a:xfrm>
      </p:grpSpPr>
      <p:sp>
        <p:nvSpPr>
          <p:cNvPr id="427" name="Google Shape;427;g10df2df5133_0_7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8" name="Google Shape;428;g10df2df5133_0_7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3" name="Shape 433"/>
        <p:cNvGrpSpPr/>
        <p:nvPr/>
      </p:nvGrpSpPr>
      <p:grpSpPr>
        <a:xfrm>
          <a:off x="0" y="0"/>
          <a:ext cx="0" cy="0"/>
          <a:chOff x="0" y="0"/>
          <a:chExt cx="0" cy="0"/>
        </a:xfrm>
      </p:grpSpPr>
      <p:sp>
        <p:nvSpPr>
          <p:cNvPr id="434" name="Google Shape;434;g10df2df5133_0_7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5" name="Google Shape;435;g10df2df5133_0_7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9" name="Shape 439"/>
        <p:cNvGrpSpPr/>
        <p:nvPr/>
      </p:nvGrpSpPr>
      <p:grpSpPr>
        <a:xfrm>
          <a:off x="0" y="0"/>
          <a:ext cx="0" cy="0"/>
          <a:chOff x="0" y="0"/>
          <a:chExt cx="0" cy="0"/>
        </a:xfrm>
      </p:grpSpPr>
      <p:sp>
        <p:nvSpPr>
          <p:cNvPr id="440" name="Google Shape;440;g10df2df5133_0_7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1" name="Google Shape;441;g10df2df5133_0_7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6" name="Shape 446"/>
        <p:cNvGrpSpPr/>
        <p:nvPr/>
      </p:nvGrpSpPr>
      <p:grpSpPr>
        <a:xfrm>
          <a:off x="0" y="0"/>
          <a:ext cx="0" cy="0"/>
          <a:chOff x="0" y="0"/>
          <a:chExt cx="0" cy="0"/>
        </a:xfrm>
      </p:grpSpPr>
      <p:sp>
        <p:nvSpPr>
          <p:cNvPr id="447" name="Google Shape;447;g10df2df5133_0_7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8" name="Google Shape;448;g10df2df5133_0_7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2" name="Shape 452"/>
        <p:cNvGrpSpPr/>
        <p:nvPr/>
      </p:nvGrpSpPr>
      <p:grpSpPr>
        <a:xfrm>
          <a:off x="0" y="0"/>
          <a:ext cx="0" cy="0"/>
          <a:chOff x="0" y="0"/>
          <a:chExt cx="0" cy="0"/>
        </a:xfrm>
      </p:grpSpPr>
      <p:sp>
        <p:nvSpPr>
          <p:cNvPr id="453" name="Google Shape;453;g10df2df5133_0_7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4" name="Google Shape;454;g10df2df5133_0_7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9" name="Shape 459"/>
        <p:cNvGrpSpPr/>
        <p:nvPr/>
      </p:nvGrpSpPr>
      <p:grpSpPr>
        <a:xfrm>
          <a:off x="0" y="0"/>
          <a:ext cx="0" cy="0"/>
          <a:chOff x="0" y="0"/>
          <a:chExt cx="0" cy="0"/>
        </a:xfrm>
      </p:grpSpPr>
      <p:sp>
        <p:nvSpPr>
          <p:cNvPr id="460" name="Google Shape;460;g10df2df5133_0_7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1" name="Google Shape;461;g10df2df5133_0_7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5" name="Shape 465"/>
        <p:cNvGrpSpPr/>
        <p:nvPr/>
      </p:nvGrpSpPr>
      <p:grpSpPr>
        <a:xfrm>
          <a:off x="0" y="0"/>
          <a:ext cx="0" cy="0"/>
          <a:chOff x="0" y="0"/>
          <a:chExt cx="0" cy="0"/>
        </a:xfrm>
      </p:grpSpPr>
      <p:sp>
        <p:nvSpPr>
          <p:cNvPr id="466" name="Google Shape;466;g10df2df5133_0_7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7" name="Google Shape;467;g10df2df5133_0_7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2" name="Shape 472"/>
        <p:cNvGrpSpPr/>
        <p:nvPr/>
      </p:nvGrpSpPr>
      <p:grpSpPr>
        <a:xfrm>
          <a:off x="0" y="0"/>
          <a:ext cx="0" cy="0"/>
          <a:chOff x="0" y="0"/>
          <a:chExt cx="0" cy="0"/>
        </a:xfrm>
      </p:grpSpPr>
      <p:sp>
        <p:nvSpPr>
          <p:cNvPr id="473" name="Google Shape;473;g10df2df5133_0_7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4" name="Google Shape;474;g10df2df5133_0_7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8" name="Shape 478"/>
        <p:cNvGrpSpPr/>
        <p:nvPr/>
      </p:nvGrpSpPr>
      <p:grpSpPr>
        <a:xfrm>
          <a:off x="0" y="0"/>
          <a:ext cx="0" cy="0"/>
          <a:chOff x="0" y="0"/>
          <a:chExt cx="0" cy="0"/>
        </a:xfrm>
      </p:grpSpPr>
      <p:sp>
        <p:nvSpPr>
          <p:cNvPr id="479" name="Google Shape;479;g10df2df5133_0_7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0" name="Google Shape;480;g10df2df5133_0_7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5" name="Shape 485"/>
        <p:cNvGrpSpPr/>
        <p:nvPr/>
      </p:nvGrpSpPr>
      <p:grpSpPr>
        <a:xfrm>
          <a:off x="0" y="0"/>
          <a:ext cx="0" cy="0"/>
          <a:chOff x="0" y="0"/>
          <a:chExt cx="0" cy="0"/>
        </a:xfrm>
      </p:grpSpPr>
      <p:sp>
        <p:nvSpPr>
          <p:cNvPr id="486" name="Google Shape;486;g10df2df5133_0_8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7" name="Google Shape;487;g10df2df5133_0_8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1" name="Shape 491"/>
        <p:cNvGrpSpPr/>
        <p:nvPr/>
      </p:nvGrpSpPr>
      <p:grpSpPr>
        <a:xfrm>
          <a:off x="0" y="0"/>
          <a:ext cx="0" cy="0"/>
          <a:chOff x="0" y="0"/>
          <a:chExt cx="0" cy="0"/>
        </a:xfrm>
      </p:grpSpPr>
      <p:sp>
        <p:nvSpPr>
          <p:cNvPr id="492" name="Google Shape;492;g10df2df5133_0_8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3" name="Google Shape;493;g10df2df5133_0_8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8" name="Shape 498"/>
        <p:cNvGrpSpPr/>
        <p:nvPr/>
      </p:nvGrpSpPr>
      <p:grpSpPr>
        <a:xfrm>
          <a:off x="0" y="0"/>
          <a:ext cx="0" cy="0"/>
          <a:chOff x="0" y="0"/>
          <a:chExt cx="0" cy="0"/>
        </a:xfrm>
      </p:grpSpPr>
      <p:sp>
        <p:nvSpPr>
          <p:cNvPr id="499" name="Google Shape;499;g10df2df5133_0_2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0" name="Google Shape;500;g10df2df5133_0_2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6" name="Shape 506"/>
        <p:cNvGrpSpPr/>
        <p:nvPr/>
      </p:nvGrpSpPr>
      <p:grpSpPr>
        <a:xfrm>
          <a:off x="0" y="0"/>
          <a:ext cx="0" cy="0"/>
          <a:chOff x="0" y="0"/>
          <a:chExt cx="0" cy="0"/>
        </a:xfrm>
      </p:grpSpPr>
      <p:sp>
        <p:nvSpPr>
          <p:cNvPr id="507" name="Google Shape;507;g10e54dbc4a4_0_1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8" name="Google Shape;508;g10e54dbc4a4_0_1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rgbClr val="733572"/>
        </a:solidFill>
      </p:bgPr>
    </p:bg>
    <p:spTree>
      <p:nvGrpSpPr>
        <p:cNvPr id="9" name="Shape 9"/>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rgbClr val="733572"/>
        </a:solidFill>
      </p:bgPr>
    </p:bg>
    <p:spTree>
      <p:nvGrpSpPr>
        <p:cNvPr id="10" name="Shape 10"/>
        <p:cNvGrpSpPr/>
        <p:nvPr/>
      </p:nvGrpSpPr>
      <p:grpSpPr>
        <a:xfrm>
          <a:off x="0" y="0"/>
          <a:ext cx="0" cy="0"/>
          <a:chOff x="0" y="0"/>
          <a:chExt cx="0" cy="0"/>
        </a:xfrm>
      </p:grpSpPr>
      <p:sp>
        <p:nvSpPr>
          <p:cNvPr id="11" name="Google Shape;11;p3"/>
          <p:cNvSpPr txBox="1"/>
          <p:nvPr>
            <p:ph type="title"/>
          </p:nvPr>
        </p:nvSpPr>
        <p:spPr>
          <a:xfrm>
            <a:off x="914400" y="2210700"/>
            <a:ext cx="7315200" cy="7221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lt1"/>
              </a:buClr>
              <a:buSzPts val="2400"/>
              <a:buFont typeface="Raleway"/>
              <a:buNone/>
              <a:defRPr b="1" sz="2400">
                <a:solidFill>
                  <a:schemeClr val="lt1"/>
                </a:solidFill>
                <a:latin typeface="Raleway"/>
                <a:ea typeface="Raleway"/>
                <a:cs typeface="Raleway"/>
                <a:sym typeface="Raleway"/>
              </a:defRPr>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2" name="Google Shape;12;p3"/>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lvl1pPr lvl="0" rtl="0">
              <a:buNone/>
              <a:defRPr b="1">
                <a:solidFill>
                  <a:schemeClr val="lt1"/>
                </a:solidFill>
                <a:latin typeface="Raleway"/>
                <a:ea typeface="Raleway"/>
                <a:cs typeface="Raleway"/>
                <a:sym typeface="Raleway"/>
              </a:defRPr>
            </a:lvl1pPr>
            <a:lvl2pPr lvl="1" rtl="0">
              <a:buNone/>
              <a:defRPr b="1">
                <a:solidFill>
                  <a:schemeClr val="lt1"/>
                </a:solidFill>
                <a:latin typeface="Raleway"/>
                <a:ea typeface="Raleway"/>
                <a:cs typeface="Raleway"/>
                <a:sym typeface="Raleway"/>
              </a:defRPr>
            </a:lvl2pPr>
            <a:lvl3pPr lvl="2" rtl="0">
              <a:buNone/>
              <a:defRPr b="1">
                <a:solidFill>
                  <a:schemeClr val="lt1"/>
                </a:solidFill>
                <a:latin typeface="Raleway"/>
                <a:ea typeface="Raleway"/>
                <a:cs typeface="Raleway"/>
                <a:sym typeface="Raleway"/>
              </a:defRPr>
            </a:lvl3pPr>
            <a:lvl4pPr lvl="3" rtl="0">
              <a:buNone/>
              <a:defRPr b="1">
                <a:solidFill>
                  <a:schemeClr val="lt1"/>
                </a:solidFill>
                <a:latin typeface="Raleway"/>
                <a:ea typeface="Raleway"/>
                <a:cs typeface="Raleway"/>
                <a:sym typeface="Raleway"/>
              </a:defRPr>
            </a:lvl4pPr>
            <a:lvl5pPr lvl="4" rtl="0">
              <a:buNone/>
              <a:defRPr b="1">
                <a:solidFill>
                  <a:schemeClr val="lt1"/>
                </a:solidFill>
                <a:latin typeface="Raleway"/>
                <a:ea typeface="Raleway"/>
                <a:cs typeface="Raleway"/>
                <a:sym typeface="Raleway"/>
              </a:defRPr>
            </a:lvl5pPr>
            <a:lvl6pPr lvl="5" rtl="0">
              <a:buNone/>
              <a:defRPr b="1">
                <a:solidFill>
                  <a:schemeClr val="lt1"/>
                </a:solidFill>
                <a:latin typeface="Raleway"/>
                <a:ea typeface="Raleway"/>
                <a:cs typeface="Raleway"/>
                <a:sym typeface="Raleway"/>
              </a:defRPr>
            </a:lvl6pPr>
            <a:lvl7pPr lvl="6" rtl="0">
              <a:buNone/>
              <a:defRPr b="1">
                <a:solidFill>
                  <a:schemeClr val="lt1"/>
                </a:solidFill>
                <a:latin typeface="Raleway"/>
                <a:ea typeface="Raleway"/>
                <a:cs typeface="Raleway"/>
                <a:sym typeface="Raleway"/>
              </a:defRPr>
            </a:lvl7pPr>
            <a:lvl8pPr lvl="7" rtl="0">
              <a:buNone/>
              <a:defRPr b="1">
                <a:solidFill>
                  <a:schemeClr val="lt1"/>
                </a:solidFill>
                <a:latin typeface="Raleway"/>
                <a:ea typeface="Raleway"/>
                <a:cs typeface="Raleway"/>
                <a:sym typeface="Raleway"/>
              </a:defRPr>
            </a:lvl8pPr>
            <a:lvl9pPr lvl="8" rtl="0">
              <a:buNone/>
              <a:defRPr b="1">
                <a:solidFill>
                  <a:schemeClr val="lt1"/>
                </a:solidFill>
                <a:latin typeface="Raleway"/>
                <a:ea typeface="Raleway"/>
                <a:cs typeface="Raleway"/>
                <a:sym typeface="Raleway"/>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3" name="Shape 13"/>
        <p:cNvGrpSpPr/>
        <p:nvPr/>
      </p:nvGrpSpPr>
      <p:grpSpPr>
        <a:xfrm>
          <a:off x="0" y="0"/>
          <a:ext cx="0" cy="0"/>
          <a:chOff x="0" y="0"/>
          <a:chExt cx="0" cy="0"/>
        </a:xfrm>
      </p:grpSpPr>
      <p:sp>
        <p:nvSpPr>
          <p:cNvPr id="14" name="Google Shape;14;p4"/>
          <p:cNvSpPr/>
          <p:nvPr/>
        </p:nvSpPr>
        <p:spPr>
          <a:xfrm flipH="1" rot="5400000">
            <a:off x="4303949" y="-4204126"/>
            <a:ext cx="536100" cy="9144000"/>
          </a:xfrm>
          <a:prstGeom prst="rect">
            <a:avLst/>
          </a:prstGeom>
          <a:solidFill>
            <a:srgbClr val="9B6DBB"/>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15" name="Google Shape;15;p4"/>
          <p:cNvSpPr txBox="1"/>
          <p:nvPr/>
        </p:nvSpPr>
        <p:spPr>
          <a:xfrm>
            <a:off x="573578" y="251687"/>
            <a:ext cx="7296000" cy="2307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FFFFFF"/>
              </a:buClr>
              <a:buSzPts val="1100"/>
              <a:buFont typeface="Montserrat"/>
              <a:buNone/>
            </a:pPr>
            <a:r>
              <a:rPr b="0" i="0" lang="en" sz="1100" u="none" cap="none" strike="noStrike">
                <a:solidFill>
                  <a:srgbClr val="FFFFFF"/>
                </a:solidFill>
                <a:latin typeface="Lato Black"/>
                <a:ea typeface="Lato Black"/>
                <a:cs typeface="Lato Black"/>
                <a:sym typeface="Lato Black"/>
              </a:rPr>
              <a:t>PM 101</a:t>
            </a:r>
            <a:endParaRPr b="0" i="0" sz="1100" u="none" cap="none" strike="noStrike">
              <a:solidFill>
                <a:srgbClr val="FFFFFF"/>
              </a:solidFill>
              <a:latin typeface="Lato Black"/>
              <a:ea typeface="Lato Black"/>
              <a:cs typeface="Lato Black"/>
              <a:sym typeface="Lato Black"/>
            </a:endParaRPr>
          </a:p>
        </p:txBody>
      </p:sp>
      <p:sp>
        <p:nvSpPr>
          <p:cNvPr id="16" name="Google Shape;16;p4"/>
          <p:cNvSpPr/>
          <p:nvPr/>
        </p:nvSpPr>
        <p:spPr>
          <a:xfrm flipH="1" rot="5400000">
            <a:off x="8499899" y="-8176"/>
            <a:ext cx="536100" cy="752100"/>
          </a:xfrm>
          <a:prstGeom prst="rect">
            <a:avLst/>
          </a:prstGeom>
          <a:solidFill>
            <a:srgbClr val="421E44"/>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17" name="Google Shape;17;p4"/>
          <p:cNvSpPr/>
          <p:nvPr/>
        </p:nvSpPr>
        <p:spPr>
          <a:xfrm flipH="1" rot="5400000">
            <a:off x="6854930" y="200173"/>
            <a:ext cx="536100" cy="335400"/>
          </a:xfrm>
          <a:prstGeom prst="rect">
            <a:avLst/>
          </a:prstGeom>
          <a:solidFill>
            <a:srgbClr val="743673"/>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18" name="Google Shape;18;p4"/>
          <p:cNvSpPr/>
          <p:nvPr/>
        </p:nvSpPr>
        <p:spPr>
          <a:xfrm flipH="1" rot="5400000">
            <a:off x="7564580" y="-191328"/>
            <a:ext cx="536100" cy="1118400"/>
          </a:xfrm>
          <a:prstGeom prst="rect">
            <a:avLst/>
          </a:prstGeom>
          <a:solidFill>
            <a:srgbClr val="51225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19" name="Google Shape;19;p4"/>
          <p:cNvSpPr/>
          <p:nvPr/>
        </p:nvSpPr>
        <p:spPr>
          <a:xfrm flipH="1" rot="5400000">
            <a:off x="4303949" y="-4204126"/>
            <a:ext cx="536100" cy="9144000"/>
          </a:xfrm>
          <a:prstGeom prst="rect">
            <a:avLst/>
          </a:prstGeom>
          <a:solidFill>
            <a:srgbClr val="A667A5"/>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20" name="Google Shape;20;p4"/>
          <p:cNvSpPr/>
          <p:nvPr/>
        </p:nvSpPr>
        <p:spPr>
          <a:xfrm flipH="1" rot="5400000">
            <a:off x="6854930" y="200173"/>
            <a:ext cx="536100" cy="335400"/>
          </a:xfrm>
          <a:prstGeom prst="rect">
            <a:avLst/>
          </a:prstGeom>
          <a:solidFill>
            <a:srgbClr val="743673"/>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21" name="Google Shape;21;p4"/>
          <p:cNvSpPr/>
          <p:nvPr/>
        </p:nvSpPr>
        <p:spPr>
          <a:xfrm flipH="1" rot="5400000">
            <a:off x="7564580" y="-191328"/>
            <a:ext cx="536100" cy="1118400"/>
          </a:xfrm>
          <a:prstGeom prst="rect">
            <a:avLst/>
          </a:prstGeom>
          <a:solidFill>
            <a:srgbClr val="51225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grpSp>
        <p:nvGrpSpPr>
          <p:cNvPr id="22" name="Google Shape;22;p4"/>
          <p:cNvGrpSpPr/>
          <p:nvPr/>
        </p:nvGrpSpPr>
        <p:grpSpPr>
          <a:xfrm>
            <a:off x="283668" y="259895"/>
            <a:ext cx="226001" cy="222980"/>
            <a:chOff x="283668" y="251687"/>
            <a:chExt cx="226001" cy="222980"/>
          </a:xfrm>
        </p:grpSpPr>
        <p:sp>
          <p:nvSpPr>
            <p:cNvPr id="23" name="Google Shape;23;p4"/>
            <p:cNvSpPr/>
            <p:nvPr/>
          </p:nvSpPr>
          <p:spPr>
            <a:xfrm>
              <a:off x="283668" y="252225"/>
              <a:ext cx="162000" cy="1620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24" name="Google Shape;24;p4"/>
            <p:cNvSpPr/>
            <p:nvPr/>
          </p:nvSpPr>
          <p:spPr>
            <a:xfrm>
              <a:off x="465569" y="251687"/>
              <a:ext cx="44100" cy="1620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25" name="Google Shape;25;p4"/>
            <p:cNvSpPr/>
            <p:nvPr/>
          </p:nvSpPr>
          <p:spPr>
            <a:xfrm>
              <a:off x="283670" y="433867"/>
              <a:ext cx="225900" cy="408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grpSp>
      <p:sp>
        <p:nvSpPr>
          <p:cNvPr id="26" name="Google Shape;26;p4"/>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lvl1pPr lvl="0" rtl="0">
              <a:buNone/>
              <a:defRPr b="1">
                <a:solidFill>
                  <a:srgbClr val="733572"/>
                </a:solidFill>
                <a:latin typeface="Raleway"/>
                <a:ea typeface="Raleway"/>
                <a:cs typeface="Raleway"/>
                <a:sym typeface="Raleway"/>
              </a:defRPr>
            </a:lvl1pPr>
            <a:lvl2pPr lvl="1" rtl="0">
              <a:buNone/>
              <a:defRPr b="1">
                <a:solidFill>
                  <a:srgbClr val="733572"/>
                </a:solidFill>
                <a:latin typeface="Raleway"/>
                <a:ea typeface="Raleway"/>
                <a:cs typeface="Raleway"/>
                <a:sym typeface="Raleway"/>
              </a:defRPr>
            </a:lvl2pPr>
            <a:lvl3pPr lvl="2" rtl="0">
              <a:buNone/>
              <a:defRPr b="1">
                <a:solidFill>
                  <a:srgbClr val="733572"/>
                </a:solidFill>
                <a:latin typeface="Raleway"/>
                <a:ea typeface="Raleway"/>
                <a:cs typeface="Raleway"/>
                <a:sym typeface="Raleway"/>
              </a:defRPr>
            </a:lvl3pPr>
            <a:lvl4pPr lvl="3" rtl="0">
              <a:buNone/>
              <a:defRPr b="1">
                <a:solidFill>
                  <a:srgbClr val="733572"/>
                </a:solidFill>
                <a:latin typeface="Raleway"/>
                <a:ea typeface="Raleway"/>
                <a:cs typeface="Raleway"/>
                <a:sym typeface="Raleway"/>
              </a:defRPr>
            </a:lvl4pPr>
            <a:lvl5pPr lvl="4" rtl="0">
              <a:buNone/>
              <a:defRPr b="1">
                <a:solidFill>
                  <a:srgbClr val="733572"/>
                </a:solidFill>
                <a:latin typeface="Raleway"/>
                <a:ea typeface="Raleway"/>
                <a:cs typeface="Raleway"/>
                <a:sym typeface="Raleway"/>
              </a:defRPr>
            </a:lvl5pPr>
            <a:lvl6pPr lvl="5" rtl="0">
              <a:buNone/>
              <a:defRPr b="1">
                <a:solidFill>
                  <a:srgbClr val="733572"/>
                </a:solidFill>
                <a:latin typeface="Raleway"/>
                <a:ea typeface="Raleway"/>
                <a:cs typeface="Raleway"/>
                <a:sym typeface="Raleway"/>
              </a:defRPr>
            </a:lvl6pPr>
            <a:lvl7pPr lvl="6" rtl="0">
              <a:buNone/>
              <a:defRPr b="1">
                <a:solidFill>
                  <a:srgbClr val="733572"/>
                </a:solidFill>
                <a:latin typeface="Raleway"/>
                <a:ea typeface="Raleway"/>
                <a:cs typeface="Raleway"/>
                <a:sym typeface="Raleway"/>
              </a:defRPr>
            </a:lvl7pPr>
            <a:lvl8pPr lvl="7" rtl="0">
              <a:buNone/>
              <a:defRPr b="1">
                <a:solidFill>
                  <a:srgbClr val="733572"/>
                </a:solidFill>
                <a:latin typeface="Raleway"/>
                <a:ea typeface="Raleway"/>
                <a:cs typeface="Raleway"/>
                <a:sym typeface="Raleway"/>
              </a:defRPr>
            </a:lvl8pPr>
            <a:lvl9pPr lvl="8" rtl="0">
              <a:buNone/>
              <a:defRPr b="1">
                <a:solidFill>
                  <a:srgbClr val="733572"/>
                </a:solidFill>
                <a:latin typeface="Raleway"/>
                <a:ea typeface="Raleway"/>
                <a:cs typeface="Raleway"/>
                <a:sym typeface="Raleway"/>
              </a:defRPr>
            </a:lvl9pPr>
          </a:lstStyle>
          <a:p>
            <a:pPr indent="0" lvl="0" marL="0" rtl="0" algn="r">
              <a:spcBef>
                <a:spcPts val="0"/>
              </a:spcBef>
              <a:spcAft>
                <a:spcPts val="0"/>
              </a:spcAft>
              <a:buNone/>
            </a:pPr>
            <a:fld id="{00000000-1234-1234-1234-123412341234}" type="slidenum">
              <a:rPr lang="en"/>
              <a:t>‹#›</a:t>
            </a:fld>
            <a:endParaRPr/>
          </a:p>
        </p:txBody>
      </p:sp>
      <p:sp>
        <p:nvSpPr>
          <p:cNvPr id="27" name="Google Shape;27;p4"/>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lvl1pPr lvl="0" rtl="0">
              <a:spcBef>
                <a:spcPts val="0"/>
              </a:spcBef>
              <a:spcAft>
                <a:spcPts val="0"/>
              </a:spcAft>
              <a:buClr>
                <a:schemeClr val="lt1"/>
              </a:buClr>
              <a:buSzPts val="1200"/>
              <a:buFont typeface="Raleway"/>
              <a:buNone/>
              <a:defRPr b="1" sz="1200">
                <a:solidFill>
                  <a:schemeClr val="lt1"/>
                </a:solidFill>
                <a:latin typeface="Raleway"/>
                <a:ea typeface="Raleway"/>
                <a:cs typeface="Raleway"/>
                <a:sym typeface="Raleway"/>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28" name="Google Shape;28;p4"/>
          <p:cNvPicPr preferRelativeResize="0"/>
          <p:nvPr/>
        </p:nvPicPr>
        <p:blipFill rotWithShape="1">
          <a:blip r:embed="rId2">
            <a:alphaModFix/>
          </a:blip>
          <a:srcRect b="0" l="0" r="0" t="0"/>
          <a:stretch/>
        </p:blipFill>
        <p:spPr>
          <a:xfrm>
            <a:off x="8535950" y="143933"/>
            <a:ext cx="463928" cy="463928"/>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bg>
      <p:bgPr>
        <a:solidFill>
          <a:srgbClr val="733572"/>
        </a:solidFill>
      </p:bgPr>
    </p:bg>
    <p:spTree>
      <p:nvGrpSpPr>
        <p:cNvPr id="29" name="Shape 29"/>
        <p:cNvGrpSpPr/>
        <p:nvPr/>
      </p:nvGrpSpPr>
      <p:grpSpPr>
        <a:xfrm>
          <a:off x="0" y="0"/>
          <a:ext cx="0" cy="0"/>
          <a:chOff x="0" y="0"/>
          <a:chExt cx="0" cy="0"/>
        </a:xfrm>
      </p:grpSpPr>
      <p:sp>
        <p:nvSpPr>
          <p:cNvPr id="30" name="Google Shape;30;p5"/>
          <p:cNvSpPr/>
          <p:nvPr/>
        </p:nvSpPr>
        <p:spPr>
          <a:xfrm flipH="1" rot="5400000">
            <a:off x="4303949" y="-4204126"/>
            <a:ext cx="536100" cy="9144000"/>
          </a:xfrm>
          <a:prstGeom prst="rect">
            <a:avLst/>
          </a:prstGeom>
          <a:solidFill>
            <a:srgbClr val="A667A5"/>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31" name="Google Shape;31;p5"/>
          <p:cNvSpPr/>
          <p:nvPr/>
        </p:nvSpPr>
        <p:spPr>
          <a:xfrm flipH="1" rot="5400000">
            <a:off x="8499899" y="-8176"/>
            <a:ext cx="536100" cy="752100"/>
          </a:xfrm>
          <a:prstGeom prst="rect">
            <a:avLst/>
          </a:prstGeom>
          <a:solidFill>
            <a:srgbClr val="421E44"/>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32" name="Google Shape;32;p5"/>
          <p:cNvSpPr/>
          <p:nvPr/>
        </p:nvSpPr>
        <p:spPr>
          <a:xfrm flipH="1" rot="5400000">
            <a:off x="6854930" y="200173"/>
            <a:ext cx="536100" cy="335400"/>
          </a:xfrm>
          <a:prstGeom prst="rect">
            <a:avLst/>
          </a:prstGeom>
          <a:solidFill>
            <a:srgbClr val="743673"/>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33" name="Google Shape;33;p5"/>
          <p:cNvSpPr/>
          <p:nvPr/>
        </p:nvSpPr>
        <p:spPr>
          <a:xfrm flipH="1" rot="5400000">
            <a:off x="7564580" y="-191328"/>
            <a:ext cx="536100" cy="1118400"/>
          </a:xfrm>
          <a:prstGeom prst="rect">
            <a:avLst/>
          </a:prstGeom>
          <a:solidFill>
            <a:srgbClr val="51225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grpSp>
        <p:nvGrpSpPr>
          <p:cNvPr id="34" name="Google Shape;34;p5"/>
          <p:cNvGrpSpPr/>
          <p:nvPr/>
        </p:nvGrpSpPr>
        <p:grpSpPr>
          <a:xfrm>
            <a:off x="283668" y="259895"/>
            <a:ext cx="226001" cy="222980"/>
            <a:chOff x="283668" y="251687"/>
            <a:chExt cx="226001" cy="222980"/>
          </a:xfrm>
        </p:grpSpPr>
        <p:sp>
          <p:nvSpPr>
            <p:cNvPr id="35" name="Google Shape;35;p5"/>
            <p:cNvSpPr/>
            <p:nvPr/>
          </p:nvSpPr>
          <p:spPr>
            <a:xfrm>
              <a:off x="283668" y="252225"/>
              <a:ext cx="162000" cy="1620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36" name="Google Shape;36;p5"/>
            <p:cNvSpPr/>
            <p:nvPr/>
          </p:nvSpPr>
          <p:spPr>
            <a:xfrm>
              <a:off x="465569" y="251687"/>
              <a:ext cx="44100" cy="1620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37" name="Google Shape;37;p5"/>
            <p:cNvSpPr/>
            <p:nvPr/>
          </p:nvSpPr>
          <p:spPr>
            <a:xfrm>
              <a:off x="283670" y="433867"/>
              <a:ext cx="225900" cy="408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grpSp>
      <p:sp>
        <p:nvSpPr>
          <p:cNvPr id="38" name="Google Shape;38;p5"/>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lvl1pPr lvl="0" rtl="0">
              <a:spcBef>
                <a:spcPts val="0"/>
              </a:spcBef>
              <a:spcAft>
                <a:spcPts val="0"/>
              </a:spcAft>
              <a:buClr>
                <a:schemeClr val="lt1"/>
              </a:buClr>
              <a:buSzPts val="1200"/>
              <a:buFont typeface="Raleway"/>
              <a:buNone/>
              <a:defRPr b="1" sz="1200">
                <a:solidFill>
                  <a:schemeClr val="lt1"/>
                </a:solidFill>
                <a:latin typeface="Raleway"/>
                <a:ea typeface="Raleway"/>
                <a:cs typeface="Raleway"/>
                <a:sym typeface="Raleway"/>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39" name="Google Shape;39;p5"/>
          <p:cNvPicPr preferRelativeResize="0"/>
          <p:nvPr/>
        </p:nvPicPr>
        <p:blipFill rotWithShape="1">
          <a:blip r:embed="rId2">
            <a:alphaModFix/>
          </a:blip>
          <a:srcRect b="0" l="0" r="0" t="0"/>
          <a:stretch/>
        </p:blipFill>
        <p:spPr>
          <a:xfrm>
            <a:off x="8535950" y="143933"/>
            <a:ext cx="463928" cy="463928"/>
          </a:xfrm>
          <a:prstGeom prst="rect">
            <a:avLst/>
          </a:prstGeom>
          <a:noFill/>
          <a:ln>
            <a:noFill/>
          </a:ln>
        </p:spPr>
      </p:pic>
      <p:sp>
        <p:nvSpPr>
          <p:cNvPr id="40" name="Google Shape;40;p5"/>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lvl1pPr lvl="0" rtl="0">
              <a:buNone/>
              <a:defRPr b="1">
                <a:solidFill>
                  <a:schemeClr val="lt1"/>
                </a:solidFill>
                <a:latin typeface="Raleway"/>
                <a:ea typeface="Raleway"/>
                <a:cs typeface="Raleway"/>
                <a:sym typeface="Raleway"/>
              </a:defRPr>
            </a:lvl1pPr>
            <a:lvl2pPr lvl="1" rtl="0">
              <a:buNone/>
              <a:defRPr b="1">
                <a:solidFill>
                  <a:schemeClr val="lt1"/>
                </a:solidFill>
                <a:latin typeface="Raleway"/>
                <a:ea typeface="Raleway"/>
                <a:cs typeface="Raleway"/>
                <a:sym typeface="Raleway"/>
              </a:defRPr>
            </a:lvl2pPr>
            <a:lvl3pPr lvl="2" rtl="0">
              <a:buNone/>
              <a:defRPr b="1">
                <a:solidFill>
                  <a:schemeClr val="lt1"/>
                </a:solidFill>
                <a:latin typeface="Raleway"/>
                <a:ea typeface="Raleway"/>
                <a:cs typeface="Raleway"/>
                <a:sym typeface="Raleway"/>
              </a:defRPr>
            </a:lvl3pPr>
            <a:lvl4pPr lvl="3" rtl="0">
              <a:buNone/>
              <a:defRPr b="1">
                <a:solidFill>
                  <a:schemeClr val="lt1"/>
                </a:solidFill>
                <a:latin typeface="Raleway"/>
                <a:ea typeface="Raleway"/>
                <a:cs typeface="Raleway"/>
                <a:sym typeface="Raleway"/>
              </a:defRPr>
            </a:lvl4pPr>
            <a:lvl5pPr lvl="4" rtl="0">
              <a:buNone/>
              <a:defRPr b="1">
                <a:solidFill>
                  <a:schemeClr val="lt1"/>
                </a:solidFill>
                <a:latin typeface="Raleway"/>
                <a:ea typeface="Raleway"/>
                <a:cs typeface="Raleway"/>
                <a:sym typeface="Raleway"/>
              </a:defRPr>
            </a:lvl5pPr>
            <a:lvl6pPr lvl="5" rtl="0">
              <a:buNone/>
              <a:defRPr b="1">
                <a:solidFill>
                  <a:schemeClr val="lt1"/>
                </a:solidFill>
                <a:latin typeface="Raleway"/>
                <a:ea typeface="Raleway"/>
                <a:cs typeface="Raleway"/>
                <a:sym typeface="Raleway"/>
              </a:defRPr>
            </a:lvl6pPr>
            <a:lvl7pPr lvl="6" rtl="0">
              <a:buNone/>
              <a:defRPr b="1">
                <a:solidFill>
                  <a:schemeClr val="lt1"/>
                </a:solidFill>
                <a:latin typeface="Raleway"/>
                <a:ea typeface="Raleway"/>
                <a:cs typeface="Raleway"/>
                <a:sym typeface="Raleway"/>
              </a:defRPr>
            </a:lvl7pPr>
            <a:lvl8pPr lvl="7" rtl="0">
              <a:buNone/>
              <a:defRPr b="1">
                <a:solidFill>
                  <a:schemeClr val="lt1"/>
                </a:solidFill>
                <a:latin typeface="Raleway"/>
                <a:ea typeface="Raleway"/>
                <a:cs typeface="Raleway"/>
                <a:sym typeface="Raleway"/>
              </a:defRPr>
            </a:lvl8pPr>
            <a:lvl9pPr lvl="8" rtl="0">
              <a:buNone/>
              <a:defRPr b="1">
                <a:solidFill>
                  <a:schemeClr val="lt1"/>
                </a:solidFill>
                <a:latin typeface="Raleway"/>
                <a:ea typeface="Raleway"/>
                <a:cs typeface="Raleway"/>
                <a:sym typeface="Raleway"/>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1" name="Shape 41"/>
        <p:cNvGrpSpPr/>
        <p:nvPr/>
      </p:nvGrpSpPr>
      <p:grpSpPr>
        <a:xfrm>
          <a:off x="0" y="0"/>
          <a:ext cx="0" cy="0"/>
          <a:chOff x="0" y="0"/>
          <a:chExt cx="0" cy="0"/>
        </a:xfrm>
      </p:grpSpPr>
      <p:sp>
        <p:nvSpPr>
          <p:cNvPr id="42" name="Google Shape;42;p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43" name="Google Shape;43;p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4" name="Shape 44"/>
        <p:cNvGrpSpPr/>
        <p:nvPr/>
      </p:nvGrpSpPr>
      <p:grpSpPr>
        <a:xfrm>
          <a:off x="0" y="0"/>
          <a:ext cx="0" cy="0"/>
          <a:chOff x="0" y="0"/>
          <a:chExt cx="0" cy="0"/>
        </a:xfrm>
      </p:grpSpPr>
      <p:sp>
        <p:nvSpPr>
          <p:cNvPr id="45" name="Google Shape;45;p7"/>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6" name="Google Shape;46;p7"/>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47" name="Google Shape;47;p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48" name="Shape 48"/>
        <p:cNvGrpSpPr/>
        <p:nvPr/>
      </p:nvGrpSpPr>
      <p:grpSpPr>
        <a:xfrm>
          <a:off x="0" y="0"/>
          <a:ext cx="0" cy="0"/>
          <a:chOff x="0" y="0"/>
          <a:chExt cx="0" cy="0"/>
        </a:xfrm>
      </p:grpSpPr>
      <p:sp>
        <p:nvSpPr>
          <p:cNvPr id="49" name="Google Shape;49;p8"/>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50" name="Google Shape;50;p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51" name="Shape 51"/>
        <p:cNvGrpSpPr/>
        <p:nvPr/>
      </p:nvGrpSpPr>
      <p:grpSpPr>
        <a:xfrm>
          <a:off x="0" y="0"/>
          <a:ext cx="0" cy="0"/>
          <a:chOff x="0" y="0"/>
          <a:chExt cx="0" cy="0"/>
        </a:xfrm>
      </p:grpSpPr>
      <p:sp>
        <p:nvSpPr>
          <p:cNvPr id="52" name="Google Shape;52;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9"/>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54" name="Google Shape;54;p9"/>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55" name="Google Shape;55;p9"/>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56" name="Google Shape;56;p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7" name="Shape 57"/>
        <p:cNvGrpSpPr/>
        <p:nvPr/>
      </p:nvGrpSpPr>
      <p:grpSpPr>
        <a:xfrm>
          <a:off x="0" y="0"/>
          <a:ext cx="0" cy="0"/>
          <a:chOff x="0" y="0"/>
          <a:chExt cx="0" cy="0"/>
        </a:xfrm>
      </p:grpSpPr>
      <p:sp>
        <p:nvSpPr>
          <p:cNvPr id="58" name="Google Shape;58;p10"/>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800"/>
              <a:buNone/>
              <a:defRPr/>
            </a:lvl1pPr>
          </a:lstStyle>
          <a:p/>
        </p:txBody>
      </p:sp>
      <p:sp>
        <p:nvSpPr>
          <p:cNvPr id="59" name="Google Shape;59;p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60" name="Shape 60"/>
        <p:cNvGrpSpPr/>
        <p:nvPr/>
      </p:nvGrpSpPr>
      <p:grpSpPr>
        <a:xfrm>
          <a:off x="0" y="0"/>
          <a:ext cx="0" cy="0"/>
          <a:chOff x="0" y="0"/>
          <a:chExt cx="0" cy="0"/>
        </a:xfrm>
      </p:grpSpPr>
      <p:sp>
        <p:nvSpPr>
          <p:cNvPr id="61" name="Google Shape;61;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62" name="Google Shape;62;p11"/>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1600"/>
              </a:spcBef>
              <a:spcAft>
                <a:spcPts val="0"/>
              </a:spcAft>
              <a:buSzPts val="1400"/>
              <a:buChar char="○"/>
              <a:defRPr/>
            </a:lvl2pPr>
            <a:lvl3pPr indent="-317500" lvl="2" marL="1371600" algn="ctr">
              <a:spcBef>
                <a:spcPts val="1600"/>
              </a:spcBef>
              <a:spcAft>
                <a:spcPts val="0"/>
              </a:spcAft>
              <a:buSzPts val="1400"/>
              <a:buChar char="■"/>
              <a:defRPr/>
            </a:lvl3pPr>
            <a:lvl4pPr indent="-317500" lvl="3" marL="1828800" algn="ctr">
              <a:spcBef>
                <a:spcPts val="1600"/>
              </a:spcBef>
              <a:spcAft>
                <a:spcPts val="0"/>
              </a:spcAft>
              <a:buSzPts val="1400"/>
              <a:buChar char="●"/>
              <a:defRPr/>
            </a:lvl4pPr>
            <a:lvl5pPr indent="-317500" lvl="4" marL="2286000" algn="ctr">
              <a:spcBef>
                <a:spcPts val="1600"/>
              </a:spcBef>
              <a:spcAft>
                <a:spcPts val="0"/>
              </a:spcAft>
              <a:buSzPts val="1400"/>
              <a:buChar char="○"/>
              <a:defRPr/>
            </a:lvl5pPr>
            <a:lvl6pPr indent="-317500" lvl="5" marL="2743200" algn="ctr">
              <a:spcBef>
                <a:spcPts val="1600"/>
              </a:spcBef>
              <a:spcAft>
                <a:spcPts val="0"/>
              </a:spcAft>
              <a:buSzPts val="1400"/>
              <a:buChar char="■"/>
              <a:defRPr/>
            </a:lvl6pPr>
            <a:lvl7pPr indent="-317500" lvl="6" marL="3200400" algn="ctr">
              <a:spcBef>
                <a:spcPts val="1600"/>
              </a:spcBef>
              <a:spcAft>
                <a:spcPts val="0"/>
              </a:spcAft>
              <a:buSzPts val="1400"/>
              <a:buChar char="●"/>
              <a:defRPr/>
            </a:lvl7pPr>
            <a:lvl8pPr indent="-317500" lvl="7" marL="3657600" algn="ctr">
              <a:spcBef>
                <a:spcPts val="1600"/>
              </a:spcBef>
              <a:spcAft>
                <a:spcPts val="0"/>
              </a:spcAft>
              <a:buSzPts val="1400"/>
              <a:buChar char="○"/>
              <a:defRPr/>
            </a:lvl8pPr>
            <a:lvl9pPr indent="-317500" lvl="8" marL="4114800" algn="ctr">
              <a:spcBef>
                <a:spcPts val="1600"/>
              </a:spcBef>
              <a:spcAft>
                <a:spcPts val="1600"/>
              </a:spcAft>
              <a:buSzPts val="1400"/>
              <a:buChar char="■"/>
              <a:defRPr/>
            </a:lvl9pPr>
          </a:lstStyle>
          <a:p/>
        </p:txBody>
      </p:sp>
      <p:sp>
        <p:nvSpPr>
          <p:cNvPr id="63" name="Google Shape;63;p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4" name="Shape 64"/>
        <p:cNvGrpSpPr/>
        <p:nvPr/>
      </p:nvGrpSpPr>
      <p:grpSpPr>
        <a:xfrm>
          <a:off x="0" y="0"/>
          <a:ext cx="0" cy="0"/>
          <a:chOff x="0" y="0"/>
          <a:chExt cx="0" cy="0"/>
        </a:xfrm>
      </p:grpSpPr>
      <p:sp>
        <p:nvSpPr>
          <p:cNvPr id="65" name="Google Shape;65;p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1">
  <p:cSld name="TITLE_AND_BODY_1">
    <p:spTree>
      <p:nvGrpSpPr>
        <p:cNvPr id="66" name="Shape 66"/>
        <p:cNvGrpSpPr/>
        <p:nvPr/>
      </p:nvGrpSpPr>
      <p:grpSpPr>
        <a:xfrm>
          <a:off x="0" y="0"/>
          <a:ext cx="0" cy="0"/>
          <a:chOff x="0" y="0"/>
          <a:chExt cx="0" cy="0"/>
        </a:xfrm>
      </p:grpSpPr>
      <p:sp>
        <p:nvSpPr>
          <p:cNvPr id="67" name="Google Shape;67;p13"/>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8" name="Google Shape;68;p13"/>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42900" lvl="0" marL="457200" rtl="0">
              <a:spcBef>
                <a:spcPts val="0"/>
              </a:spcBef>
              <a:spcAft>
                <a:spcPts val="0"/>
              </a:spcAft>
              <a:buSzPts val="1800"/>
              <a:buChar char="●"/>
              <a:defRPr/>
            </a:lvl1pPr>
            <a:lvl2pPr indent="-317500" lvl="1" marL="914400" rtl="0">
              <a:spcBef>
                <a:spcPts val="1600"/>
              </a:spcBef>
              <a:spcAft>
                <a:spcPts val="0"/>
              </a:spcAft>
              <a:buSzPts val="1400"/>
              <a:buChar char="○"/>
              <a:defRPr/>
            </a:lvl2pPr>
            <a:lvl3pPr indent="-317500" lvl="2" marL="1371600" rtl="0">
              <a:spcBef>
                <a:spcPts val="1600"/>
              </a:spcBef>
              <a:spcAft>
                <a:spcPts val="0"/>
              </a:spcAft>
              <a:buSzPts val="1400"/>
              <a:buChar char="■"/>
              <a:defRPr/>
            </a:lvl3pPr>
            <a:lvl4pPr indent="-317500" lvl="3" marL="1828800" rtl="0">
              <a:spcBef>
                <a:spcPts val="1600"/>
              </a:spcBef>
              <a:spcAft>
                <a:spcPts val="0"/>
              </a:spcAft>
              <a:buSzPts val="1400"/>
              <a:buChar char="●"/>
              <a:defRPr/>
            </a:lvl4pPr>
            <a:lvl5pPr indent="-317500" lvl="4" marL="2286000" rtl="0">
              <a:spcBef>
                <a:spcPts val="1600"/>
              </a:spcBef>
              <a:spcAft>
                <a:spcPts val="0"/>
              </a:spcAft>
              <a:buSzPts val="1400"/>
              <a:buChar char="○"/>
              <a:defRPr/>
            </a:lvl5pPr>
            <a:lvl6pPr indent="-317500" lvl="5" marL="2743200" rtl="0">
              <a:spcBef>
                <a:spcPts val="1600"/>
              </a:spcBef>
              <a:spcAft>
                <a:spcPts val="0"/>
              </a:spcAft>
              <a:buSzPts val="1400"/>
              <a:buChar char="■"/>
              <a:defRPr/>
            </a:lvl6pPr>
            <a:lvl7pPr indent="-317500" lvl="6" marL="3200400" rtl="0">
              <a:spcBef>
                <a:spcPts val="1600"/>
              </a:spcBef>
              <a:spcAft>
                <a:spcPts val="0"/>
              </a:spcAft>
              <a:buSzPts val="1400"/>
              <a:buChar char="●"/>
              <a:defRPr/>
            </a:lvl7pPr>
            <a:lvl8pPr indent="-317500" lvl="7" marL="3657600" rtl="0">
              <a:spcBef>
                <a:spcPts val="1600"/>
              </a:spcBef>
              <a:spcAft>
                <a:spcPts val="0"/>
              </a:spcAft>
              <a:buSzPts val="1400"/>
              <a:buChar char="○"/>
              <a:defRPr/>
            </a:lvl8pPr>
            <a:lvl9pPr indent="-317500" lvl="8" marL="4114800" rtl="0">
              <a:spcBef>
                <a:spcPts val="1600"/>
              </a:spcBef>
              <a:spcAft>
                <a:spcPts val="1600"/>
              </a:spcAft>
              <a:buSzPts val="1400"/>
              <a:buChar char="■"/>
              <a:defRPr/>
            </a:lvl9pPr>
          </a:lstStyle>
          <a:p/>
        </p:txBody>
      </p:sp>
      <p:sp>
        <p:nvSpPr>
          <p:cNvPr id="69" name="Google Shape;69;p1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1">
  <p:cSld name="TITLE_1">
    <p:spTree>
      <p:nvGrpSpPr>
        <p:cNvPr id="70" name="Shape 70"/>
        <p:cNvGrpSpPr/>
        <p:nvPr/>
      </p:nvGrpSpPr>
      <p:grpSpPr>
        <a:xfrm>
          <a:off x="0" y="0"/>
          <a:ext cx="0" cy="0"/>
          <a:chOff x="0" y="0"/>
          <a:chExt cx="0" cy="0"/>
        </a:xfrm>
      </p:grpSpPr>
      <p:sp>
        <p:nvSpPr>
          <p:cNvPr id="71" name="Google Shape;71;p14"/>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72" name="Google Shape;72;p14"/>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73" name="Google Shape;73;p1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p:cSld name="TITLE_2">
    <p:spTree>
      <p:nvGrpSpPr>
        <p:cNvPr id="74" name="Shape 74"/>
        <p:cNvGrpSpPr/>
        <p:nvPr/>
      </p:nvGrpSpPr>
      <p:grpSpPr>
        <a:xfrm>
          <a:off x="0" y="0"/>
          <a:ext cx="0" cy="0"/>
          <a:chOff x="0" y="0"/>
          <a:chExt cx="0" cy="0"/>
        </a:xfrm>
      </p:grpSpPr>
      <p:sp>
        <p:nvSpPr>
          <p:cNvPr id="75" name="Google Shape;75;p15"/>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76" name="Google Shape;76;p15"/>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77" name="Google Shape;77;p1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3">
  <p:cSld name="TITLE_3">
    <p:spTree>
      <p:nvGrpSpPr>
        <p:cNvPr id="78" name="Shape 78"/>
        <p:cNvGrpSpPr/>
        <p:nvPr/>
      </p:nvGrpSpPr>
      <p:grpSpPr>
        <a:xfrm>
          <a:off x="0" y="0"/>
          <a:ext cx="0" cy="0"/>
          <a:chOff x="0" y="0"/>
          <a:chExt cx="0" cy="0"/>
        </a:xfrm>
      </p:grpSpPr>
      <p:sp>
        <p:nvSpPr>
          <p:cNvPr id="79" name="Google Shape;79;p16"/>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80" name="Google Shape;80;p16"/>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81" name="Google Shape;81;p1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4">
  <p:cSld name="TITLE_4">
    <p:spTree>
      <p:nvGrpSpPr>
        <p:cNvPr id="82" name="Shape 82"/>
        <p:cNvGrpSpPr/>
        <p:nvPr/>
      </p:nvGrpSpPr>
      <p:grpSpPr>
        <a:xfrm>
          <a:off x="0" y="0"/>
          <a:ext cx="0" cy="0"/>
          <a:chOff x="0" y="0"/>
          <a:chExt cx="0" cy="0"/>
        </a:xfrm>
      </p:grpSpPr>
      <p:sp>
        <p:nvSpPr>
          <p:cNvPr id="83" name="Google Shape;83;p17"/>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84" name="Google Shape;84;p17"/>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85" name="Google Shape;85;p1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theme" Target="../theme/theme1.xml"/><Relationship Id="rId16" Type="http://schemas.openxmlformats.org/officeDocument/2006/relationships/slideLayout" Target="../slideLayouts/slideLayout16.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1600"/>
              </a:spcBef>
              <a:spcAft>
                <a:spcPts val="0"/>
              </a:spcAft>
              <a:buClr>
                <a:schemeClr val="dk2"/>
              </a:buClr>
              <a:buSzPts val="1400"/>
              <a:buChar char="○"/>
              <a:defRPr>
                <a:solidFill>
                  <a:schemeClr val="dk2"/>
                </a:solidFill>
              </a:defRPr>
            </a:lvl2pPr>
            <a:lvl3pPr indent="-317500" lvl="2" marL="1371600">
              <a:lnSpc>
                <a:spcPct val="115000"/>
              </a:lnSpc>
              <a:spcBef>
                <a:spcPts val="1600"/>
              </a:spcBef>
              <a:spcAft>
                <a:spcPts val="0"/>
              </a:spcAft>
              <a:buClr>
                <a:schemeClr val="dk2"/>
              </a:buClr>
              <a:buSzPts val="1400"/>
              <a:buChar char="■"/>
              <a:defRPr>
                <a:solidFill>
                  <a:schemeClr val="dk2"/>
                </a:solidFill>
              </a:defRPr>
            </a:lvl3pPr>
            <a:lvl4pPr indent="-317500" lvl="3" marL="1828800">
              <a:lnSpc>
                <a:spcPct val="115000"/>
              </a:lnSpc>
              <a:spcBef>
                <a:spcPts val="1600"/>
              </a:spcBef>
              <a:spcAft>
                <a:spcPts val="0"/>
              </a:spcAft>
              <a:buClr>
                <a:schemeClr val="dk2"/>
              </a:buClr>
              <a:buSzPts val="1400"/>
              <a:buChar char="●"/>
              <a:defRPr>
                <a:solidFill>
                  <a:schemeClr val="dk2"/>
                </a:solidFill>
              </a:defRPr>
            </a:lvl4pPr>
            <a:lvl5pPr indent="-317500" lvl="4" marL="2286000">
              <a:lnSpc>
                <a:spcPct val="115000"/>
              </a:lnSpc>
              <a:spcBef>
                <a:spcPts val="1600"/>
              </a:spcBef>
              <a:spcAft>
                <a:spcPts val="0"/>
              </a:spcAft>
              <a:buClr>
                <a:schemeClr val="dk2"/>
              </a:buClr>
              <a:buSzPts val="1400"/>
              <a:buChar char="○"/>
              <a:defRPr>
                <a:solidFill>
                  <a:schemeClr val="dk2"/>
                </a:solidFill>
              </a:defRPr>
            </a:lvl5pPr>
            <a:lvl6pPr indent="-317500" lvl="5" marL="2743200">
              <a:lnSpc>
                <a:spcPct val="115000"/>
              </a:lnSpc>
              <a:spcBef>
                <a:spcPts val="1600"/>
              </a:spcBef>
              <a:spcAft>
                <a:spcPts val="0"/>
              </a:spcAft>
              <a:buClr>
                <a:schemeClr val="dk2"/>
              </a:buClr>
              <a:buSzPts val="1400"/>
              <a:buChar char="■"/>
              <a:defRPr>
                <a:solidFill>
                  <a:schemeClr val="dk2"/>
                </a:solidFill>
              </a:defRPr>
            </a:lvl6pPr>
            <a:lvl7pPr indent="-317500" lvl="6" marL="3200400">
              <a:lnSpc>
                <a:spcPct val="115000"/>
              </a:lnSpc>
              <a:spcBef>
                <a:spcPts val="1600"/>
              </a:spcBef>
              <a:spcAft>
                <a:spcPts val="0"/>
              </a:spcAft>
              <a:buClr>
                <a:schemeClr val="dk2"/>
              </a:buClr>
              <a:buSzPts val="1400"/>
              <a:buChar char="●"/>
              <a:defRPr>
                <a:solidFill>
                  <a:schemeClr val="dk2"/>
                </a:solidFill>
              </a:defRPr>
            </a:lvl7pPr>
            <a:lvl8pPr indent="-317500" lvl="7" marL="3657600">
              <a:lnSpc>
                <a:spcPct val="115000"/>
              </a:lnSpc>
              <a:spcBef>
                <a:spcPts val="1600"/>
              </a:spcBef>
              <a:spcAft>
                <a:spcPts val="0"/>
              </a:spcAft>
              <a:buClr>
                <a:schemeClr val="dk2"/>
              </a:buClr>
              <a:buSzPts val="1400"/>
              <a:buChar char="○"/>
              <a:defRPr>
                <a:solidFill>
                  <a:schemeClr val="dk2"/>
                </a:solidFill>
              </a:defRPr>
            </a:lvl8pPr>
            <a:lvl9pPr indent="-317500" lvl="8" marL="4114800">
              <a:lnSpc>
                <a:spcPct val="115000"/>
              </a:lnSpc>
              <a:spcBef>
                <a:spcPts val="1600"/>
              </a:spcBef>
              <a:spcAft>
                <a:spcPts val="160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7.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3.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5.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6.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hyperlink" Target="https://unsplash.com/@sigmund?utm_source=unsplash&amp;utm_medium=referral&amp;utm_content=creditCopyText" TargetMode="External"/><Relationship Id="rId4" Type="http://schemas.openxmlformats.org/officeDocument/2006/relationships/image" Target="../media/image23.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hyperlink" Target="https://unsplash.com/@sigmund?utm_source=unsplash&amp;utm_medium=referral&amp;utm_content=creditCopyText" TargetMode="External"/><Relationship Id="rId4" Type="http://schemas.openxmlformats.org/officeDocument/2006/relationships/image" Target="../media/image23.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hyperlink" Target="https://unsplash.com/@amayli?utm_source=unsplash&amp;utm_medium=referral&amp;utm_content=creditCopyText" TargetMode="External"/><Relationship Id="rId4" Type="http://schemas.openxmlformats.org/officeDocument/2006/relationships/image" Target="../media/image13.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hyperlink" Target="https://unsplash.com/@amayli?utm_source=unsplash&amp;utm_medium=referral&amp;utm_content=creditCopyText" TargetMode="External"/><Relationship Id="rId4" Type="http://schemas.openxmlformats.org/officeDocument/2006/relationships/image" Target="../media/image13.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hyperlink" Target="https://unsplash.com/@sigmund?utm_source=unsplash&amp;utm_medium=referral&amp;utm_content=creditCopyText" TargetMode="External"/><Relationship Id="rId4" Type="http://schemas.openxmlformats.org/officeDocument/2006/relationships/image" Target="../media/image15.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hyperlink" Target="http://www.youtube.com/watch?v=PJebP81wTXc" TargetMode="External"/><Relationship Id="rId4" Type="http://schemas.openxmlformats.org/officeDocument/2006/relationships/image" Target="../media/image6.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hyperlink" Target="https://unsplash.com/@louismornaud?utm_source=unsplash&amp;utm_medium=referral&amp;utm_content=creditCopyText" TargetMode="External"/><Relationship Id="rId4" Type="http://schemas.openxmlformats.org/officeDocument/2006/relationships/image" Target="../media/image33.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hyperlink" Target="https://www.workshopper.com/post/design-thinking-phase-4-everything-you-need-to-know-about-prototyping" TargetMode="External"/><Relationship Id="rId4" Type="http://schemas.openxmlformats.org/officeDocument/2006/relationships/image" Target="../media/image9.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hyperlink" Target="https://www.workshopper.com/post/design-thinking-phase-4-everything-you-need-to-know-about-prototyping" TargetMode="External"/><Relationship Id="rId4" Type="http://schemas.openxmlformats.org/officeDocument/2006/relationships/image" Target="../media/image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hyperlink" Target="https://unsplash.com/@hamishkale_?utm_source=unsplash&amp;utm_medium=referral&amp;utm_content=creditCopyText" TargetMode="External"/><Relationship Id="rId4" Type="http://schemas.openxmlformats.org/officeDocument/2006/relationships/image" Target="../media/image17.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hyperlink" Target="https://unsplash.com/@ralstonhsmith?utm_source=unsplash&amp;utm_medium=referral&amp;utm_content=creditCopyText" TargetMode="External"/><Relationship Id="rId4" Type="http://schemas.openxmlformats.org/officeDocument/2006/relationships/image" Target="../media/image22.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hyperlink" Target="https://unsplash.com/@nate_dumlao?utm_source=unsplash&amp;utm_medium=referral&amp;utm_content=creditCopyText" TargetMode="External"/><Relationship Id="rId4" Type="http://schemas.openxmlformats.org/officeDocument/2006/relationships/image" Target="../media/image20.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8.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hyperlink" Target="https://unsplash.com/@tezos?utm_source=unsplash&amp;utm_medium=referral&amp;utm_content=creditCopyText" TargetMode="External"/><Relationship Id="rId4" Type="http://schemas.openxmlformats.org/officeDocument/2006/relationships/image" Target="../media/image25.jp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hyperlink" Target="https://unsplash.com/@nate_dumlao?utm_source=unsplash&amp;utm_medium=referral&amp;utm_content=creditCopyText" TargetMode="External"/><Relationship Id="rId4" Type="http://schemas.openxmlformats.org/officeDocument/2006/relationships/image" Target="../media/image20.jp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hyperlink" Target="https://unsplash.com/@fazurrehman?utm_source=unsplash&amp;utm_medium=referral&amp;utm_content=creditCopyText" TargetMode="External"/><Relationship Id="rId4" Type="http://schemas.openxmlformats.org/officeDocument/2006/relationships/image" Target="../media/image18.jp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hyperlink" Target="https://unsplash.com/@techdailyca?utm_source=unsplash&amp;utm_medium=referral&amp;utm_content=creditCopyText" TargetMode="External"/><Relationship Id="rId4" Type="http://schemas.openxmlformats.org/officeDocument/2006/relationships/image" Target="../media/image31.jp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hyperlink" Target="https://www.toptal.com/designers/ui/invision-studio-tutorial" TargetMode="External"/><Relationship Id="rId4" Type="http://schemas.openxmlformats.org/officeDocument/2006/relationships/image" Target="../media/image10.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image" Target="../media/image12.png"/><Relationship Id="rId4" Type="http://schemas.openxmlformats.org/officeDocument/2006/relationships/image" Target="../media/image14.png"/><Relationship Id="rId9" Type="http://schemas.openxmlformats.org/officeDocument/2006/relationships/image" Target="../media/image40.jpg"/><Relationship Id="rId5" Type="http://schemas.openxmlformats.org/officeDocument/2006/relationships/image" Target="../media/image26.png"/><Relationship Id="rId6" Type="http://schemas.openxmlformats.org/officeDocument/2006/relationships/image" Target="../media/image19.png"/><Relationship Id="rId7" Type="http://schemas.openxmlformats.org/officeDocument/2006/relationships/image" Target="../media/image21.png"/><Relationship Id="rId8" Type="http://schemas.openxmlformats.org/officeDocument/2006/relationships/image" Target="../media/image24.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 Id="rId3" Type="http://schemas.openxmlformats.org/officeDocument/2006/relationships/hyperlink" Target="https://unsplash.com/@alexbemore?utm_source=unsplash&amp;utm_medium=referral&amp;utm_content=creditCopyText" TargetMode="External"/><Relationship Id="rId4" Type="http://schemas.openxmlformats.org/officeDocument/2006/relationships/image" Target="../media/image41.jp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 Id="rId3" Type="http://schemas.openxmlformats.org/officeDocument/2006/relationships/hyperlink" Target="https://webdesign.tutsplus.com/courses/introduction-to-figma/lessons/working-with-projects-files-and-pages-in-figma" TargetMode="External"/><Relationship Id="rId4" Type="http://schemas.openxmlformats.org/officeDocument/2006/relationships/image" Target="../media/image28.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 Id="rId3" Type="http://schemas.openxmlformats.org/officeDocument/2006/relationships/hyperlink" Target="https://webdesign.tutsplus.com/courses/introduction-to-figma/lessons/using-the-figma-ui" TargetMode="External"/><Relationship Id="rId4" Type="http://schemas.openxmlformats.org/officeDocument/2006/relationships/image" Target="../media/image27.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 Id="rId3" Type="http://schemas.openxmlformats.org/officeDocument/2006/relationships/hyperlink" Target="https://webdesign.tutsplus.com/courses/introduction-to-figma/lessons/working-with-frames-shapes-and-text-in-figma" TargetMode="External"/><Relationship Id="rId4" Type="http://schemas.openxmlformats.org/officeDocument/2006/relationships/image" Target="../media/image30.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 Id="rId3" Type="http://schemas.openxmlformats.org/officeDocument/2006/relationships/hyperlink" Target="https://webdesign.tutsplus.com/courses/introduction-to-figma/lessons/creating-vector-networks-with-the-pen-tool" TargetMode="External"/><Relationship Id="rId4" Type="http://schemas.openxmlformats.org/officeDocument/2006/relationships/image" Target="../media/image29.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 Id="rId3" Type="http://schemas.openxmlformats.org/officeDocument/2006/relationships/hyperlink" Target="https://webdesign.tutsplus.com/courses/introduction-to-figma/lessons/working-with-grids-in-figma" TargetMode="External"/><Relationship Id="rId4" Type="http://schemas.openxmlformats.org/officeDocument/2006/relationships/image" Target="../media/image34.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 Id="rId3" Type="http://schemas.openxmlformats.org/officeDocument/2006/relationships/hyperlink" Target="https://webdesign.tutsplus.com/courses/introduction-to-figma/lessons/using-figma-plugins" TargetMode="External"/><Relationship Id="rId4" Type="http://schemas.openxmlformats.org/officeDocument/2006/relationships/image" Target="../media/image32.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 Id="rId3" Type="http://schemas.openxmlformats.org/officeDocument/2006/relationships/hyperlink" Target="https://www.youtube.com/watch?v=Gu1so3pz4bA" TargetMode="External"/><Relationship Id="rId4" Type="http://schemas.openxmlformats.org/officeDocument/2006/relationships/hyperlink" Target="https://www.youtube.com/watch?v=TYhp4s-vjK4&amp;list=PLvnhVb8yYRQ3TDOsSgN0pf0XqG6E56IYM" TargetMode="External"/><Relationship Id="rId5" Type="http://schemas.openxmlformats.org/officeDocument/2006/relationships/hyperlink" Target="https://www.youtube.com/watch?v=Gu1so3pz4bA" TargetMode="External"/><Relationship Id="rId6" Type="http://schemas.openxmlformats.org/officeDocument/2006/relationships/image" Target="../media/image37.png"/><Relationship Id="rId7" Type="http://schemas.openxmlformats.org/officeDocument/2006/relationships/hyperlink" Target="https://www.youtube.com/watch?v=TYhp4s-vjK4&amp;list=PLvnhVb8yYRQ3TDOsSgN0pf0XqG6E56IYM" TargetMode="External"/><Relationship Id="rId8" Type="http://schemas.openxmlformats.org/officeDocument/2006/relationships/image" Target="../media/image39.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 Id="rId3" Type="http://schemas.openxmlformats.org/officeDocument/2006/relationships/hyperlink" Target="https://www.youtube.com/watch?v=HBpF6eQdcW8" TargetMode="External"/><Relationship Id="rId4" Type="http://schemas.openxmlformats.org/officeDocument/2006/relationships/hyperlink" Target="https://www.youtube.com/watch?v=wE-eGh8gWAk&amp;list=PLkaFTR_oezJ4JfjsuyDfTTp4Cbff7Dbso" TargetMode="External"/><Relationship Id="rId5" Type="http://schemas.openxmlformats.org/officeDocument/2006/relationships/hyperlink" Target="https://www.youtube.com/watch?v=HBpF6eQdcW8" TargetMode="External"/><Relationship Id="rId6" Type="http://schemas.openxmlformats.org/officeDocument/2006/relationships/image" Target="../media/image42.png"/><Relationship Id="rId7" Type="http://schemas.openxmlformats.org/officeDocument/2006/relationships/hyperlink" Target="https://www.youtube.com/watch?v=wE-eGh8gWAk&amp;list=PLkaFTR_oezJ4JfjsuyDfTTp4Cbff7Dbso" TargetMode="External"/><Relationship Id="rId8" Type="http://schemas.openxmlformats.org/officeDocument/2006/relationships/image" Target="../media/image36.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1" Type="http://schemas.openxmlformats.org/officeDocument/2006/relationships/hyperlink" Target="https://www.workshopper.com/post/design-thinking-phase-4-everything-you-need-to-know-about-prototyping" TargetMode="External"/><Relationship Id="rId10" Type="http://schemas.openxmlformats.org/officeDocument/2006/relationships/hyperlink" Target="https://www.interaction-design.org/literature/article/stage-4-in-the-design-thinking-process-prototype" TargetMode="External"/><Relationship Id="rId13" Type="http://schemas.openxmlformats.org/officeDocument/2006/relationships/hyperlink" Target="https://www.reforge.com/brief/the-4-different-types-of-product-prototypes#9pIWKToQyqTn3SJqEiUchg" TargetMode="External"/><Relationship Id="rId12" Type="http://schemas.openxmlformats.org/officeDocument/2006/relationships/hyperlink" Target="https://www.workshopper.com/post/design-thinking-phase-4-everything-you-need-to-know-about-prototyping" TargetMode="External"/><Relationship Id="rId1" Type="http://schemas.openxmlformats.org/officeDocument/2006/relationships/slideLayout" Target="../slideLayouts/slideLayout3.xml"/><Relationship Id="rId2" Type="http://schemas.openxmlformats.org/officeDocument/2006/relationships/notesSlide" Target="../notesSlides/notesSlide54.xml"/><Relationship Id="rId3" Type="http://schemas.openxmlformats.org/officeDocument/2006/relationships/image" Target="../media/image2.png"/><Relationship Id="rId4" Type="http://schemas.openxmlformats.org/officeDocument/2006/relationships/hyperlink" Target="https://www.interaction-design.org/literature/topics/design-thinking" TargetMode="External"/><Relationship Id="rId9" Type="http://schemas.openxmlformats.org/officeDocument/2006/relationships/hyperlink" Target="https://www.interaction-design.org/literature/article/stage-4-in-the-design-thinking-process-prototype" TargetMode="External"/><Relationship Id="rId14" Type="http://schemas.openxmlformats.org/officeDocument/2006/relationships/hyperlink" Target="https://webdesign.tutsplus.com/courses/introduction-to-figma" TargetMode="External"/><Relationship Id="rId5" Type="http://schemas.openxmlformats.org/officeDocument/2006/relationships/hyperlink" Target="https://www.interaction-design.org/literature/article/5-stages-in-the-design-thinking-process" TargetMode="External"/><Relationship Id="rId6" Type="http://schemas.openxmlformats.org/officeDocument/2006/relationships/hyperlink" Target="https://www.interaction-design.org/literature/article/5-stages-in-the-design-thinking-process" TargetMode="External"/><Relationship Id="rId7" Type="http://schemas.openxmlformats.org/officeDocument/2006/relationships/hyperlink" Target="https://www.interaction-design.org/literature/article/5-stages-in-the-design-thinking-process" TargetMode="External"/><Relationship Id="rId8" Type="http://schemas.openxmlformats.org/officeDocument/2006/relationships/hyperlink" Target="https://www.interaction-design.org/literature/topics/prototyping" TargetMode="Externa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5.xml"/><Relationship Id="rId3" Type="http://schemas.openxmlformats.org/officeDocument/2006/relationships/image" Target="../media/image35.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733572"/>
        </a:solidFill>
      </p:bgPr>
    </p:bg>
    <p:spTree>
      <p:nvGrpSpPr>
        <p:cNvPr id="89" name="Shape 89"/>
        <p:cNvGrpSpPr/>
        <p:nvPr/>
      </p:nvGrpSpPr>
      <p:grpSpPr>
        <a:xfrm>
          <a:off x="0" y="0"/>
          <a:ext cx="0" cy="0"/>
          <a:chOff x="0" y="0"/>
          <a:chExt cx="0" cy="0"/>
        </a:xfrm>
      </p:grpSpPr>
      <p:sp>
        <p:nvSpPr>
          <p:cNvPr id="90" name="Google Shape;90;p18"/>
          <p:cNvSpPr txBox="1"/>
          <p:nvPr/>
        </p:nvSpPr>
        <p:spPr>
          <a:xfrm>
            <a:off x="2386875" y="2507550"/>
            <a:ext cx="5869200" cy="10092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sz="2400">
                <a:solidFill>
                  <a:srgbClr val="FFFFFF"/>
                </a:solidFill>
                <a:latin typeface="Raleway"/>
                <a:ea typeface="Raleway"/>
                <a:cs typeface="Raleway"/>
                <a:sym typeface="Raleway"/>
              </a:rPr>
              <a:t>Design Thinking: Prototype Pt 1</a:t>
            </a:r>
            <a:endParaRPr b="1" sz="2400">
              <a:solidFill>
                <a:srgbClr val="FFFFFF"/>
              </a:solidFill>
              <a:latin typeface="Raleway"/>
              <a:ea typeface="Raleway"/>
              <a:cs typeface="Raleway"/>
              <a:sym typeface="Raleway"/>
            </a:endParaRPr>
          </a:p>
          <a:p>
            <a:pPr indent="0" lvl="0" marL="0" rtl="0" algn="l">
              <a:spcBef>
                <a:spcPts val="0"/>
              </a:spcBef>
              <a:spcAft>
                <a:spcPts val="0"/>
              </a:spcAft>
              <a:buClr>
                <a:schemeClr val="dk1"/>
              </a:buClr>
              <a:buSzPts val="1100"/>
              <a:buFont typeface="Arial"/>
              <a:buNone/>
            </a:pPr>
            <a:r>
              <a:rPr b="1" lang="en">
                <a:solidFill>
                  <a:schemeClr val="lt1"/>
                </a:solidFill>
                <a:latin typeface="Raleway"/>
                <a:ea typeface="Raleway"/>
                <a:cs typeface="Raleway"/>
                <a:sym typeface="Raleway"/>
              </a:rPr>
              <a:t>Chapter 4 - Topic 1</a:t>
            </a:r>
            <a:endParaRPr b="1">
              <a:solidFill>
                <a:srgbClr val="FFFFFF"/>
              </a:solidFill>
              <a:latin typeface="Raleway"/>
              <a:ea typeface="Raleway"/>
              <a:cs typeface="Raleway"/>
              <a:sym typeface="Raleway"/>
            </a:endParaRPr>
          </a:p>
        </p:txBody>
      </p:sp>
      <p:cxnSp>
        <p:nvCxnSpPr>
          <p:cNvPr id="91" name="Google Shape;91;p18"/>
          <p:cNvCxnSpPr/>
          <p:nvPr/>
        </p:nvCxnSpPr>
        <p:spPr>
          <a:xfrm flipH="1" rot="10800000">
            <a:off x="705500" y="3560750"/>
            <a:ext cx="7727400" cy="57300"/>
          </a:xfrm>
          <a:prstGeom prst="straightConnector1">
            <a:avLst/>
          </a:prstGeom>
          <a:noFill/>
          <a:ln cap="flat" cmpd="sng" w="9525">
            <a:solidFill>
              <a:srgbClr val="FFFFFF"/>
            </a:solidFill>
            <a:prstDash val="solid"/>
            <a:round/>
            <a:headEnd len="med" w="med" type="none"/>
            <a:tailEnd len="med" w="med" type="none"/>
          </a:ln>
        </p:spPr>
      </p:cxnSp>
      <p:pic>
        <p:nvPicPr>
          <p:cNvPr id="92" name="Google Shape;92;p18"/>
          <p:cNvPicPr preferRelativeResize="0"/>
          <p:nvPr/>
        </p:nvPicPr>
        <p:blipFill rotWithShape="1">
          <a:blip r:embed="rId3">
            <a:alphaModFix/>
          </a:blip>
          <a:srcRect b="0" l="0" r="0" t="0"/>
          <a:stretch/>
        </p:blipFill>
        <p:spPr>
          <a:xfrm>
            <a:off x="1037425" y="1951500"/>
            <a:ext cx="1181925" cy="1439600"/>
          </a:xfrm>
          <a:prstGeom prst="rect">
            <a:avLst/>
          </a:prstGeom>
          <a:noFill/>
          <a:ln>
            <a:noFill/>
          </a:ln>
        </p:spPr>
      </p:pic>
      <p:sp>
        <p:nvSpPr>
          <p:cNvPr id="93" name="Google Shape;93;p18"/>
          <p:cNvSpPr txBox="1"/>
          <p:nvPr>
            <p:ph idx="4294967295"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19"/>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99" name="Google Shape;99;p19"/>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Agenda</a:t>
            </a:r>
            <a:endParaRPr/>
          </a:p>
        </p:txBody>
      </p:sp>
      <p:pic>
        <p:nvPicPr>
          <p:cNvPr id="100" name="Google Shape;100;p19"/>
          <p:cNvPicPr preferRelativeResize="0"/>
          <p:nvPr/>
        </p:nvPicPr>
        <p:blipFill rotWithShape="1">
          <a:blip r:embed="rId3">
            <a:alphaModFix/>
          </a:blip>
          <a:srcRect b="0" l="0" r="0" t="0"/>
          <a:stretch/>
        </p:blipFill>
        <p:spPr>
          <a:xfrm>
            <a:off x="5638796" y="1097113"/>
            <a:ext cx="2743199" cy="3511629"/>
          </a:xfrm>
          <a:prstGeom prst="rect">
            <a:avLst/>
          </a:prstGeom>
          <a:noFill/>
          <a:ln>
            <a:noFill/>
          </a:ln>
        </p:spPr>
      </p:pic>
      <p:sp>
        <p:nvSpPr>
          <p:cNvPr id="101" name="Google Shape;101;p19"/>
          <p:cNvSpPr txBox="1"/>
          <p:nvPr/>
        </p:nvSpPr>
        <p:spPr>
          <a:xfrm>
            <a:off x="685800" y="1024128"/>
            <a:ext cx="4114800" cy="3657600"/>
          </a:xfrm>
          <a:prstGeom prst="rect">
            <a:avLst/>
          </a:prstGeom>
          <a:noFill/>
          <a:ln>
            <a:noFill/>
          </a:ln>
        </p:spPr>
        <p:txBody>
          <a:bodyPr anchorCtr="0" anchor="ctr" bIns="0" lIns="0" spcFirstLastPara="1" rIns="0" wrap="square" tIns="0">
            <a:noAutofit/>
          </a:bodyPr>
          <a:lstStyle/>
          <a:p>
            <a:pPr indent="0" lvl="0" marL="0" marR="0" rtl="0" algn="just">
              <a:lnSpc>
                <a:spcPct val="115000"/>
              </a:lnSpc>
              <a:spcBef>
                <a:spcPts val="1600"/>
              </a:spcBef>
              <a:spcAft>
                <a:spcPts val="0"/>
              </a:spcAft>
              <a:buClr>
                <a:srgbClr val="000000"/>
              </a:buClr>
              <a:buSzPts val="1400"/>
              <a:buFont typeface="Arial"/>
              <a:buNone/>
            </a:pPr>
            <a:r>
              <a:rPr b="1" lang="en" sz="1800">
                <a:solidFill>
                  <a:srgbClr val="743673"/>
                </a:solidFill>
                <a:highlight>
                  <a:schemeClr val="lt1"/>
                </a:highlight>
                <a:latin typeface="Raleway"/>
                <a:ea typeface="Raleway"/>
                <a:cs typeface="Raleway"/>
                <a:sym typeface="Raleway"/>
              </a:rPr>
              <a:t>Design Thinking: Prototype Pt 1</a:t>
            </a:r>
            <a:endParaRPr b="1" sz="1800">
              <a:solidFill>
                <a:srgbClr val="743673"/>
              </a:solidFill>
              <a:highlight>
                <a:schemeClr val="lt1"/>
              </a:highlight>
              <a:latin typeface="Raleway"/>
              <a:ea typeface="Raleway"/>
              <a:cs typeface="Raleway"/>
              <a:sym typeface="Raleway"/>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1) Prototyping</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2) Mengapa fase prototyping penting?</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3) Kegiatan pada fase prototyping</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4) Macam - macam prototypes berdasarkan alat</a:t>
            </a:r>
            <a:br>
              <a:rPr lang="en" sz="1200">
                <a:solidFill>
                  <a:schemeClr val="dk1"/>
                </a:solidFill>
                <a:latin typeface="Raleway Medium"/>
                <a:ea typeface="Raleway Medium"/>
                <a:cs typeface="Raleway Medium"/>
                <a:sym typeface="Raleway Medium"/>
              </a:rPr>
            </a:br>
            <a:r>
              <a:rPr lang="en" sz="1200">
                <a:solidFill>
                  <a:schemeClr val="dk1"/>
                </a:solidFill>
                <a:latin typeface="Raleway Medium"/>
                <a:ea typeface="Raleway Medium"/>
                <a:cs typeface="Raleway Medium"/>
                <a:sym typeface="Raleway Medium"/>
              </a:rPr>
              <a:t>5) Macam - macam prototypes berdasarkan kompleksitas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    teknologi</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6) Menggunakan peralatan prototyping</a:t>
            </a:r>
            <a:endParaRPr sz="1200">
              <a:solidFill>
                <a:schemeClr val="dk1"/>
              </a:solidFill>
              <a:latin typeface="Raleway Medium"/>
              <a:ea typeface="Raleway Medium"/>
              <a:cs typeface="Raleway Medium"/>
              <a:sym typeface="Raleway Medium"/>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20"/>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07" name="Google Shape;107;p20"/>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Recap</a:t>
            </a:r>
            <a:endParaRPr/>
          </a:p>
        </p:txBody>
      </p:sp>
      <p:sp>
        <p:nvSpPr>
          <p:cNvPr id="108" name="Google Shape;108;p20"/>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Clr>
                <a:schemeClr val="dk1"/>
              </a:buClr>
              <a:buSzPts val="1100"/>
              <a:buFont typeface="Arial"/>
              <a:buNone/>
            </a:pPr>
            <a:r>
              <a:rPr b="1" lang="en" sz="1800">
                <a:solidFill>
                  <a:srgbClr val="743673"/>
                </a:solidFill>
                <a:highlight>
                  <a:schemeClr val="lt1"/>
                </a:highlight>
                <a:latin typeface="Raleway"/>
                <a:ea typeface="Raleway"/>
                <a:cs typeface="Raleway"/>
                <a:sym typeface="Raleway"/>
              </a:rPr>
              <a:t>Recap</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Design Thinking menangani masalah kompleks dengan:</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1. Empathizing: Memahami kebutuhan manusia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    yang terlibat.</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2. Defining: Membingkai ulang dan mendefinisikan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    masalah dengan cara yang berpusat pada manusia.</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3. Ideating: Menciptakan banyak ide dalam sesi ideation.</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4. Prototyping: Mengadopsi pendekatan langsung dalam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    pembuatan prototipe.</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5. Testing / Pengujian: Mengembangkan prototipe atau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    solusi yang dapat diuji untuk masalah tersebut.</a:t>
            </a:r>
            <a:endParaRPr sz="1200">
              <a:solidFill>
                <a:schemeClr val="dk1"/>
              </a:solidFill>
              <a:latin typeface="Raleway Medium"/>
              <a:ea typeface="Raleway Medium"/>
              <a:cs typeface="Raleway Medium"/>
              <a:sym typeface="Raleway Medium"/>
            </a:endParaRPr>
          </a:p>
        </p:txBody>
      </p:sp>
      <p:pic>
        <p:nvPicPr>
          <p:cNvPr id="109" name="Google Shape;109;p20"/>
          <p:cNvPicPr preferRelativeResize="0"/>
          <p:nvPr/>
        </p:nvPicPr>
        <p:blipFill rotWithShape="1">
          <a:blip r:embed="rId3">
            <a:alphaModFix/>
          </a:blip>
          <a:srcRect b="0" l="5476" r="5467" t="0"/>
          <a:stretch/>
        </p:blipFill>
        <p:spPr>
          <a:xfrm>
            <a:off x="5486400" y="1207587"/>
            <a:ext cx="3017518" cy="27432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21"/>
          <p:cNvSpPr txBox="1"/>
          <p:nvPr>
            <p:ph type="title"/>
          </p:nvPr>
        </p:nvSpPr>
        <p:spPr>
          <a:xfrm>
            <a:off x="914400" y="2210700"/>
            <a:ext cx="7315200" cy="722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Prototyping</a:t>
            </a:r>
            <a:endParaRPr>
              <a:solidFill>
                <a:schemeClr val="accent1"/>
              </a:solidFill>
            </a:endParaRPr>
          </a:p>
        </p:txBody>
      </p:sp>
      <p:sp>
        <p:nvSpPr>
          <p:cNvPr id="115" name="Google Shape;115;p21"/>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22"/>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21" name="Google Shape;121;p22"/>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Prototyping</a:t>
            </a:r>
            <a:endParaRPr/>
          </a:p>
        </p:txBody>
      </p:sp>
      <p:sp>
        <p:nvSpPr>
          <p:cNvPr id="122" name="Google Shape;122;p22"/>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Recap</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Pada tahap ini, tim desain akan mulai menghasilkan sejumlah versi prototipe, </a:t>
            </a:r>
            <a:r>
              <a:rPr lang="en" sz="1200">
                <a:solidFill>
                  <a:schemeClr val="dk1"/>
                </a:solidFill>
                <a:latin typeface="Raleway Medium"/>
                <a:ea typeface="Raleway Medium"/>
                <a:cs typeface="Raleway Medium"/>
                <a:sym typeface="Raleway Medium"/>
              </a:rPr>
              <a:t>para praktisi </a:t>
            </a:r>
            <a:r>
              <a:rPr lang="en" sz="1200">
                <a:solidFill>
                  <a:schemeClr val="dk1"/>
                </a:solidFill>
                <a:latin typeface="Raleway Medium"/>
                <a:ea typeface="Raleway Medium"/>
                <a:cs typeface="Raleway Medium"/>
                <a:sym typeface="Raleway Medium"/>
              </a:rPr>
              <a:t>dapat menyelidiki lebih lanjut solusi masalah yang ditemukan pada tahap tahap sebelumnya.</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Aktivitas kunci pada tahap ini adalah </a:t>
            </a:r>
            <a:r>
              <a:rPr b="1" lang="en" sz="1200">
                <a:solidFill>
                  <a:schemeClr val="dk1"/>
                </a:solidFill>
                <a:latin typeface="Raleway"/>
                <a:ea typeface="Raleway"/>
                <a:cs typeface="Raleway"/>
                <a:sym typeface="Raleway"/>
              </a:rPr>
              <a:t>menjadikan ide nyata</a:t>
            </a:r>
            <a:r>
              <a:rPr lang="en" sz="1200">
                <a:solidFill>
                  <a:schemeClr val="dk1"/>
                </a:solidFill>
                <a:latin typeface="Raleway Medium"/>
                <a:ea typeface="Raleway Medium"/>
                <a:cs typeface="Raleway Medium"/>
                <a:sym typeface="Raleway Medium"/>
              </a:rPr>
              <a:t>: buat prototipe kasar untuk mempelajari cara membuat ide menjadi lebih baik.</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p:txBody>
      </p:sp>
      <p:pic>
        <p:nvPicPr>
          <p:cNvPr id="123" name="Google Shape;123;p22"/>
          <p:cNvPicPr preferRelativeResize="0"/>
          <p:nvPr/>
        </p:nvPicPr>
        <p:blipFill rotWithShape="1">
          <a:blip r:embed="rId3">
            <a:alphaModFix/>
          </a:blip>
          <a:srcRect b="0" l="23380" r="23374" t="0"/>
          <a:stretch/>
        </p:blipFill>
        <p:spPr>
          <a:xfrm>
            <a:off x="5486400" y="1207587"/>
            <a:ext cx="3017518" cy="27432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23"/>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29" name="Google Shape;129;p23"/>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Prototyping</a:t>
            </a:r>
            <a:endParaRPr/>
          </a:p>
        </p:txBody>
      </p:sp>
      <p:sp>
        <p:nvSpPr>
          <p:cNvPr id="130" name="Google Shape;130;p23"/>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Prototyping</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Prototipe antarmuka pengguna adalah sebuah hipotesis — potensi solusi desain yang Anda pertimbangkan untuk masalah desain tertentu. Cara paling mudah untuk menguji hipotesis (prototipe) Anda adalah dengan melihat bagaimana para pengguna menggunakannya.</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Ada berbagai macam jenis prototipe, pilihan prototipe akan sangat bervariasi tergantung pada tujuan pengujian, kelengkapan desain, alat yang digunakan untuk membuat prototipe, dan sumber daya yang tersedia.</a:t>
            </a:r>
            <a:endParaRPr sz="1200">
              <a:solidFill>
                <a:schemeClr val="dk1"/>
              </a:solidFill>
              <a:latin typeface="Raleway Medium"/>
              <a:ea typeface="Raleway Medium"/>
              <a:cs typeface="Raleway Medium"/>
              <a:sym typeface="Raleway Medium"/>
            </a:endParaRPr>
          </a:p>
        </p:txBody>
      </p:sp>
      <p:pic>
        <p:nvPicPr>
          <p:cNvPr id="131" name="Google Shape;131;p23"/>
          <p:cNvPicPr preferRelativeResize="0"/>
          <p:nvPr/>
        </p:nvPicPr>
        <p:blipFill rotWithShape="1">
          <a:blip r:embed="rId3">
            <a:alphaModFix/>
          </a:blip>
          <a:srcRect b="0" l="17498" r="0" t="0"/>
          <a:stretch/>
        </p:blipFill>
        <p:spPr>
          <a:xfrm>
            <a:off x="5486400" y="1207587"/>
            <a:ext cx="3017518" cy="27432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24"/>
          <p:cNvSpPr txBox="1"/>
          <p:nvPr>
            <p:ph type="title"/>
          </p:nvPr>
        </p:nvSpPr>
        <p:spPr>
          <a:xfrm>
            <a:off x="914400" y="2210700"/>
            <a:ext cx="7315200" cy="722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Mengapa fase </a:t>
            </a:r>
            <a:r>
              <a:rPr lang="en">
                <a:solidFill>
                  <a:srgbClr val="F2AB2F"/>
                </a:solidFill>
              </a:rPr>
              <a:t>prototyping</a:t>
            </a:r>
            <a:r>
              <a:rPr lang="en"/>
              <a:t> penting?</a:t>
            </a:r>
            <a:endParaRPr/>
          </a:p>
        </p:txBody>
      </p:sp>
      <p:sp>
        <p:nvSpPr>
          <p:cNvPr id="137" name="Google Shape;137;p24"/>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25"/>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43" name="Google Shape;143;p25"/>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Mengapa fase prototyping penting?</a:t>
            </a:r>
            <a:endParaRPr/>
          </a:p>
        </p:txBody>
      </p:sp>
      <p:sp>
        <p:nvSpPr>
          <p:cNvPr id="144" name="Google Shape;144;p25"/>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Mengapa fase prototyping penting?</a:t>
            </a:r>
            <a:endParaRPr b="1" sz="1800">
              <a:solidFill>
                <a:srgbClr val="743673"/>
              </a:solidFill>
              <a:highlight>
                <a:schemeClr val="lt1"/>
              </a:highlight>
              <a:latin typeface="Raleway"/>
              <a:ea typeface="Raleway"/>
              <a:cs typeface="Raleway"/>
              <a:sym typeface="Raleway"/>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Fase prototyping </a:t>
            </a:r>
            <a:r>
              <a:rPr lang="en" sz="1200">
                <a:solidFill>
                  <a:schemeClr val="dk1"/>
                </a:solidFill>
                <a:latin typeface="Raleway Medium"/>
                <a:ea typeface="Raleway Medium"/>
                <a:cs typeface="Raleway Medium"/>
                <a:sym typeface="Raleway Medium"/>
              </a:rPr>
              <a:t>adalah fase percobaan yang krusial, dan tujuannya adalah untuk mengidentifikasi solusi terbaik untuk masalah yang diidentifikasi selama proses - proses sebelumnya. Beberapa potensi solusi diimplementasikan dalam prototipe, dan, satu per satu, mereka diselidiki, ditingkatkan dan diperiksa ulang..</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Pada akhir fase ini, tim desain akan memiliki gagasan yang lebih baik tentang kendala yang melekat pada produk dan masalah yang ada, dan memiliki pandangan yang lebih jelas tentang bagaimana pengguna berinteraksi berinteraksi dengan potensi produk.</a:t>
            </a:r>
            <a:endParaRPr sz="1200">
              <a:solidFill>
                <a:schemeClr val="dk1"/>
              </a:solidFill>
              <a:latin typeface="Raleway Medium"/>
              <a:ea typeface="Raleway Medium"/>
              <a:cs typeface="Raleway Medium"/>
              <a:sym typeface="Raleway Medium"/>
            </a:endParaRPr>
          </a:p>
        </p:txBody>
      </p:sp>
      <p:pic>
        <p:nvPicPr>
          <p:cNvPr id="145" name="Google Shape;145;p25">
            <a:hlinkClick r:id="rId3"/>
          </p:cNvPr>
          <p:cNvPicPr preferRelativeResize="0"/>
          <p:nvPr/>
        </p:nvPicPr>
        <p:blipFill rotWithShape="1">
          <a:blip r:embed="rId4">
            <a:alphaModFix/>
          </a:blip>
          <a:srcRect b="0" l="12291" r="12299" t="0"/>
          <a:stretch/>
        </p:blipFill>
        <p:spPr>
          <a:xfrm>
            <a:off x="5486400" y="1207587"/>
            <a:ext cx="3017518" cy="2743198"/>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26"/>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51" name="Google Shape;151;p26"/>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Mengapa fase prototyping penting?</a:t>
            </a:r>
            <a:endParaRPr/>
          </a:p>
        </p:txBody>
      </p:sp>
      <p:sp>
        <p:nvSpPr>
          <p:cNvPr id="152" name="Google Shape;152;p26"/>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Prototyping adalah bagian penting dari desain pengalaman pengguna (UX) yang biasanya muncul setelah fase ideation, di mana Anda/tim Anda telah membuat dan memilih ide yang dapat memenuhi kebutuhan pengguna.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Dalam pembuatan prototipe, Anda membuat model eksperimental sederhana dari produk yang Anda usulkan sehingga Anda dapat memeriksa seberapa cocok produk tersebut dengan apa yang diinginkan pengguna melalui </a:t>
            </a:r>
            <a:r>
              <a:rPr i="1" lang="en" sz="1200">
                <a:solidFill>
                  <a:schemeClr val="dk1"/>
                </a:solidFill>
                <a:latin typeface="Raleway Medium"/>
                <a:ea typeface="Raleway Medium"/>
                <a:cs typeface="Raleway Medium"/>
                <a:sym typeface="Raleway Medium"/>
              </a:rPr>
              <a:t>feedback</a:t>
            </a:r>
            <a:r>
              <a:rPr lang="en" sz="1200">
                <a:solidFill>
                  <a:schemeClr val="dk1"/>
                </a:solidFill>
                <a:latin typeface="Raleway Medium"/>
                <a:ea typeface="Raleway Medium"/>
                <a:cs typeface="Raleway Medium"/>
                <a:sym typeface="Raleway Medium"/>
              </a:rPr>
              <a:t> yang mereka berikan. Anda harus mempertimbangkan pembuatan prototipe sejak awal sehingga </a:t>
            </a:r>
            <a:r>
              <a:rPr i="1" lang="en" sz="1200">
                <a:solidFill>
                  <a:schemeClr val="dk1"/>
                </a:solidFill>
                <a:latin typeface="Raleway Medium"/>
                <a:ea typeface="Raleway Medium"/>
                <a:cs typeface="Raleway Medium"/>
                <a:sym typeface="Raleway Medium"/>
              </a:rPr>
              <a:t>feedback </a:t>
            </a:r>
            <a:r>
              <a:rPr lang="en" sz="1200">
                <a:solidFill>
                  <a:schemeClr val="dk1"/>
                </a:solidFill>
                <a:latin typeface="Raleway Medium"/>
                <a:ea typeface="Raleway Medium"/>
                <a:cs typeface="Raleway Medium"/>
                <a:sym typeface="Raleway Medium"/>
              </a:rPr>
              <a:t> yang Anda kumpulkan dari pengguna dapat memandu jalannya pengembangan produk.</a:t>
            </a:r>
            <a:endParaRPr sz="1200">
              <a:solidFill>
                <a:schemeClr val="dk1"/>
              </a:solidFill>
              <a:latin typeface="Raleway Medium"/>
              <a:ea typeface="Raleway Medium"/>
              <a:cs typeface="Raleway Medium"/>
              <a:sym typeface="Raleway Medium"/>
            </a:endParaRPr>
          </a:p>
        </p:txBody>
      </p:sp>
      <p:pic>
        <p:nvPicPr>
          <p:cNvPr id="153" name="Google Shape;153;p26">
            <a:hlinkClick r:id="rId3"/>
          </p:cNvPr>
          <p:cNvPicPr preferRelativeResize="0"/>
          <p:nvPr/>
        </p:nvPicPr>
        <p:blipFill rotWithShape="1">
          <a:blip r:embed="rId4">
            <a:alphaModFix/>
          </a:blip>
          <a:srcRect b="0" l="12291" r="12299" t="0"/>
          <a:stretch/>
        </p:blipFill>
        <p:spPr>
          <a:xfrm>
            <a:off x="5486400" y="1207587"/>
            <a:ext cx="3017518" cy="2743198"/>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27"/>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59" name="Google Shape;159;p27"/>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Mengapa fase prototyping penting?</a:t>
            </a:r>
            <a:endParaRPr/>
          </a:p>
        </p:txBody>
      </p:sp>
      <p:sp>
        <p:nvSpPr>
          <p:cNvPr id="160" name="Google Shape;160;p27"/>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Keuntungan membuat prototipe</a:t>
            </a:r>
            <a:endParaRPr b="1" sz="1800">
              <a:solidFill>
                <a:srgbClr val="743673"/>
              </a:solidFill>
              <a:highlight>
                <a:schemeClr val="lt1"/>
              </a:highlight>
              <a:latin typeface="Raleway"/>
              <a:ea typeface="Raleway"/>
              <a:cs typeface="Raleway"/>
              <a:sym typeface="Raleway"/>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133350" lvl="0" marL="171450" rtl="0" algn="l">
              <a:lnSpc>
                <a:spcPct val="115000"/>
              </a:lnSpc>
              <a:spcBef>
                <a:spcPts val="0"/>
              </a:spcBef>
              <a:spcAft>
                <a:spcPts val="0"/>
              </a:spcAft>
              <a:buClr>
                <a:schemeClr val="dk1"/>
              </a:buClr>
              <a:buSzPts val="1200"/>
              <a:buFont typeface="Raleway Medium"/>
              <a:buAutoNum type="arabicParenR"/>
            </a:pPr>
            <a:r>
              <a:rPr lang="en" sz="1200">
                <a:solidFill>
                  <a:schemeClr val="dk1"/>
                </a:solidFill>
                <a:latin typeface="Raleway Medium"/>
                <a:ea typeface="Raleway Medium"/>
                <a:cs typeface="Raleway Medium"/>
                <a:sym typeface="Raleway Medium"/>
              </a:rPr>
              <a:t>Memiliki dasar yang kuat untuk memperbaiki ide — memberikan gambaran yang jelas kepada semua </a:t>
            </a:r>
            <a:r>
              <a:rPr i="1" lang="en" sz="1200">
                <a:solidFill>
                  <a:schemeClr val="dk1"/>
                </a:solidFill>
                <a:latin typeface="Raleway Medium"/>
                <a:ea typeface="Raleway Medium"/>
                <a:cs typeface="Raleway Medium"/>
                <a:sym typeface="Raleway Medium"/>
              </a:rPr>
              <a:t>stakeholders </a:t>
            </a:r>
            <a:r>
              <a:rPr lang="en" sz="1200">
                <a:solidFill>
                  <a:schemeClr val="dk1"/>
                </a:solidFill>
                <a:latin typeface="Raleway Medium"/>
                <a:ea typeface="Raleway Medium"/>
                <a:cs typeface="Raleway Medium"/>
                <a:sym typeface="Raleway Medium"/>
              </a:rPr>
              <a:t>tentang potensi manfaat, risiko, dan biaya yang terkait.</a:t>
            </a:r>
            <a:endParaRPr sz="1200">
              <a:solidFill>
                <a:schemeClr val="dk1"/>
              </a:solidFill>
              <a:latin typeface="Raleway Medium"/>
              <a:ea typeface="Raleway Medium"/>
              <a:cs typeface="Raleway Medium"/>
              <a:sym typeface="Raleway Medium"/>
            </a:endParaRPr>
          </a:p>
          <a:p>
            <a:pPr indent="-133350" lvl="0" marL="171450" rtl="0" algn="l">
              <a:lnSpc>
                <a:spcPct val="115000"/>
              </a:lnSpc>
              <a:spcBef>
                <a:spcPts val="0"/>
              </a:spcBef>
              <a:spcAft>
                <a:spcPts val="0"/>
              </a:spcAft>
              <a:buClr>
                <a:schemeClr val="dk1"/>
              </a:buClr>
              <a:buSzPts val="1200"/>
              <a:buFont typeface="Raleway Medium"/>
              <a:buAutoNum type="arabicParenR"/>
            </a:pPr>
            <a:r>
              <a:rPr lang="en" sz="1200">
                <a:solidFill>
                  <a:schemeClr val="dk1"/>
                </a:solidFill>
                <a:latin typeface="Raleway Medium"/>
                <a:ea typeface="Raleway Medium"/>
                <a:cs typeface="Raleway Medium"/>
                <a:sym typeface="Raleway Medium"/>
              </a:rPr>
              <a:t>Dapat mengadaptasi perubahan lebih awal — sehingga menghindari komitmen pada satu versi ideal yang salah dan terjebak pada maxima lokal UX* dan kemudian menimbulkan biaya besar karena kelalaian.</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Maxima lokal UX = poin di mana desain tampaknya memiliki pengalaman pengguna yang optimal tetapi benar-benar memiliki ruang untuk perbaikan.</a:t>
            </a:r>
            <a:endParaRPr sz="1200">
              <a:solidFill>
                <a:schemeClr val="dk1"/>
              </a:solidFill>
              <a:latin typeface="Raleway Medium"/>
              <a:ea typeface="Raleway Medium"/>
              <a:cs typeface="Raleway Medium"/>
              <a:sym typeface="Raleway Medium"/>
            </a:endParaRPr>
          </a:p>
        </p:txBody>
      </p:sp>
      <p:pic>
        <p:nvPicPr>
          <p:cNvPr id="161" name="Google Shape;161;p27">
            <a:hlinkClick r:id="rId3"/>
          </p:cNvPr>
          <p:cNvPicPr preferRelativeResize="0"/>
          <p:nvPr/>
        </p:nvPicPr>
        <p:blipFill rotWithShape="1">
          <a:blip r:embed="rId4">
            <a:alphaModFix/>
          </a:blip>
          <a:srcRect b="0" l="0" r="17498" t="0"/>
          <a:stretch/>
        </p:blipFill>
        <p:spPr>
          <a:xfrm>
            <a:off x="5486400" y="1207587"/>
            <a:ext cx="3017518" cy="27432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28"/>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67" name="Google Shape;167;p28"/>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Mengapa fase prototyping penting?</a:t>
            </a:r>
            <a:endParaRPr/>
          </a:p>
        </p:txBody>
      </p:sp>
      <p:sp>
        <p:nvSpPr>
          <p:cNvPr id="168" name="Google Shape;168;p28"/>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133350" lvl="0" marL="171450" rtl="0" algn="l">
              <a:lnSpc>
                <a:spcPct val="115000"/>
              </a:lnSpc>
              <a:spcBef>
                <a:spcPts val="0"/>
              </a:spcBef>
              <a:spcAft>
                <a:spcPts val="0"/>
              </a:spcAft>
              <a:buClr>
                <a:schemeClr val="dk1"/>
              </a:buClr>
              <a:buSzPts val="1200"/>
              <a:buFont typeface="Raleway Medium"/>
              <a:buAutoNum type="arabicParenR" startAt="3"/>
            </a:pPr>
            <a:r>
              <a:rPr lang="en" sz="1200">
                <a:solidFill>
                  <a:schemeClr val="dk1"/>
                </a:solidFill>
                <a:latin typeface="Raleway Medium"/>
                <a:ea typeface="Raleway Medium"/>
                <a:cs typeface="Raleway Medium"/>
                <a:sym typeface="Raleway Medium"/>
              </a:rPr>
              <a:t>Dengan memberikan prototipe pada pengguna untuk diuji dan diberikan feedback, kita d</a:t>
            </a:r>
            <a:r>
              <a:rPr lang="en" sz="1200">
                <a:solidFill>
                  <a:schemeClr val="dk1"/>
                </a:solidFill>
                <a:latin typeface="Raleway Medium"/>
                <a:ea typeface="Raleway Medium"/>
                <a:cs typeface="Raleway Medium"/>
                <a:sym typeface="Raleway Medium"/>
              </a:rPr>
              <a:t>apat menentukan solusi/varian mana yang bekerja paling baik dan apakah diperlukan perbaikan.</a:t>
            </a:r>
            <a:endParaRPr sz="1200">
              <a:solidFill>
                <a:schemeClr val="dk1"/>
              </a:solidFill>
              <a:latin typeface="Raleway Medium"/>
              <a:ea typeface="Raleway Medium"/>
              <a:cs typeface="Raleway Medium"/>
              <a:sym typeface="Raleway Medium"/>
            </a:endParaRPr>
          </a:p>
          <a:p>
            <a:pPr indent="-133350" lvl="0" marL="171450" rtl="0" algn="l">
              <a:lnSpc>
                <a:spcPct val="115000"/>
              </a:lnSpc>
              <a:spcBef>
                <a:spcPts val="0"/>
              </a:spcBef>
              <a:spcAft>
                <a:spcPts val="0"/>
              </a:spcAft>
              <a:buClr>
                <a:schemeClr val="dk1"/>
              </a:buClr>
              <a:buSzPts val="1200"/>
              <a:buFont typeface="Raleway Medium"/>
              <a:buAutoNum type="arabicParenR" startAt="3"/>
            </a:pPr>
            <a:r>
              <a:rPr lang="en" sz="1200">
                <a:solidFill>
                  <a:schemeClr val="dk1"/>
                </a:solidFill>
                <a:latin typeface="Raleway Medium"/>
                <a:ea typeface="Raleway Medium"/>
                <a:cs typeface="Raleway Medium"/>
                <a:sym typeface="Raleway Medium"/>
              </a:rPr>
              <a:t>Memiliki alat untuk bereksperimen dengan kebutuhan dan masalah pengguna — oleh karena itu, Anda bisa mendapatkan wawasan tentang area yang kurang jelas di dunia pengguna.</a:t>
            </a:r>
            <a:endParaRPr sz="1200">
              <a:solidFill>
                <a:schemeClr val="dk1"/>
              </a:solidFill>
              <a:latin typeface="Raleway Medium"/>
              <a:ea typeface="Raleway Medium"/>
              <a:cs typeface="Raleway Medium"/>
              <a:sym typeface="Raleway Medium"/>
            </a:endParaRPr>
          </a:p>
          <a:p>
            <a:pPr indent="-133350" lvl="0" marL="171450" rtl="0" algn="l">
              <a:lnSpc>
                <a:spcPct val="115000"/>
              </a:lnSpc>
              <a:spcBef>
                <a:spcPts val="0"/>
              </a:spcBef>
              <a:spcAft>
                <a:spcPts val="0"/>
              </a:spcAft>
              <a:buClr>
                <a:schemeClr val="dk1"/>
              </a:buClr>
              <a:buSzPts val="1200"/>
              <a:buFont typeface="Raleway Medium"/>
              <a:buAutoNum type="arabicParenR" startAt="3"/>
            </a:pPr>
            <a:r>
              <a:rPr lang="en" sz="1200">
                <a:solidFill>
                  <a:schemeClr val="dk1"/>
                </a:solidFill>
                <a:latin typeface="Raleway Medium"/>
                <a:ea typeface="Raleway Medium"/>
                <a:cs typeface="Raleway Medium"/>
                <a:sym typeface="Raleway Medium"/>
              </a:rPr>
              <a:t>Memberikan rasa kepemilikan kepada para pemangku kepentingan terkait—oleh karena itu, mendorong investasi emosional dalam kesuksesan akhir produk.</a:t>
            </a:r>
            <a:endParaRPr sz="1200">
              <a:solidFill>
                <a:schemeClr val="dk1"/>
              </a:solidFill>
              <a:latin typeface="Raleway Medium"/>
              <a:ea typeface="Raleway Medium"/>
              <a:cs typeface="Raleway Medium"/>
              <a:sym typeface="Raleway Medium"/>
            </a:endParaRPr>
          </a:p>
          <a:p>
            <a:pPr indent="-133350" lvl="0" marL="171450" rtl="0" algn="l">
              <a:lnSpc>
                <a:spcPct val="115000"/>
              </a:lnSpc>
              <a:spcBef>
                <a:spcPts val="0"/>
              </a:spcBef>
              <a:spcAft>
                <a:spcPts val="0"/>
              </a:spcAft>
              <a:buClr>
                <a:schemeClr val="dk1"/>
              </a:buClr>
              <a:buSzPts val="1200"/>
              <a:buFont typeface="Raleway Medium"/>
              <a:buAutoNum type="arabicParenR" startAt="3"/>
            </a:pPr>
            <a:r>
              <a:rPr lang="en" sz="1200">
                <a:solidFill>
                  <a:schemeClr val="dk1"/>
                </a:solidFill>
                <a:latin typeface="Raleway Medium"/>
                <a:ea typeface="Raleway Medium"/>
                <a:cs typeface="Raleway Medium"/>
                <a:sym typeface="Raleway Medium"/>
              </a:rPr>
              <a:t>Meminimalkan jumlah kesalahan yang harus diperbaiki sebelum rilis produk.</a:t>
            </a:r>
            <a:endParaRPr sz="1200">
              <a:solidFill>
                <a:schemeClr val="dk1"/>
              </a:solidFill>
              <a:latin typeface="Raleway Medium"/>
              <a:ea typeface="Raleway Medium"/>
              <a:cs typeface="Raleway Medium"/>
              <a:sym typeface="Raleway Medium"/>
            </a:endParaRPr>
          </a:p>
        </p:txBody>
      </p:sp>
      <p:pic>
        <p:nvPicPr>
          <p:cNvPr id="169" name="Google Shape;169;p28">
            <a:hlinkClick r:id="rId3"/>
          </p:cNvPr>
          <p:cNvPicPr preferRelativeResize="0"/>
          <p:nvPr/>
        </p:nvPicPr>
        <p:blipFill rotWithShape="1">
          <a:blip r:embed="rId4">
            <a:alphaModFix/>
          </a:blip>
          <a:srcRect b="0" l="0" r="17498" t="0"/>
          <a:stretch/>
        </p:blipFill>
        <p:spPr>
          <a:xfrm>
            <a:off x="5486400" y="1207587"/>
            <a:ext cx="3017518" cy="27432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29"/>
          <p:cNvSpPr txBox="1"/>
          <p:nvPr>
            <p:ph type="title"/>
          </p:nvPr>
        </p:nvSpPr>
        <p:spPr>
          <a:xfrm>
            <a:off x="914400" y="2210700"/>
            <a:ext cx="7315200" cy="722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Kegiatan pada fase prototyping</a:t>
            </a:r>
            <a:endParaRPr/>
          </a:p>
        </p:txBody>
      </p:sp>
      <p:sp>
        <p:nvSpPr>
          <p:cNvPr id="175" name="Google Shape;175;p29"/>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p30"/>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81" name="Google Shape;181;p30"/>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Kegiatan pada fase prototyping</a:t>
            </a:r>
            <a:endParaRPr/>
          </a:p>
        </p:txBody>
      </p:sp>
      <p:sp>
        <p:nvSpPr>
          <p:cNvPr id="182" name="Google Shape;182;p30"/>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Membuat prototipe (prototype)</a:t>
            </a:r>
            <a:endParaRPr b="1" sz="1800">
              <a:solidFill>
                <a:srgbClr val="743673"/>
              </a:solidFill>
              <a:highlight>
                <a:schemeClr val="lt1"/>
              </a:highlight>
              <a:latin typeface="Raleway"/>
              <a:ea typeface="Raleway"/>
              <a:cs typeface="Raleway"/>
              <a:sym typeface="Raleway"/>
            </a:endParaRPr>
          </a:p>
          <a:p>
            <a:pPr indent="0" lvl="0" marL="0" rtl="0" algn="l">
              <a:lnSpc>
                <a:spcPct val="115000"/>
              </a:lnSpc>
              <a:spcBef>
                <a:spcPts val="0"/>
              </a:spcBef>
              <a:spcAft>
                <a:spcPts val="0"/>
              </a:spcAft>
              <a:buNone/>
            </a:pPr>
            <a:r>
              <a:t/>
            </a:r>
            <a:endParaRPr b="1" sz="1800">
              <a:solidFill>
                <a:srgbClr val="743673"/>
              </a:solidFill>
              <a:highlight>
                <a:schemeClr val="lt1"/>
              </a:highlight>
              <a:latin typeface="Raleway"/>
              <a:ea typeface="Raleway"/>
              <a:cs typeface="Raleway"/>
              <a:sym typeface="Raleway"/>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Bisa dibilang bahwa kegiatan pada fase ini hanyalah satu yaitu membuat prototipe.</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Akan tetapi, perlu diingat bahwa umumnya kita perlu membuat lebih dari satu versi prototipe untuk menggambarkan berbagai ide atau potensi solusi.</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Ada banyak jenis - jenis prototipe yang akan kita telusuri pada sesi ini. Walaupun jenis-jenis-nya berbeda, secara umum langkah-langkah untuk membuat-nya sama.</a:t>
            </a:r>
            <a:endParaRPr sz="1200">
              <a:solidFill>
                <a:schemeClr val="dk1"/>
              </a:solidFill>
              <a:latin typeface="Raleway Medium"/>
              <a:ea typeface="Raleway Medium"/>
              <a:cs typeface="Raleway Medium"/>
              <a:sym typeface="Raleway Medium"/>
            </a:endParaRPr>
          </a:p>
        </p:txBody>
      </p:sp>
      <p:pic>
        <p:nvPicPr>
          <p:cNvPr id="183" name="Google Shape;183;p30">
            <a:hlinkClick r:id="rId3"/>
          </p:cNvPr>
          <p:cNvPicPr preferRelativeResize="0"/>
          <p:nvPr/>
        </p:nvPicPr>
        <p:blipFill rotWithShape="1">
          <a:blip r:embed="rId4">
            <a:alphaModFix/>
          </a:blip>
          <a:srcRect b="0" l="17883" r="17877" t="0"/>
          <a:stretch/>
        </p:blipFill>
        <p:spPr>
          <a:xfrm>
            <a:off x="5486400" y="1207587"/>
            <a:ext cx="3017518" cy="2743199"/>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31"/>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89" name="Google Shape;189;p31"/>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Kegiatan pada fase prototyping</a:t>
            </a:r>
            <a:endParaRPr/>
          </a:p>
        </p:txBody>
      </p:sp>
      <p:grpSp>
        <p:nvGrpSpPr>
          <p:cNvPr id="190" name="Google Shape;190;p31"/>
          <p:cNvGrpSpPr/>
          <p:nvPr/>
        </p:nvGrpSpPr>
        <p:grpSpPr>
          <a:xfrm>
            <a:off x="0" y="1113789"/>
            <a:ext cx="2214600" cy="3217636"/>
            <a:chOff x="0" y="1189989"/>
            <a:chExt cx="2214600" cy="3217636"/>
          </a:xfrm>
        </p:grpSpPr>
        <p:sp>
          <p:nvSpPr>
            <p:cNvPr id="191" name="Google Shape;191;p31"/>
            <p:cNvSpPr/>
            <p:nvPr/>
          </p:nvSpPr>
          <p:spPr>
            <a:xfrm>
              <a:off x="0" y="1189989"/>
              <a:ext cx="2214600" cy="669000"/>
            </a:xfrm>
            <a:prstGeom prst="homePlate">
              <a:avLst>
                <a:gd fmla="val 50000" name="adj"/>
              </a:avLst>
            </a:prstGeom>
            <a:solidFill>
              <a:srgbClr val="73357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FFFFFF"/>
                  </a:solidFill>
                  <a:latin typeface="Raleway Medium"/>
                  <a:ea typeface="Raleway Medium"/>
                  <a:cs typeface="Raleway Medium"/>
                  <a:sym typeface="Raleway Medium"/>
                </a:rPr>
                <a:t>Information</a:t>
              </a:r>
              <a:endParaRPr>
                <a:solidFill>
                  <a:srgbClr val="FFFFFF"/>
                </a:solidFill>
                <a:latin typeface="Raleway Medium"/>
                <a:ea typeface="Raleway Medium"/>
                <a:cs typeface="Raleway Medium"/>
                <a:sym typeface="Raleway Medium"/>
              </a:endParaRPr>
            </a:p>
            <a:p>
              <a:pPr indent="0" lvl="0" marL="0" rtl="0" algn="ctr">
                <a:spcBef>
                  <a:spcPts val="0"/>
                </a:spcBef>
                <a:spcAft>
                  <a:spcPts val="0"/>
                </a:spcAft>
                <a:buNone/>
              </a:pPr>
              <a:r>
                <a:rPr lang="en">
                  <a:solidFill>
                    <a:srgbClr val="FFFFFF"/>
                  </a:solidFill>
                  <a:latin typeface="Raleway Medium"/>
                  <a:ea typeface="Raleway Medium"/>
                  <a:cs typeface="Raleway Medium"/>
                  <a:sym typeface="Raleway Medium"/>
                </a:rPr>
                <a:t>Architecture</a:t>
              </a:r>
              <a:endParaRPr>
                <a:solidFill>
                  <a:srgbClr val="FFFFFF"/>
                </a:solidFill>
                <a:latin typeface="Raleway Medium"/>
                <a:ea typeface="Raleway Medium"/>
                <a:cs typeface="Raleway Medium"/>
                <a:sym typeface="Raleway Medium"/>
              </a:endParaRPr>
            </a:p>
          </p:txBody>
        </p:sp>
        <p:sp>
          <p:nvSpPr>
            <p:cNvPr id="192" name="Google Shape;192;p31"/>
            <p:cNvSpPr txBox="1"/>
            <p:nvPr/>
          </p:nvSpPr>
          <p:spPr>
            <a:xfrm>
              <a:off x="295050" y="2057125"/>
              <a:ext cx="1624500" cy="23505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100">
                  <a:latin typeface="Raleway Medium"/>
                  <a:ea typeface="Raleway Medium"/>
                  <a:cs typeface="Raleway Medium"/>
                  <a:sym typeface="Raleway Medium"/>
                </a:rPr>
                <a:t>Seperti yang sudah kita diskusikan sebelumnya, penting bagi seorang designer untuk menata konten sebelum memulai proses wireframing dan prototyping. </a:t>
              </a:r>
              <a:endParaRPr sz="1100">
                <a:latin typeface="Raleway Medium"/>
                <a:ea typeface="Raleway Medium"/>
                <a:cs typeface="Raleway Medium"/>
                <a:sym typeface="Raleway Medium"/>
              </a:endParaRPr>
            </a:p>
          </p:txBody>
        </p:sp>
      </p:grpSp>
      <p:grpSp>
        <p:nvGrpSpPr>
          <p:cNvPr id="193" name="Google Shape;193;p31"/>
          <p:cNvGrpSpPr/>
          <p:nvPr/>
        </p:nvGrpSpPr>
        <p:grpSpPr>
          <a:xfrm>
            <a:off x="1838325" y="1113575"/>
            <a:ext cx="2064000" cy="3498650"/>
            <a:chOff x="1838325" y="1189775"/>
            <a:chExt cx="2064000" cy="3498650"/>
          </a:xfrm>
        </p:grpSpPr>
        <p:sp>
          <p:nvSpPr>
            <p:cNvPr id="194" name="Google Shape;194;p31"/>
            <p:cNvSpPr/>
            <p:nvPr/>
          </p:nvSpPr>
          <p:spPr>
            <a:xfrm>
              <a:off x="1838325" y="1189775"/>
              <a:ext cx="2064000" cy="669000"/>
            </a:xfrm>
            <a:prstGeom prst="chevron">
              <a:avLst>
                <a:gd fmla="val 50000" name="adj"/>
              </a:avLst>
            </a:prstGeom>
            <a:solidFill>
              <a:srgbClr val="5E2B62">
                <a:alpha val="800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FFFFFF"/>
                  </a:solidFill>
                  <a:latin typeface="Raleway Medium"/>
                  <a:ea typeface="Raleway Medium"/>
                  <a:cs typeface="Raleway Medium"/>
                  <a:sym typeface="Raleway Medium"/>
                </a:rPr>
                <a:t>Wireframes</a:t>
              </a:r>
              <a:endParaRPr>
                <a:solidFill>
                  <a:srgbClr val="FFFFFF"/>
                </a:solidFill>
                <a:latin typeface="Raleway Medium"/>
                <a:ea typeface="Raleway Medium"/>
                <a:cs typeface="Raleway Medium"/>
                <a:sym typeface="Raleway Medium"/>
              </a:endParaRPr>
            </a:p>
          </p:txBody>
        </p:sp>
        <p:sp>
          <p:nvSpPr>
            <p:cNvPr id="195" name="Google Shape;195;p31"/>
            <p:cNvSpPr txBox="1"/>
            <p:nvPr/>
          </p:nvSpPr>
          <p:spPr>
            <a:xfrm>
              <a:off x="2017250" y="2057125"/>
              <a:ext cx="1624500" cy="26313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100">
                  <a:latin typeface="Raleway Medium"/>
                  <a:ea typeface="Raleway Medium"/>
                  <a:cs typeface="Raleway Medium"/>
                  <a:sym typeface="Raleway Medium"/>
                </a:rPr>
                <a:t>Low-fidelity wireframes bisa menjadi </a:t>
              </a:r>
              <a:r>
                <a:rPr i="1" lang="en" sz="1100">
                  <a:latin typeface="Raleway Medium"/>
                  <a:ea typeface="Raleway Medium"/>
                  <a:cs typeface="Raleway Medium"/>
                  <a:sym typeface="Raleway Medium"/>
                </a:rPr>
                <a:t>starting point </a:t>
              </a:r>
              <a:r>
                <a:rPr lang="en" sz="1100">
                  <a:latin typeface="Raleway Medium"/>
                  <a:ea typeface="Raleway Medium"/>
                  <a:cs typeface="Raleway Medium"/>
                  <a:sym typeface="Raleway Medium"/>
                </a:rPr>
                <a:t>yang baik sebelum menambahkan interaksi dari satu page ke page lainnya.</a:t>
              </a:r>
              <a:endParaRPr sz="1100">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100">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100">
                <a:latin typeface="Raleway Medium"/>
                <a:ea typeface="Raleway Medium"/>
                <a:cs typeface="Raleway Medium"/>
                <a:sym typeface="Raleway Medium"/>
              </a:endParaRPr>
            </a:p>
          </p:txBody>
        </p:sp>
      </p:grpSp>
      <p:grpSp>
        <p:nvGrpSpPr>
          <p:cNvPr id="196" name="Google Shape;196;p31"/>
          <p:cNvGrpSpPr/>
          <p:nvPr/>
        </p:nvGrpSpPr>
        <p:grpSpPr>
          <a:xfrm>
            <a:off x="3516750" y="1113575"/>
            <a:ext cx="2064000" cy="3217850"/>
            <a:chOff x="3516750" y="1189775"/>
            <a:chExt cx="2064000" cy="3217850"/>
          </a:xfrm>
        </p:grpSpPr>
        <p:sp>
          <p:nvSpPr>
            <p:cNvPr id="197" name="Google Shape;197;p31"/>
            <p:cNvSpPr/>
            <p:nvPr/>
          </p:nvSpPr>
          <p:spPr>
            <a:xfrm>
              <a:off x="3516750" y="1189775"/>
              <a:ext cx="2064000" cy="669000"/>
            </a:xfrm>
            <a:prstGeom prst="chevron">
              <a:avLst>
                <a:gd fmla="val 50000" name="adj"/>
              </a:avLst>
            </a:prstGeom>
            <a:solidFill>
              <a:srgbClr val="5E2B62">
                <a:alpha val="800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FFFFFF"/>
                  </a:solidFill>
                  <a:latin typeface="Raleway Medium"/>
                  <a:ea typeface="Raleway Medium"/>
                  <a:cs typeface="Raleway Medium"/>
                  <a:sym typeface="Raleway Medium"/>
                </a:rPr>
                <a:t>Interactions</a:t>
              </a:r>
              <a:endParaRPr>
                <a:solidFill>
                  <a:srgbClr val="FFFFFF"/>
                </a:solidFill>
                <a:latin typeface="Raleway Medium"/>
                <a:ea typeface="Raleway Medium"/>
                <a:cs typeface="Raleway Medium"/>
                <a:sym typeface="Raleway Medium"/>
              </a:endParaRPr>
            </a:p>
          </p:txBody>
        </p:sp>
        <p:sp>
          <p:nvSpPr>
            <p:cNvPr id="198" name="Google Shape;198;p31"/>
            <p:cNvSpPr txBox="1"/>
            <p:nvPr/>
          </p:nvSpPr>
          <p:spPr>
            <a:xfrm>
              <a:off x="3739450" y="2057125"/>
              <a:ext cx="1624500" cy="23505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100">
                  <a:latin typeface="Raleway Medium"/>
                  <a:ea typeface="Raleway Medium"/>
                  <a:cs typeface="Raleway Medium"/>
                  <a:sym typeface="Raleway Medium"/>
                </a:rPr>
                <a:t>Interaksi dari satu page atau aktivitas pada page lainnya mulai ditambahkan.</a:t>
              </a:r>
              <a:endParaRPr sz="1100">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100">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100">
                  <a:latin typeface="Raleway Medium"/>
                  <a:ea typeface="Raleway Medium"/>
                  <a:cs typeface="Raleway Medium"/>
                  <a:sym typeface="Raleway Medium"/>
                </a:rPr>
                <a:t>Tidak perlu terlalu interaktif, asalkan pengguna akan mengerti maksud dari interaksi pada prototype. </a:t>
              </a:r>
              <a:endParaRPr sz="1100">
                <a:latin typeface="Raleway Medium"/>
                <a:ea typeface="Raleway Medium"/>
                <a:cs typeface="Raleway Medium"/>
                <a:sym typeface="Raleway Medium"/>
              </a:endParaRPr>
            </a:p>
          </p:txBody>
        </p:sp>
      </p:grpSp>
      <p:grpSp>
        <p:nvGrpSpPr>
          <p:cNvPr id="199" name="Google Shape;199;p31"/>
          <p:cNvGrpSpPr/>
          <p:nvPr/>
        </p:nvGrpSpPr>
        <p:grpSpPr>
          <a:xfrm>
            <a:off x="6874025" y="1113575"/>
            <a:ext cx="2064000" cy="3790250"/>
            <a:chOff x="6874025" y="1189775"/>
            <a:chExt cx="2064000" cy="3790250"/>
          </a:xfrm>
        </p:grpSpPr>
        <p:sp>
          <p:nvSpPr>
            <p:cNvPr id="200" name="Google Shape;200;p31"/>
            <p:cNvSpPr/>
            <p:nvPr/>
          </p:nvSpPr>
          <p:spPr>
            <a:xfrm>
              <a:off x="6874025" y="1189775"/>
              <a:ext cx="2064000" cy="669000"/>
            </a:xfrm>
            <a:prstGeom prst="chevron">
              <a:avLst>
                <a:gd fmla="val 50000" name="adj"/>
              </a:avLst>
            </a:prstGeom>
            <a:solidFill>
              <a:srgbClr val="5E2B62">
                <a:alpha val="6078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FFFFFF"/>
                  </a:solidFill>
                  <a:latin typeface="Raleway Medium"/>
                  <a:ea typeface="Raleway Medium"/>
                  <a:cs typeface="Raleway Medium"/>
                  <a:sym typeface="Raleway Medium"/>
                </a:rPr>
                <a:t>// Test //</a:t>
              </a:r>
              <a:endParaRPr>
                <a:solidFill>
                  <a:srgbClr val="FFFFFF"/>
                </a:solidFill>
                <a:latin typeface="Raleway Medium"/>
                <a:ea typeface="Raleway Medium"/>
                <a:cs typeface="Raleway Medium"/>
                <a:sym typeface="Raleway Medium"/>
              </a:endParaRPr>
            </a:p>
          </p:txBody>
        </p:sp>
        <p:sp>
          <p:nvSpPr>
            <p:cNvPr id="201" name="Google Shape;201;p31"/>
            <p:cNvSpPr txBox="1"/>
            <p:nvPr/>
          </p:nvSpPr>
          <p:spPr>
            <a:xfrm>
              <a:off x="7183850" y="2057125"/>
              <a:ext cx="1624500" cy="29229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100">
                  <a:latin typeface="Raleway Medium"/>
                  <a:ea typeface="Raleway Medium"/>
                  <a:cs typeface="Raleway Medium"/>
                  <a:sym typeface="Raleway Medium"/>
                </a:rPr>
                <a:t>// Akan dibahas pada kelas berikutnya //</a:t>
              </a:r>
              <a:endParaRPr sz="1100">
                <a:latin typeface="Raleway Medium"/>
                <a:ea typeface="Raleway Medium"/>
                <a:cs typeface="Raleway Medium"/>
                <a:sym typeface="Raleway Medium"/>
              </a:endParaRPr>
            </a:p>
          </p:txBody>
        </p:sp>
      </p:grpSp>
      <p:grpSp>
        <p:nvGrpSpPr>
          <p:cNvPr id="202" name="Google Shape;202;p31"/>
          <p:cNvGrpSpPr/>
          <p:nvPr/>
        </p:nvGrpSpPr>
        <p:grpSpPr>
          <a:xfrm>
            <a:off x="5195350" y="1113575"/>
            <a:ext cx="2064000" cy="3217850"/>
            <a:chOff x="5195350" y="1189775"/>
            <a:chExt cx="2064000" cy="3217850"/>
          </a:xfrm>
        </p:grpSpPr>
        <p:sp>
          <p:nvSpPr>
            <p:cNvPr id="203" name="Google Shape;203;p31"/>
            <p:cNvSpPr/>
            <p:nvPr/>
          </p:nvSpPr>
          <p:spPr>
            <a:xfrm>
              <a:off x="5195350" y="1189775"/>
              <a:ext cx="2064000" cy="669000"/>
            </a:xfrm>
            <a:prstGeom prst="chevron">
              <a:avLst>
                <a:gd fmla="val 50000" name="adj"/>
              </a:avLst>
            </a:prstGeom>
            <a:solidFill>
              <a:srgbClr val="5E2B62">
                <a:alpha val="6078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FFFFFF"/>
                  </a:solidFill>
                  <a:latin typeface="Raleway Medium"/>
                  <a:ea typeface="Raleway Medium"/>
                  <a:cs typeface="Raleway Medium"/>
                  <a:sym typeface="Raleway Medium"/>
                </a:rPr>
                <a:t>UI Design</a:t>
              </a:r>
              <a:endParaRPr>
                <a:solidFill>
                  <a:srgbClr val="FFFFFF"/>
                </a:solidFill>
                <a:latin typeface="Raleway Medium"/>
                <a:ea typeface="Raleway Medium"/>
                <a:cs typeface="Raleway Medium"/>
                <a:sym typeface="Raleway Medium"/>
              </a:endParaRPr>
            </a:p>
          </p:txBody>
        </p:sp>
        <p:sp>
          <p:nvSpPr>
            <p:cNvPr id="204" name="Google Shape;204;p31"/>
            <p:cNvSpPr txBox="1"/>
            <p:nvPr/>
          </p:nvSpPr>
          <p:spPr>
            <a:xfrm>
              <a:off x="5461650" y="2057125"/>
              <a:ext cx="1624500" cy="23505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sz="1100">
                  <a:solidFill>
                    <a:schemeClr val="dk1"/>
                  </a:solidFill>
                  <a:latin typeface="Raleway Medium"/>
                  <a:ea typeface="Raleway Medium"/>
                  <a:cs typeface="Raleway Medium"/>
                  <a:sym typeface="Raleway Medium"/>
                </a:rPr>
                <a:t>Setelah interaksi ditambahkan dan tidak terlalu banyak perubahan dibutuhkan, </a:t>
              </a:r>
              <a:endParaRPr sz="11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100">
                  <a:latin typeface="Raleway Medium"/>
                  <a:ea typeface="Raleway Medium"/>
                  <a:cs typeface="Raleway Medium"/>
                  <a:sym typeface="Raleway Medium"/>
                </a:rPr>
                <a:t>UI design yang lebih baik dan rinci mulai diimplementasikan.</a:t>
              </a:r>
              <a:endParaRPr sz="1100">
                <a:latin typeface="Raleway Medium"/>
                <a:ea typeface="Raleway Medium"/>
                <a:cs typeface="Raleway Medium"/>
                <a:sym typeface="Raleway Medium"/>
              </a:endParaRPr>
            </a:p>
          </p:txBody>
        </p:sp>
      </p:gr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sp>
        <p:nvSpPr>
          <p:cNvPr id="209" name="Google Shape;209;p32"/>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10" name="Google Shape;210;p32"/>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Kegiatan pada fase prototyping</a:t>
            </a:r>
            <a:endParaRPr/>
          </a:p>
        </p:txBody>
      </p:sp>
      <p:pic>
        <p:nvPicPr>
          <p:cNvPr descr="Learn how to design web and mobile app prototypes, how to test them and what to look for in a prototyping tool in this complete guide." id="211" name="Google Shape;211;p32" title="The ultimate guide to prototyping">
            <a:hlinkClick r:id="rId3"/>
          </p:cNvPr>
          <p:cNvPicPr preferRelativeResize="0"/>
          <p:nvPr/>
        </p:nvPicPr>
        <p:blipFill>
          <a:blip r:embed="rId4">
            <a:alphaModFix/>
          </a:blip>
          <a:stretch>
            <a:fillRect/>
          </a:stretch>
        </p:blipFill>
        <p:spPr>
          <a:xfrm>
            <a:off x="1648675" y="825151"/>
            <a:ext cx="5976850" cy="397545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sp>
        <p:nvSpPr>
          <p:cNvPr id="216" name="Google Shape;216;p33"/>
          <p:cNvSpPr txBox="1"/>
          <p:nvPr>
            <p:ph type="title"/>
          </p:nvPr>
        </p:nvSpPr>
        <p:spPr>
          <a:xfrm>
            <a:off x="914400" y="2210700"/>
            <a:ext cx="7315200" cy="722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Macam - macam prototypes berdasarkan alat</a:t>
            </a:r>
            <a:endParaRPr/>
          </a:p>
        </p:txBody>
      </p:sp>
      <p:sp>
        <p:nvSpPr>
          <p:cNvPr id="217" name="Google Shape;217;p33"/>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sp>
        <p:nvSpPr>
          <p:cNvPr id="222" name="Google Shape;222;p34"/>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23" name="Google Shape;223;p34"/>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Macam - macam prototypes berdasarkan alat</a:t>
            </a:r>
            <a:endParaRPr/>
          </a:p>
        </p:txBody>
      </p:sp>
      <p:sp>
        <p:nvSpPr>
          <p:cNvPr id="224" name="Google Shape;224;p34"/>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1) Paper prototypes</a:t>
            </a:r>
            <a:endParaRPr b="1" sz="1800">
              <a:solidFill>
                <a:srgbClr val="743673"/>
              </a:solidFill>
              <a:highlight>
                <a:schemeClr val="lt1"/>
              </a:highlight>
              <a:latin typeface="Raleway"/>
              <a:ea typeface="Raleway"/>
              <a:cs typeface="Raleway"/>
              <a:sym typeface="Raleway"/>
            </a:endParaRPr>
          </a:p>
          <a:p>
            <a:pPr indent="0" lvl="0" marL="0" rtl="0" algn="l">
              <a:lnSpc>
                <a:spcPct val="115000"/>
              </a:lnSpc>
              <a:spcBef>
                <a:spcPts val="0"/>
              </a:spcBef>
              <a:spcAft>
                <a:spcPts val="0"/>
              </a:spcAft>
              <a:buNone/>
            </a:pPr>
            <a:r>
              <a:t/>
            </a:r>
            <a:endParaRPr b="1" sz="1800">
              <a:solidFill>
                <a:srgbClr val="743673"/>
              </a:solidFill>
              <a:highlight>
                <a:schemeClr val="lt1"/>
              </a:highlight>
              <a:latin typeface="Raleway"/>
              <a:ea typeface="Raleway"/>
              <a:cs typeface="Raleway"/>
              <a:sym typeface="Raleway"/>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Prototipe kertas dibuat menggunakan beberapa lembar kertas dengan sketsa elemen yang bergerak dan fitur interaktif di gambar pada lembar yang berbeda untuk menciptakan tampilan yang lebih mendalam.</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Prototipe kertas sangat bagus untuk mengeksplorasi kemungkinan desain. Anda dapat mencoba sebanyak yang Anda inginkan, dan jika itu tidak berhasil untuk Anda, tidak apa-apa, buang saja ke tempat sampah dan mulai dari awal.</a:t>
            </a:r>
            <a:endParaRPr sz="1200">
              <a:solidFill>
                <a:schemeClr val="dk1"/>
              </a:solidFill>
              <a:latin typeface="Raleway Medium"/>
              <a:ea typeface="Raleway Medium"/>
              <a:cs typeface="Raleway Medium"/>
              <a:sym typeface="Raleway Medium"/>
            </a:endParaRPr>
          </a:p>
        </p:txBody>
      </p:sp>
      <p:pic>
        <p:nvPicPr>
          <p:cNvPr id="225" name="Google Shape;225;p34">
            <a:hlinkClick r:id="rId3"/>
          </p:cNvPr>
          <p:cNvPicPr preferRelativeResize="0"/>
          <p:nvPr/>
        </p:nvPicPr>
        <p:blipFill rotWithShape="1">
          <a:blip r:embed="rId4">
            <a:alphaModFix/>
          </a:blip>
          <a:srcRect b="4545" l="0" r="0" t="4545"/>
          <a:stretch/>
        </p:blipFill>
        <p:spPr>
          <a:xfrm>
            <a:off x="5486400" y="1207587"/>
            <a:ext cx="3017518" cy="2743199"/>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p35"/>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31" name="Google Shape;231;p35"/>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Macam - macam prototypes berdasarkan alat</a:t>
            </a:r>
            <a:endParaRPr/>
          </a:p>
        </p:txBody>
      </p:sp>
      <p:sp>
        <p:nvSpPr>
          <p:cNvPr id="232" name="Google Shape;232;p35"/>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2</a:t>
            </a:r>
            <a:r>
              <a:rPr b="1" lang="en" sz="1800">
                <a:solidFill>
                  <a:srgbClr val="743673"/>
                </a:solidFill>
                <a:highlight>
                  <a:schemeClr val="lt1"/>
                </a:highlight>
                <a:latin typeface="Raleway"/>
                <a:ea typeface="Raleway"/>
                <a:cs typeface="Raleway"/>
                <a:sym typeface="Raleway"/>
              </a:rPr>
              <a:t>) Storyboards</a:t>
            </a:r>
            <a:endParaRPr b="1" sz="1800">
              <a:solidFill>
                <a:srgbClr val="743673"/>
              </a:solidFill>
              <a:highlight>
                <a:schemeClr val="lt1"/>
              </a:highlight>
              <a:latin typeface="Raleway"/>
              <a:ea typeface="Raleway"/>
              <a:cs typeface="Raleway"/>
              <a:sym typeface="Raleway"/>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Semua orang menyukai cerita dan storyboard adalah cara yang bagus untuk memandu pembaca-nya melalui perjalanan pengalaman pengguna.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Storyboarding adalah teknik yang berasal dari industri film dan memungkinkan Anda dengan cepat dan murah memandu </a:t>
            </a:r>
            <a:r>
              <a:rPr i="1" lang="en" sz="1200">
                <a:solidFill>
                  <a:schemeClr val="dk1"/>
                </a:solidFill>
                <a:latin typeface="Raleway Medium"/>
                <a:ea typeface="Raleway Medium"/>
                <a:cs typeface="Raleway Medium"/>
                <a:sym typeface="Raleway Medium"/>
              </a:rPr>
              <a:t>stakeholder</a:t>
            </a:r>
            <a:r>
              <a:rPr lang="en" sz="1200">
                <a:solidFill>
                  <a:schemeClr val="dk1"/>
                </a:solidFill>
                <a:latin typeface="Raleway Medium"/>
                <a:ea typeface="Raleway Medium"/>
                <a:cs typeface="Raleway Medium"/>
                <a:sym typeface="Raleway Medium"/>
              </a:rPr>
              <a:t> dan pengguna melalui suatu perjalanan pengalaman pengguna.</a:t>
            </a:r>
            <a:endParaRPr sz="1200">
              <a:solidFill>
                <a:schemeClr val="dk1"/>
              </a:solidFill>
              <a:latin typeface="Raleway Medium"/>
              <a:ea typeface="Raleway Medium"/>
              <a:cs typeface="Raleway Medium"/>
              <a:sym typeface="Raleway Medium"/>
            </a:endParaRPr>
          </a:p>
        </p:txBody>
      </p:sp>
      <p:pic>
        <p:nvPicPr>
          <p:cNvPr id="233" name="Google Shape;233;p35">
            <a:hlinkClick r:id="rId3"/>
          </p:cNvPr>
          <p:cNvPicPr preferRelativeResize="0"/>
          <p:nvPr/>
        </p:nvPicPr>
        <p:blipFill rotWithShape="1">
          <a:blip r:embed="rId4">
            <a:alphaModFix/>
          </a:blip>
          <a:srcRect b="0" l="19045" r="19039" t="0"/>
          <a:stretch/>
        </p:blipFill>
        <p:spPr>
          <a:xfrm>
            <a:off x="5486400" y="1207587"/>
            <a:ext cx="3017519" cy="274320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36"/>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39" name="Google Shape;239;p36"/>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Macam - macam prototypes berdasarkan alat</a:t>
            </a:r>
            <a:endParaRPr/>
          </a:p>
        </p:txBody>
      </p:sp>
      <p:sp>
        <p:nvSpPr>
          <p:cNvPr id="240" name="Google Shape;240;p36"/>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3</a:t>
            </a:r>
            <a:r>
              <a:rPr b="1" lang="en" sz="1800">
                <a:solidFill>
                  <a:srgbClr val="743673"/>
                </a:solidFill>
                <a:highlight>
                  <a:schemeClr val="lt1"/>
                </a:highlight>
                <a:latin typeface="Raleway"/>
                <a:ea typeface="Raleway"/>
                <a:cs typeface="Raleway"/>
                <a:sym typeface="Raleway"/>
              </a:rPr>
              <a:t>) Lego prototypes</a:t>
            </a:r>
            <a:endParaRPr b="1" sz="1800">
              <a:solidFill>
                <a:srgbClr val="743673"/>
              </a:solidFill>
              <a:highlight>
                <a:schemeClr val="lt1"/>
              </a:highlight>
              <a:latin typeface="Raleway"/>
              <a:ea typeface="Raleway"/>
              <a:cs typeface="Raleway"/>
              <a:sym typeface="Raleway"/>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Lego juga untuk orang dewasa!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Menggunakan lego bisa sangat membantu dalam membuat prototipe. Lego sangatlah serbaguna dan mampu memicu imajinasi. Mudah, murah dan dapat disatukan dan dibongkar dalam waktu singkat.</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Anda dapat menggunakan Lego untuk mensimulasikan perjalanan pengguna.</a:t>
            </a:r>
            <a:endParaRPr sz="1200">
              <a:solidFill>
                <a:schemeClr val="dk1"/>
              </a:solidFill>
              <a:latin typeface="Raleway Medium"/>
              <a:ea typeface="Raleway Medium"/>
              <a:cs typeface="Raleway Medium"/>
              <a:sym typeface="Raleway Medium"/>
            </a:endParaRPr>
          </a:p>
        </p:txBody>
      </p:sp>
      <p:pic>
        <p:nvPicPr>
          <p:cNvPr id="241" name="Google Shape;241;p36">
            <a:hlinkClick r:id="rId3"/>
          </p:cNvPr>
          <p:cNvPicPr preferRelativeResize="0"/>
          <p:nvPr/>
        </p:nvPicPr>
        <p:blipFill rotWithShape="1">
          <a:blip r:embed="rId4">
            <a:alphaModFix/>
          </a:blip>
          <a:srcRect b="0" l="19045" r="19039" t="0"/>
          <a:stretch/>
        </p:blipFill>
        <p:spPr>
          <a:xfrm>
            <a:off x="5486400" y="1207587"/>
            <a:ext cx="3017519" cy="274320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 name="Shape 245"/>
        <p:cNvGrpSpPr/>
        <p:nvPr/>
      </p:nvGrpSpPr>
      <p:grpSpPr>
        <a:xfrm>
          <a:off x="0" y="0"/>
          <a:ext cx="0" cy="0"/>
          <a:chOff x="0" y="0"/>
          <a:chExt cx="0" cy="0"/>
        </a:xfrm>
      </p:grpSpPr>
      <p:sp>
        <p:nvSpPr>
          <p:cNvPr id="246" name="Google Shape;246;p37"/>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47" name="Google Shape;247;p37"/>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Macam - macam prototypes berdasarkan alat</a:t>
            </a:r>
            <a:endParaRPr/>
          </a:p>
        </p:txBody>
      </p:sp>
      <p:sp>
        <p:nvSpPr>
          <p:cNvPr id="248" name="Google Shape;248;p37"/>
          <p:cNvSpPr txBox="1"/>
          <p:nvPr/>
        </p:nvSpPr>
        <p:spPr>
          <a:xfrm>
            <a:off x="762000" y="1188720"/>
            <a:ext cx="41148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4)</a:t>
            </a:r>
            <a:r>
              <a:rPr b="1" lang="en" sz="1800">
                <a:solidFill>
                  <a:srgbClr val="743673"/>
                </a:solidFill>
                <a:highlight>
                  <a:schemeClr val="lt1"/>
                </a:highlight>
                <a:latin typeface="Raleway"/>
                <a:ea typeface="Raleway"/>
                <a:cs typeface="Raleway"/>
                <a:sym typeface="Raleway"/>
              </a:rPr>
              <a:t> Role playing</a:t>
            </a:r>
            <a:endParaRPr b="1" sz="1800">
              <a:solidFill>
                <a:srgbClr val="743673"/>
              </a:solidFill>
              <a:highlight>
                <a:schemeClr val="lt1"/>
              </a:highlight>
              <a:latin typeface="Raleway"/>
              <a:ea typeface="Raleway"/>
              <a:cs typeface="Raleway"/>
              <a:sym typeface="Raleway"/>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Permainan</a:t>
            </a:r>
            <a:r>
              <a:rPr lang="en" sz="1200">
                <a:solidFill>
                  <a:schemeClr val="dk1"/>
                </a:solidFill>
                <a:latin typeface="Raleway Medium"/>
                <a:ea typeface="Raleway Medium"/>
                <a:cs typeface="Raleway Medium"/>
                <a:sym typeface="Raleway Medium"/>
              </a:rPr>
              <a:t> peran atau </a:t>
            </a:r>
            <a:r>
              <a:rPr i="1" lang="en" sz="1200">
                <a:solidFill>
                  <a:schemeClr val="dk1"/>
                </a:solidFill>
                <a:latin typeface="Raleway Medium"/>
                <a:ea typeface="Raleway Medium"/>
                <a:cs typeface="Raleway Medium"/>
                <a:sym typeface="Raleway Medium"/>
              </a:rPr>
              <a:t>role playing </a:t>
            </a:r>
            <a:r>
              <a:rPr lang="en" sz="1200">
                <a:solidFill>
                  <a:schemeClr val="dk1"/>
                </a:solidFill>
                <a:latin typeface="Raleway Medium"/>
                <a:ea typeface="Raleway Medium"/>
                <a:cs typeface="Raleway Medium"/>
                <a:sym typeface="Raleway Medium"/>
              </a:rPr>
              <a:t>dianggap sebagai prototipe pengalaman, yang memungkinkan tim desain Anda menjelajahi sistem yang Anda targetkan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secara fisik.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i="1" lang="en" sz="1200">
                <a:solidFill>
                  <a:schemeClr val="dk1"/>
                </a:solidFill>
                <a:latin typeface="Raleway Medium"/>
                <a:ea typeface="Raleway Medium"/>
                <a:cs typeface="Raleway Medium"/>
                <a:sym typeface="Raleway Medium"/>
              </a:rPr>
              <a:t>Role playing </a:t>
            </a:r>
            <a:r>
              <a:rPr lang="en" sz="1200">
                <a:solidFill>
                  <a:schemeClr val="dk1"/>
                </a:solidFill>
                <a:latin typeface="Raleway Medium"/>
                <a:ea typeface="Raleway Medium"/>
                <a:cs typeface="Raleway Medium"/>
                <a:sym typeface="Raleway Medium"/>
              </a:rPr>
              <a:t>dengan memerankan adegan dan situasi yang Anda coba tingkatkan dapat membantu tim Anda untuk mendapatkan pemahaman yang lebih baik tentang apa yang berhasil dan apa yang tidak. </a:t>
            </a:r>
            <a:r>
              <a:rPr i="1" lang="en" sz="1200">
                <a:solidFill>
                  <a:schemeClr val="dk1"/>
                </a:solidFill>
                <a:latin typeface="Raleway Medium"/>
                <a:ea typeface="Raleway Medium"/>
                <a:cs typeface="Raleway Medium"/>
                <a:sym typeface="Raleway Medium"/>
              </a:rPr>
              <a:t>Role playing</a:t>
            </a:r>
            <a:r>
              <a:rPr lang="en" sz="1200">
                <a:solidFill>
                  <a:schemeClr val="dk1"/>
                </a:solidFill>
                <a:latin typeface="Raleway Medium"/>
                <a:ea typeface="Raleway Medium"/>
                <a:cs typeface="Raleway Medium"/>
                <a:sym typeface="Raleway Medium"/>
              </a:rPr>
              <a:t> juga menghasilkan wawasan untuk merefleksikan produk karena Anda dapat mengingat pengalaman dengan lebih jelas ketika Anda mengalaminya secara fisik.</a:t>
            </a:r>
            <a:endParaRPr sz="1200">
              <a:solidFill>
                <a:schemeClr val="dk1"/>
              </a:solidFill>
              <a:latin typeface="Raleway Medium"/>
              <a:ea typeface="Raleway Medium"/>
              <a:cs typeface="Raleway Medium"/>
              <a:sym typeface="Raleway Medium"/>
            </a:endParaRPr>
          </a:p>
        </p:txBody>
      </p:sp>
      <p:pic>
        <p:nvPicPr>
          <p:cNvPr id="249" name="Google Shape;249;p37">
            <a:hlinkClick r:id="rId3"/>
          </p:cNvPr>
          <p:cNvPicPr preferRelativeResize="0"/>
          <p:nvPr/>
        </p:nvPicPr>
        <p:blipFill rotWithShape="1">
          <a:blip r:embed="rId4">
            <a:alphaModFix/>
          </a:blip>
          <a:srcRect b="14557" l="15541" r="15541" t="38452"/>
          <a:stretch/>
        </p:blipFill>
        <p:spPr>
          <a:xfrm>
            <a:off x="5486400" y="1207587"/>
            <a:ext cx="3017518" cy="2743199"/>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 name="Shape 253"/>
        <p:cNvGrpSpPr/>
        <p:nvPr/>
      </p:nvGrpSpPr>
      <p:grpSpPr>
        <a:xfrm>
          <a:off x="0" y="0"/>
          <a:ext cx="0" cy="0"/>
          <a:chOff x="0" y="0"/>
          <a:chExt cx="0" cy="0"/>
        </a:xfrm>
      </p:grpSpPr>
      <p:sp>
        <p:nvSpPr>
          <p:cNvPr id="254" name="Google Shape;254;p38"/>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55" name="Google Shape;255;p38"/>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Macam - macam prototypes berdasarkan alat</a:t>
            </a:r>
            <a:endParaRPr/>
          </a:p>
        </p:txBody>
      </p:sp>
      <p:sp>
        <p:nvSpPr>
          <p:cNvPr id="256" name="Google Shape;256;p38"/>
          <p:cNvSpPr txBox="1"/>
          <p:nvPr/>
        </p:nvSpPr>
        <p:spPr>
          <a:xfrm>
            <a:off x="762000" y="1188720"/>
            <a:ext cx="41148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5</a:t>
            </a:r>
            <a:r>
              <a:rPr b="1" lang="en" sz="1800">
                <a:solidFill>
                  <a:srgbClr val="743673"/>
                </a:solidFill>
                <a:highlight>
                  <a:schemeClr val="lt1"/>
                </a:highlight>
                <a:latin typeface="Raleway"/>
                <a:ea typeface="Raleway"/>
                <a:cs typeface="Raleway"/>
                <a:sym typeface="Raleway"/>
              </a:rPr>
              <a:t>) Video prototypes</a:t>
            </a:r>
            <a:endParaRPr b="1" sz="1800">
              <a:solidFill>
                <a:srgbClr val="743673"/>
              </a:solidFill>
              <a:highlight>
                <a:schemeClr val="lt1"/>
              </a:highlight>
              <a:latin typeface="Raleway"/>
              <a:ea typeface="Raleway"/>
              <a:cs typeface="Raleway"/>
              <a:sym typeface="Raleway"/>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Prototipe video sering digunakan untuk mempresentasikan produk dalam bentuk video animasi yang  secara grafis mewakili suatu proyek.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Para desainer sering menunjukkan prototipe video atau prototipe dari produk lain untuk membantu orang lain — seperti sesama desainer, manajemen, atau bahkan konsumen — memvisualisasikan produk.</a:t>
            </a:r>
            <a:endParaRPr sz="1200">
              <a:solidFill>
                <a:schemeClr val="dk1"/>
              </a:solidFill>
              <a:latin typeface="Raleway Medium"/>
              <a:ea typeface="Raleway Medium"/>
              <a:cs typeface="Raleway Medium"/>
              <a:sym typeface="Raleway Medium"/>
            </a:endParaRPr>
          </a:p>
        </p:txBody>
      </p:sp>
      <p:pic>
        <p:nvPicPr>
          <p:cNvPr id="257" name="Google Shape;257;p38">
            <a:hlinkClick r:id="rId3"/>
          </p:cNvPr>
          <p:cNvPicPr preferRelativeResize="0"/>
          <p:nvPr/>
        </p:nvPicPr>
        <p:blipFill rotWithShape="1">
          <a:blip r:embed="rId4">
            <a:alphaModFix/>
          </a:blip>
          <a:srcRect b="0" l="10667" r="16019" t="0"/>
          <a:stretch/>
        </p:blipFill>
        <p:spPr>
          <a:xfrm>
            <a:off x="5486400" y="1207587"/>
            <a:ext cx="3017518" cy="274320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 name="Shape 261"/>
        <p:cNvGrpSpPr/>
        <p:nvPr/>
      </p:nvGrpSpPr>
      <p:grpSpPr>
        <a:xfrm>
          <a:off x="0" y="0"/>
          <a:ext cx="0" cy="0"/>
          <a:chOff x="0" y="0"/>
          <a:chExt cx="0" cy="0"/>
        </a:xfrm>
      </p:grpSpPr>
      <p:sp>
        <p:nvSpPr>
          <p:cNvPr id="262" name="Google Shape;262;p39"/>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63" name="Google Shape;263;p39"/>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Macam - macam prototypes berdasarkan alat</a:t>
            </a:r>
            <a:endParaRPr/>
          </a:p>
        </p:txBody>
      </p:sp>
      <p:sp>
        <p:nvSpPr>
          <p:cNvPr id="264" name="Google Shape;264;p39"/>
          <p:cNvSpPr txBox="1"/>
          <p:nvPr/>
        </p:nvSpPr>
        <p:spPr>
          <a:xfrm>
            <a:off x="762000" y="1188720"/>
            <a:ext cx="41148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6</a:t>
            </a:r>
            <a:r>
              <a:rPr b="1" lang="en" sz="1800">
                <a:solidFill>
                  <a:srgbClr val="743673"/>
                </a:solidFill>
                <a:highlight>
                  <a:schemeClr val="lt1"/>
                </a:highlight>
                <a:latin typeface="Raleway"/>
                <a:ea typeface="Raleway"/>
                <a:cs typeface="Raleway"/>
                <a:sym typeface="Raleway"/>
              </a:rPr>
              <a:t>)  Feasibility Prototypes dan Working Model</a:t>
            </a:r>
            <a:endParaRPr b="1" sz="1800">
              <a:solidFill>
                <a:srgbClr val="743673"/>
              </a:solidFill>
              <a:highlight>
                <a:schemeClr val="lt1"/>
              </a:highlight>
              <a:latin typeface="Raleway"/>
              <a:ea typeface="Raleway"/>
              <a:cs typeface="Raleway"/>
              <a:sym typeface="Raleway"/>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Prototipe kelayakan atau </a:t>
            </a:r>
            <a:r>
              <a:rPr i="1" lang="en" sz="1200">
                <a:solidFill>
                  <a:schemeClr val="dk1"/>
                </a:solidFill>
                <a:latin typeface="Raleway Medium"/>
                <a:ea typeface="Raleway Medium"/>
                <a:cs typeface="Raleway Medium"/>
                <a:sym typeface="Raleway Medium"/>
              </a:rPr>
              <a:t>feasibility prototypes </a:t>
            </a:r>
            <a:r>
              <a:rPr lang="en" sz="1200">
                <a:solidFill>
                  <a:schemeClr val="dk1"/>
                </a:solidFill>
                <a:latin typeface="Raleway Medium"/>
                <a:ea typeface="Raleway Medium"/>
                <a:cs typeface="Raleway Medium"/>
                <a:sym typeface="Raleway Medium"/>
              </a:rPr>
              <a:t>digunakan untuk menguji fitur tertentu yang baru ditambahkan dalam proses desain.</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Digunakan baik secara digital maupun untuk model fisik, prototipe ini memungkinkan desainer untuk menambah desain setelah membuat prototipe awal.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Jika seorang desainer tiba-tiba menyadari bahwa mereka kehilangan bagian penting dari produk, </a:t>
            </a:r>
            <a:r>
              <a:rPr i="1" lang="en" sz="1200">
                <a:solidFill>
                  <a:schemeClr val="dk1"/>
                </a:solidFill>
                <a:latin typeface="Raleway Medium"/>
                <a:ea typeface="Raleway Medium"/>
                <a:cs typeface="Raleway Medium"/>
                <a:sym typeface="Raleway Medium"/>
              </a:rPr>
              <a:t>working mode</a:t>
            </a:r>
            <a:r>
              <a:rPr lang="en" sz="1200">
                <a:solidFill>
                  <a:schemeClr val="dk1"/>
                </a:solidFill>
                <a:latin typeface="Raleway Medium"/>
                <a:ea typeface="Raleway Medium"/>
                <a:cs typeface="Raleway Medium"/>
                <a:sym typeface="Raleway Medium"/>
              </a:rPr>
              <a:t> dibuat untuk diadaptasi ketika ide-ide baru muncul.</a:t>
            </a:r>
            <a:endParaRPr sz="1200">
              <a:solidFill>
                <a:schemeClr val="dk1"/>
              </a:solidFill>
              <a:latin typeface="Raleway Medium"/>
              <a:ea typeface="Raleway Medium"/>
              <a:cs typeface="Raleway Medium"/>
              <a:sym typeface="Raleway Medium"/>
            </a:endParaRPr>
          </a:p>
        </p:txBody>
      </p:sp>
      <p:pic>
        <p:nvPicPr>
          <p:cNvPr id="265" name="Google Shape;265;p39">
            <a:hlinkClick r:id="rId3"/>
          </p:cNvPr>
          <p:cNvPicPr preferRelativeResize="0"/>
          <p:nvPr/>
        </p:nvPicPr>
        <p:blipFill rotWithShape="1">
          <a:blip r:embed="rId4">
            <a:alphaModFix/>
          </a:blip>
          <a:srcRect b="19704" l="0" r="0" t="19704"/>
          <a:stretch/>
        </p:blipFill>
        <p:spPr>
          <a:xfrm>
            <a:off x="5486400" y="1207587"/>
            <a:ext cx="3017517" cy="2743199"/>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9" name="Shape 269"/>
        <p:cNvGrpSpPr/>
        <p:nvPr/>
      </p:nvGrpSpPr>
      <p:grpSpPr>
        <a:xfrm>
          <a:off x="0" y="0"/>
          <a:ext cx="0" cy="0"/>
          <a:chOff x="0" y="0"/>
          <a:chExt cx="0" cy="0"/>
        </a:xfrm>
      </p:grpSpPr>
      <p:sp>
        <p:nvSpPr>
          <p:cNvPr id="270" name="Google Shape;270;p40"/>
          <p:cNvSpPr txBox="1"/>
          <p:nvPr>
            <p:ph type="title"/>
          </p:nvPr>
        </p:nvSpPr>
        <p:spPr>
          <a:xfrm>
            <a:off x="914400" y="2210700"/>
            <a:ext cx="7315200" cy="722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Macam - macam prototypes berdasarkan kompleksitas teknologi</a:t>
            </a:r>
            <a:endParaRPr/>
          </a:p>
        </p:txBody>
      </p:sp>
      <p:sp>
        <p:nvSpPr>
          <p:cNvPr id="271" name="Google Shape;271;p40"/>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5" name="Shape 275"/>
        <p:cNvGrpSpPr/>
        <p:nvPr/>
      </p:nvGrpSpPr>
      <p:grpSpPr>
        <a:xfrm>
          <a:off x="0" y="0"/>
          <a:ext cx="0" cy="0"/>
          <a:chOff x="0" y="0"/>
          <a:chExt cx="0" cy="0"/>
        </a:xfrm>
      </p:grpSpPr>
      <p:sp>
        <p:nvSpPr>
          <p:cNvPr id="276" name="Google Shape;276;p41"/>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77" name="Google Shape;277;p41"/>
          <p:cNvSpPr txBox="1"/>
          <p:nvPr>
            <p:ph type="title"/>
          </p:nvPr>
        </p:nvSpPr>
        <p:spPr>
          <a:xfrm>
            <a:off x="685800" y="246900"/>
            <a:ext cx="51633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Macam - macam prototypes berdasarkan kompleksitas teknologi</a:t>
            </a:r>
            <a:endParaRPr/>
          </a:p>
        </p:txBody>
      </p:sp>
      <p:pic>
        <p:nvPicPr>
          <p:cNvPr id="278" name="Google Shape;278;p41"/>
          <p:cNvPicPr preferRelativeResize="0"/>
          <p:nvPr/>
        </p:nvPicPr>
        <p:blipFill>
          <a:blip r:embed="rId3">
            <a:alphaModFix/>
          </a:blip>
          <a:stretch>
            <a:fillRect/>
          </a:stretch>
        </p:blipFill>
        <p:spPr>
          <a:xfrm>
            <a:off x="1483350" y="1008050"/>
            <a:ext cx="6307500" cy="3547975"/>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p42"/>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84" name="Google Shape;284;p42"/>
          <p:cNvSpPr txBox="1"/>
          <p:nvPr>
            <p:ph type="title"/>
          </p:nvPr>
        </p:nvSpPr>
        <p:spPr>
          <a:xfrm>
            <a:off x="685800" y="246900"/>
            <a:ext cx="50685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Macam - macam prototypes berdasarkan kompleksitas teknologi</a:t>
            </a:r>
            <a:endParaRPr/>
          </a:p>
        </p:txBody>
      </p:sp>
      <p:sp>
        <p:nvSpPr>
          <p:cNvPr id="285" name="Google Shape;285;p42"/>
          <p:cNvSpPr txBox="1"/>
          <p:nvPr/>
        </p:nvSpPr>
        <p:spPr>
          <a:xfrm>
            <a:off x="762000" y="1188720"/>
            <a:ext cx="41148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Macam - macam prototypes berdasarkan kompleksitas teknologi</a:t>
            </a:r>
            <a:endParaRPr b="1" sz="1800">
              <a:solidFill>
                <a:srgbClr val="743673"/>
              </a:solidFill>
              <a:highlight>
                <a:schemeClr val="lt1"/>
              </a:highlight>
              <a:latin typeface="Raleway"/>
              <a:ea typeface="Raleway"/>
              <a:cs typeface="Raleway"/>
              <a:sym typeface="Raleway"/>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Prototipe menghasilkan cara tercepat dan termurah untuk menguji asumsi Anda. Tetapi ketika orang memikirkan "prototipe", mereka cenderung memikirkan jenis prototipe yang high-fidelity.</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Namun, sebenarnya ada empat jenis prototipe yang berbeda, masing-masing cocok untuk menguji asumsi yang berbeda.</a:t>
            </a:r>
            <a:endParaRPr sz="1200">
              <a:solidFill>
                <a:schemeClr val="dk1"/>
              </a:solidFill>
              <a:latin typeface="Raleway Medium"/>
              <a:ea typeface="Raleway Medium"/>
              <a:cs typeface="Raleway Medium"/>
              <a:sym typeface="Raleway Medium"/>
            </a:endParaRPr>
          </a:p>
        </p:txBody>
      </p:sp>
      <p:pic>
        <p:nvPicPr>
          <p:cNvPr id="286" name="Google Shape;286;p42">
            <a:hlinkClick r:id="rId3"/>
          </p:cNvPr>
          <p:cNvPicPr preferRelativeResize="0"/>
          <p:nvPr/>
        </p:nvPicPr>
        <p:blipFill rotWithShape="1">
          <a:blip r:embed="rId4">
            <a:alphaModFix/>
          </a:blip>
          <a:srcRect b="0" l="13343" r="13343" t="0"/>
          <a:stretch/>
        </p:blipFill>
        <p:spPr>
          <a:xfrm>
            <a:off x="5486400" y="1207587"/>
            <a:ext cx="3017518" cy="2743200"/>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0" name="Shape 290"/>
        <p:cNvGrpSpPr/>
        <p:nvPr/>
      </p:nvGrpSpPr>
      <p:grpSpPr>
        <a:xfrm>
          <a:off x="0" y="0"/>
          <a:ext cx="0" cy="0"/>
          <a:chOff x="0" y="0"/>
          <a:chExt cx="0" cy="0"/>
        </a:xfrm>
      </p:grpSpPr>
      <p:sp>
        <p:nvSpPr>
          <p:cNvPr id="291" name="Google Shape;291;p43"/>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92" name="Google Shape;292;p43"/>
          <p:cNvSpPr txBox="1"/>
          <p:nvPr>
            <p:ph type="title"/>
          </p:nvPr>
        </p:nvSpPr>
        <p:spPr>
          <a:xfrm>
            <a:off x="685800" y="246900"/>
            <a:ext cx="50685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Macam - macam prototypes berdasarkan kompleksitas teknologi</a:t>
            </a:r>
            <a:endParaRPr/>
          </a:p>
        </p:txBody>
      </p:sp>
      <p:sp>
        <p:nvSpPr>
          <p:cNvPr id="293" name="Google Shape;293;p43"/>
          <p:cNvSpPr txBox="1"/>
          <p:nvPr/>
        </p:nvSpPr>
        <p:spPr>
          <a:xfrm>
            <a:off x="762000" y="1188720"/>
            <a:ext cx="41148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1) Feasibility Prototypes</a:t>
            </a:r>
            <a:endParaRPr b="1" sz="1800">
              <a:solidFill>
                <a:srgbClr val="743673"/>
              </a:solidFill>
              <a:highlight>
                <a:schemeClr val="lt1"/>
              </a:highlight>
              <a:latin typeface="Raleway"/>
              <a:ea typeface="Raleway"/>
              <a:cs typeface="Raleway"/>
              <a:sym typeface="Raleway"/>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Kegunaan feasibility prototypes:</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1) Untuk membuat prototipe teknologi baru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2) Untuk menulis kode yang cukup untuk melihat apakah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    desain layak.</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3) Untuk membantu memahami risiko teknis, sering kali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    terkait dengan kinerja.</a:t>
            </a:r>
            <a:endParaRPr sz="1200">
              <a:solidFill>
                <a:schemeClr val="dk1"/>
              </a:solidFill>
              <a:latin typeface="Raleway Medium"/>
              <a:ea typeface="Raleway Medium"/>
              <a:cs typeface="Raleway Medium"/>
              <a:sym typeface="Raleway Medium"/>
            </a:endParaRPr>
          </a:p>
        </p:txBody>
      </p:sp>
      <p:pic>
        <p:nvPicPr>
          <p:cNvPr id="294" name="Google Shape;294;p43">
            <a:hlinkClick r:id="rId3"/>
          </p:cNvPr>
          <p:cNvPicPr preferRelativeResize="0"/>
          <p:nvPr/>
        </p:nvPicPr>
        <p:blipFill rotWithShape="1">
          <a:blip r:embed="rId4">
            <a:alphaModFix/>
          </a:blip>
          <a:srcRect b="19704" l="0" r="0" t="19704"/>
          <a:stretch/>
        </p:blipFill>
        <p:spPr>
          <a:xfrm>
            <a:off x="5486400" y="1207587"/>
            <a:ext cx="3017517" cy="2743199"/>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8" name="Shape 298"/>
        <p:cNvGrpSpPr/>
        <p:nvPr/>
      </p:nvGrpSpPr>
      <p:grpSpPr>
        <a:xfrm>
          <a:off x="0" y="0"/>
          <a:ext cx="0" cy="0"/>
          <a:chOff x="0" y="0"/>
          <a:chExt cx="0" cy="0"/>
        </a:xfrm>
      </p:grpSpPr>
      <p:sp>
        <p:nvSpPr>
          <p:cNvPr id="299" name="Google Shape;299;p44"/>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00" name="Google Shape;300;p44"/>
          <p:cNvSpPr txBox="1"/>
          <p:nvPr>
            <p:ph type="title"/>
          </p:nvPr>
        </p:nvSpPr>
        <p:spPr>
          <a:xfrm>
            <a:off x="685800" y="246900"/>
            <a:ext cx="50685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Macam - macam prototypes berdasarkan kompleksitas teknologi</a:t>
            </a:r>
            <a:endParaRPr/>
          </a:p>
        </p:txBody>
      </p:sp>
      <p:sp>
        <p:nvSpPr>
          <p:cNvPr id="301" name="Google Shape;301;p44"/>
          <p:cNvSpPr txBox="1"/>
          <p:nvPr/>
        </p:nvSpPr>
        <p:spPr>
          <a:xfrm>
            <a:off x="762000" y="1188720"/>
            <a:ext cx="41148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2</a:t>
            </a:r>
            <a:r>
              <a:rPr b="1" lang="en" sz="1800">
                <a:solidFill>
                  <a:srgbClr val="743673"/>
                </a:solidFill>
                <a:highlight>
                  <a:schemeClr val="lt1"/>
                </a:highlight>
                <a:latin typeface="Raleway"/>
                <a:ea typeface="Raleway"/>
                <a:cs typeface="Raleway"/>
                <a:sym typeface="Raleway"/>
              </a:rPr>
              <a:t>) Low Fidelity User Prototypes</a:t>
            </a:r>
            <a:endParaRPr b="1" sz="1800">
              <a:solidFill>
                <a:srgbClr val="743673"/>
              </a:solidFill>
              <a:highlight>
                <a:schemeClr val="lt1"/>
              </a:highlight>
              <a:latin typeface="Raleway"/>
              <a:ea typeface="Raleway"/>
              <a:cs typeface="Raleway"/>
              <a:sym typeface="Raleway"/>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Kegunaan low fidelity user prototypes:</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1) Pada dasarnya wireframe interaktif (tidak terlihat nyata).</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2) Dibuat oleh desainer untuk menguji alur kerja.</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3) Mensimulasikan proses untuk mengidentifikasi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    masalah kegunaan lebih awal.</a:t>
            </a:r>
            <a:endParaRPr sz="1200">
              <a:solidFill>
                <a:schemeClr val="dk1"/>
              </a:solidFill>
              <a:latin typeface="Raleway Medium"/>
              <a:ea typeface="Raleway Medium"/>
              <a:cs typeface="Raleway Medium"/>
              <a:sym typeface="Raleway Medium"/>
            </a:endParaRPr>
          </a:p>
        </p:txBody>
      </p:sp>
      <p:pic>
        <p:nvPicPr>
          <p:cNvPr id="302" name="Google Shape;302;p44">
            <a:hlinkClick r:id="rId3"/>
          </p:cNvPr>
          <p:cNvPicPr preferRelativeResize="0"/>
          <p:nvPr/>
        </p:nvPicPr>
        <p:blipFill rotWithShape="1">
          <a:blip r:embed="rId4">
            <a:alphaModFix/>
          </a:blip>
          <a:srcRect b="28697" l="0" r="0" t="20167"/>
          <a:stretch/>
        </p:blipFill>
        <p:spPr>
          <a:xfrm>
            <a:off x="5486400" y="1207587"/>
            <a:ext cx="3017517" cy="2743199"/>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6" name="Shape 306"/>
        <p:cNvGrpSpPr/>
        <p:nvPr/>
      </p:nvGrpSpPr>
      <p:grpSpPr>
        <a:xfrm>
          <a:off x="0" y="0"/>
          <a:ext cx="0" cy="0"/>
          <a:chOff x="0" y="0"/>
          <a:chExt cx="0" cy="0"/>
        </a:xfrm>
      </p:grpSpPr>
      <p:sp>
        <p:nvSpPr>
          <p:cNvPr id="307" name="Google Shape;307;p45"/>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08" name="Google Shape;308;p45"/>
          <p:cNvSpPr txBox="1"/>
          <p:nvPr>
            <p:ph type="title"/>
          </p:nvPr>
        </p:nvSpPr>
        <p:spPr>
          <a:xfrm>
            <a:off x="685800" y="246900"/>
            <a:ext cx="50685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Macam - macam prototypes berdasarkan kompleksitas teknologi</a:t>
            </a:r>
            <a:endParaRPr/>
          </a:p>
        </p:txBody>
      </p:sp>
      <p:sp>
        <p:nvSpPr>
          <p:cNvPr id="309" name="Google Shape;309;p45"/>
          <p:cNvSpPr txBox="1"/>
          <p:nvPr/>
        </p:nvSpPr>
        <p:spPr>
          <a:xfrm>
            <a:off x="762000" y="1188720"/>
            <a:ext cx="41148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3</a:t>
            </a:r>
            <a:r>
              <a:rPr b="1" lang="en" sz="1800">
                <a:solidFill>
                  <a:srgbClr val="743673"/>
                </a:solidFill>
                <a:highlight>
                  <a:schemeClr val="lt1"/>
                </a:highlight>
                <a:latin typeface="Raleway"/>
                <a:ea typeface="Raleway"/>
                <a:cs typeface="Raleway"/>
                <a:sym typeface="Raleway"/>
              </a:rPr>
              <a:t>) High Fidelity User Prototypes</a:t>
            </a:r>
            <a:endParaRPr b="1" sz="1800">
              <a:solidFill>
                <a:srgbClr val="743673"/>
              </a:solidFill>
              <a:highlight>
                <a:schemeClr val="lt1"/>
              </a:highlight>
              <a:latin typeface="Raleway"/>
              <a:ea typeface="Raleway"/>
              <a:cs typeface="Raleway"/>
              <a:sym typeface="Raleway"/>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Kegunaan high fidelity user prototypes:</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1) </a:t>
            </a:r>
            <a:r>
              <a:rPr lang="en" sz="1200">
                <a:solidFill>
                  <a:schemeClr val="dk1"/>
                </a:solidFill>
                <a:latin typeface="Raleway Medium"/>
                <a:ea typeface="Raleway Medium"/>
                <a:cs typeface="Raleway Medium"/>
                <a:sym typeface="Raleway Medium"/>
              </a:rPr>
              <a:t>Tampak realistis, untuk simulasi.</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2) Baik untuk mengkomunikasikan produk yang diusulkan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    kepada </a:t>
            </a:r>
            <a:r>
              <a:rPr i="1" lang="en" sz="1200">
                <a:solidFill>
                  <a:schemeClr val="dk1"/>
                </a:solidFill>
                <a:latin typeface="Raleway Medium"/>
                <a:ea typeface="Raleway Medium"/>
                <a:cs typeface="Raleway Medium"/>
                <a:sym typeface="Raleway Medium"/>
              </a:rPr>
              <a:t>stakeholders</a:t>
            </a:r>
            <a:r>
              <a:rPr lang="en" sz="1200">
                <a:solidFill>
                  <a:schemeClr val="dk1"/>
                </a:solidFill>
                <a:latin typeface="Raleway Medium"/>
                <a:ea typeface="Raleway Medium"/>
                <a:cs typeface="Raleway Medium"/>
                <a:sym typeface="Raleway Medium"/>
              </a:rPr>
              <a:t>.</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3) Digunakan dalam pengujian pengguna defensif, bukan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    untuk melihat apakah pengguna akan menyukainya,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    tetapi untuk mempelajari apakah pengguna tidak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    menyukainya.</a:t>
            </a:r>
            <a:endParaRPr sz="1200">
              <a:solidFill>
                <a:schemeClr val="dk1"/>
              </a:solidFill>
              <a:latin typeface="Raleway Medium"/>
              <a:ea typeface="Raleway Medium"/>
              <a:cs typeface="Raleway Medium"/>
              <a:sym typeface="Raleway Medium"/>
            </a:endParaRPr>
          </a:p>
        </p:txBody>
      </p:sp>
      <p:pic>
        <p:nvPicPr>
          <p:cNvPr id="310" name="Google Shape;310;p45">
            <a:hlinkClick r:id="rId3"/>
          </p:cNvPr>
          <p:cNvPicPr preferRelativeResize="0"/>
          <p:nvPr/>
        </p:nvPicPr>
        <p:blipFill rotWithShape="1">
          <a:blip r:embed="rId4">
            <a:alphaModFix/>
          </a:blip>
          <a:srcRect b="0" l="13343" r="13343" t="0"/>
          <a:stretch/>
        </p:blipFill>
        <p:spPr>
          <a:xfrm>
            <a:off x="5486400" y="1207587"/>
            <a:ext cx="3017518" cy="2743200"/>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4" name="Shape 314"/>
        <p:cNvGrpSpPr/>
        <p:nvPr/>
      </p:nvGrpSpPr>
      <p:grpSpPr>
        <a:xfrm>
          <a:off x="0" y="0"/>
          <a:ext cx="0" cy="0"/>
          <a:chOff x="0" y="0"/>
          <a:chExt cx="0" cy="0"/>
        </a:xfrm>
      </p:grpSpPr>
      <p:sp>
        <p:nvSpPr>
          <p:cNvPr id="315" name="Google Shape;315;p46"/>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16" name="Google Shape;316;p46"/>
          <p:cNvSpPr txBox="1"/>
          <p:nvPr>
            <p:ph type="title"/>
          </p:nvPr>
        </p:nvSpPr>
        <p:spPr>
          <a:xfrm>
            <a:off x="685800" y="246900"/>
            <a:ext cx="50685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Macam - macam prototypes berdasarkan kompleksitas teknologi</a:t>
            </a:r>
            <a:endParaRPr/>
          </a:p>
        </p:txBody>
      </p:sp>
      <p:sp>
        <p:nvSpPr>
          <p:cNvPr id="317" name="Google Shape;317;p46"/>
          <p:cNvSpPr txBox="1"/>
          <p:nvPr/>
        </p:nvSpPr>
        <p:spPr>
          <a:xfrm>
            <a:off x="762000" y="1188720"/>
            <a:ext cx="41148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4</a:t>
            </a:r>
            <a:r>
              <a:rPr b="1" lang="en" sz="1800">
                <a:solidFill>
                  <a:srgbClr val="743673"/>
                </a:solidFill>
                <a:highlight>
                  <a:schemeClr val="lt1"/>
                </a:highlight>
                <a:latin typeface="Raleway"/>
                <a:ea typeface="Raleway"/>
                <a:cs typeface="Raleway"/>
                <a:sym typeface="Raleway"/>
              </a:rPr>
              <a:t>) Live Data Prototypes</a:t>
            </a:r>
            <a:endParaRPr b="1" sz="1800">
              <a:solidFill>
                <a:srgbClr val="743673"/>
              </a:solidFill>
              <a:highlight>
                <a:schemeClr val="lt1"/>
              </a:highlight>
              <a:latin typeface="Raleway"/>
              <a:ea typeface="Raleway"/>
              <a:cs typeface="Raleway"/>
              <a:sym typeface="Raleway"/>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Kegunaan live data prototypes:</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1) </a:t>
            </a:r>
            <a:r>
              <a:rPr lang="en" sz="1200">
                <a:solidFill>
                  <a:schemeClr val="dk1"/>
                </a:solidFill>
                <a:latin typeface="Raleway Medium"/>
                <a:ea typeface="Raleway Medium"/>
                <a:cs typeface="Raleway Medium"/>
                <a:sym typeface="Raleway Medium"/>
              </a:rPr>
              <a:t>Implementasi yang sangat terbatas yang dibuat oleh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    developer.</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2) Memiliki akses ke data nyata dan </a:t>
            </a:r>
            <a:r>
              <a:rPr i="1" lang="en" sz="1200">
                <a:solidFill>
                  <a:schemeClr val="dk1"/>
                </a:solidFill>
                <a:latin typeface="Raleway Medium"/>
                <a:ea typeface="Raleway Medium"/>
                <a:cs typeface="Raleway Medium"/>
                <a:sym typeface="Raleway Medium"/>
              </a:rPr>
              <a:t>live</a:t>
            </a:r>
            <a:r>
              <a:rPr lang="en" sz="1200">
                <a:solidFill>
                  <a:schemeClr val="dk1"/>
                </a:solidFill>
                <a:latin typeface="Raleway Medium"/>
                <a:ea typeface="Raleway Medium"/>
                <a:cs typeface="Raleway Medium"/>
                <a:sym typeface="Raleway Medium"/>
              </a:rPr>
              <a:t>.</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3) Belum "diproduksi" (tidak ada otomatisasi pengujian,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    SEO, pelokalan, dll).</a:t>
            </a:r>
            <a:endParaRPr sz="1200">
              <a:solidFill>
                <a:schemeClr val="dk1"/>
              </a:solidFill>
              <a:latin typeface="Raleway Medium"/>
              <a:ea typeface="Raleway Medium"/>
              <a:cs typeface="Raleway Medium"/>
              <a:sym typeface="Raleway Medium"/>
            </a:endParaRPr>
          </a:p>
        </p:txBody>
      </p:sp>
      <p:pic>
        <p:nvPicPr>
          <p:cNvPr id="318" name="Google Shape;318;p46">
            <a:hlinkClick r:id="rId3"/>
          </p:cNvPr>
          <p:cNvPicPr preferRelativeResize="0"/>
          <p:nvPr/>
        </p:nvPicPr>
        <p:blipFill rotWithShape="1">
          <a:blip r:embed="rId4">
            <a:alphaModFix/>
          </a:blip>
          <a:srcRect b="9771" l="17200" r="30864" t="0"/>
          <a:stretch/>
        </p:blipFill>
        <p:spPr>
          <a:xfrm>
            <a:off x="5486400" y="1207587"/>
            <a:ext cx="3017516" cy="2743198"/>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2" name="Shape 322"/>
        <p:cNvGrpSpPr/>
        <p:nvPr/>
      </p:nvGrpSpPr>
      <p:grpSpPr>
        <a:xfrm>
          <a:off x="0" y="0"/>
          <a:ext cx="0" cy="0"/>
          <a:chOff x="0" y="0"/>
          <a:chExt cx="0" cy="0"/>
        </a:xfrm>
      </p:grpSpPr>
      <p:sp>
        <p:nvSpPr>
          <p:cNvPr id="323" name="Google Shape;323;p47"/>
          <p:cNvSpPr txBox="1"/>
          <p:nvPr>
            <p:ph type="title"/>
          </p:nvPr>
        </p:nvSpPr>
        <p:spPr>
          <a:xfrm>
            <a:off x="914400" y="2210700"/>
            <a:ext cx="7315200" cy="722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Menggunakan alat </a:t>
            </a:r>
            <a:r>
              <a:rPr lang="en">
                <a:solidFill>
                  <a:schemeClr val="accent1"/>
                </a:solidFill>
              </a:rPr>
              <a:t>prototyping</a:t>
            </a:r>
            <a:endParaRPr>
              <a:solidFill>
                <a:schemeClr val="accent1"/>
              </a:solidFill>
            </a:endParaRPr>
          </a:p>
        </p:txBody>
      </p:sp>
      <p:sp>
        <p:nvSpPr>
          <p:cNvPr id="324" name="Google Shape;324;p47"/>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8" name="Shape 328"/>
        <p:cNvGrpSpPr/>
        <p:nvPr/>
      </p:nvGrpSpPr>
      <p:grpSpPr>
        <a:xfrm>
          <a:off x="0" y="0"/>
          <a:ext cx="0" cy="0"/>
          <a:chOff x="0" y="0"/>
          <a:chExt cx="0" cy="0"/>
        </a:xfrm>
      </p:grpSpPr>
      <p:sp>
        <p:nvSpPr>
          <p:cNvPr id="329" name="Google Shape;329;p48"/>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30" name="Google Shape;330;p48"/>
          <p:cNvSpPr txBox="1"/>
          <p:nvPr>
            <p:ph type="title"/>
          </p:nvPr>
        </p:nvSpPr>
        <p:spPr>
          <a:xfrm>
            <a:off x="685800" y="246900"/>
            <a:ext cx="50685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Menggunakan alat prototyping</a:t>
            </a:r>
            <a:endParaRPr/>
          </a:p>
        </p:txBody>
      </p:sp>
      <p:sp>
        <p:nvSpPr>
          <p:cNvPr id="331" name="Google Shape;331;p48"/>
          <p:cNvSpPr txBox="1"/>
          <p:nvPr/>
        </p:nvSpPr>
        <p:spPr>
          <a:xfrm>
            <a:off x="762000" y="1188720"/>
            <a:ext cx="41148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Peralatan Prototyping</a:t>
            </a:r>
            <a:endParaRPr b="1" sz="1800">
              <a:solidFill>
                <a:srgbClr val="743673"/>
              </a:solidFill>
              <a:highlight>
                <a:schemeClr val="lt1"/>
              </a:highlight>
              <a:latin typeface="Raleway"/>
              <a:ea typeface="Raleway"/>
              <a:cs typeface="Raleway"/>
              <a:sym typeface="Raleway"/>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Seperti yang telah kita diskusikan sebelumnya, ada beberapa tools yang biasa digunakan untuk membuat Prototypes:</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1) Adobe XD</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2) Sketch</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3) Figma</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4) Google Slides</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5) InVision</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6) Axure</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7) Proto.io</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8) Kertas dan pulpen</a:t>
            </a:r>
            <a:endParaRPr sz="1200">
              <a:solidFill>
                <a:schemeClr val="dk1"/>
              </a:solidFill>
              <a:latin typeface="Raleway Medium"/>
              <a:ea typeface="Raleway Medium"/>
              <a:cs typeface="Raleway Medium"/>
              <a:sym typeface="Raleway Medium"/>
            </a:endParaRPr>
          </a:p>
        </p:txBody>
      </p:sp>
      <p:grpSp>
        <p:nvGrpSpPr>
          <p:cNvPr id="332" name="Google Shape;332;p48"/>
          <p:cNvGrpSpPr/>
          <p:nvPr/>
        </p:nvGrpSpPr>
        <p:grpSpPr>
          <a:xfrm>
            <a:off x="5240229" y="1583763"/>
            <a:ext cx="3294167" cy="3042767"/>
            <a:chOff x="4979350" y="1260450"/>
            <a:chExt cx="3536791" cy="3384612"/>
          </a:xfrm>
        </p:grpSpPr>
        <p:pic>
          <p:nvPicPr>
            <p:cNvPr id="333" name="Google Shape;333;p48"/>
            <p:cNvPicPr preferRelativeResize="0"/>
            <p:nvPr/>
          </p:nvPicPr>
          <p:blipFill rotWithShape="1">
            <a:blip r:embed="rId3">
              <a:alphaModFix/>
            </a:blip>
            <a:srcRect b="4442" l="5420" r="5420" t="11410"/>
            <a:stretch/>
          </p:blipFill>
          <p:spPr>
            <a:xfrm>
              <a:off x="6110550" y="1271275"/>
              <a:ext cx="1222850" cy="1201200"/>
            </a:xfrm>
            <a:prstGeom prst="rect">
              <a:avLst/>
            </a:prstGeom>
            <a:noFill/>
            <a:ln>
              <a:noFill/>
            </a:ln>
          </p:spPr>
        </p:pic>
        <p:pic>
          <p:nvPicPr>
            <p:cNvPr id="334" name="Google Shape;334;p48"/>
            <p:cNvPicPr preferRelativeResize="0"/>
            <p:nvPr/>
          </p:nvPicPr>
          <p:blipFill rotWithShape="1">
            <a:blip r:embed="rId4">
              <a:alphaModFix/>
            </a:blip>
            <a:srcRect b="-19560" l="9002" r="9010" t="-19560"/>
            <a:stretch/>
          </p:blipFill>
          <p:spPr>
            <a:xfrm>
              <a:off x="6036175" y="3273462"/>
              <a:ext cx="1371599" cy="1371600"/>
            </a:xfrm>
            <a:prstGeom prst="rect">
              <a:avLst/>
            </a:prstGeom>
            <a:noFill/>
            <a:ln cap="flat" cmpd="sng" w="9525">
              <a:solidFill>
                <a:srgbClr val="FFFFFF"/>
              </a:solidFill>
              <a:prstDash val="solid"/>
              <a:round/>
              <a:headEnd len="sm" w="sm" type="none"/>
              <a:tailEnd len="sm" w="sm" type="none"/>
            </a:ln>
          </p:spPr>
        </p:pic>
        <p:pic>
          <p:nvPicPr>
            <p:cNvPr id="335" name="Google Shape;335;p48"/>
            <p:cNvPicPr preferRelativeResize="0"/>
            <p:nvPr/>
          </p:nvPicPr>
          <p:blipFill rotWithShape="1">
            <a:blip r:embed="rId5">
              <a:alphaModFix/>
            </a:blip>
            <a:srcRect b="0" l="0" r="0" t="0"/>
            <a:stretch/>
          </p:blipFill>
          <p:spPr>
            <a:xfrm>
              <a:off x="4979350" y="1260450"/>
              <a:ext cx="1222851" cy="1222851"/>
            </a:xfrm>
            <a:prstGeom prst="rect">
              <a:avLst/>
            </a:prstGeom>
            <a:noFill/>
            <a:ln>
              <a:noFill/>
            </a:ln>
          </p:spPr>
        </p:pic>
        <p:pic>
          <p:nvPicPr>
            <p:cNvPr id="336" name="Google Shape;336;p48"/>
            <p:cNvPicPr preferRelativeResize="0"/>
            <p:nvPr/>
          </p:nvPicPr>
          <p:blipFill rotWithShape="1">
            <a:blip r:embed="rId6">
              <a:alphaModFix/>
            </a:blip>
            <a:srcRect b="-22025" l="-15323" r="-15310" t="-22025"/>
            <a:stretch/>
          </p:blipFill>
          <p:spPr>
            <a:xfrm>
              <a:off x="5008291" y="2472485"/>
              <a:ext cx="1164975" cy="1164954"/>
            </a:xfrm>
            <a:prstGeom prst="rect">
              <a:avLst/>
            </a:prstGeom>
            <a:noFill/>
            <a:ln>
              <a:noFill/>
            </a:ln>
          </p:spPr>
        </p:pic>
        <p:pic>
          <p:nvPicPr>
            <p:cNvPr id="337" name="Google Shape;337;p48"/>
            <p:cNvPicPr preferRelativeResize="0"/>
            <p:nvPr/>
          </p:nvPicPr>
          <p:blipFill rotWithShape="1">
            <a:blip r:embed="rId7">
              <a:alphaModFix/>
            </a:blip>
            <a:srcRect b="0" l="22587" r="22587" t="0"/>
            <a:stretch/>
          </p:blipFill>
          <p:spPr>
            <a:xfrm>
              <a:off x="7333400" y="1289388"/>
              <a:ext cx="1164975" cy="1164974"/>
            </a:xfrm>
            <a:prstGeom prst="rect">
              <a:avLst/>
            </a:prstGeom>
            <a:noFill/>
            <a:ln>
              <a:noFill/>
            </a:ln>
          </p:spPr>
        </p:pic>
        <p:pic>
          <p:nvPicPr>
            <p:cNvPr id="338" name="Google Shape;338;p48"/>
            <p:cNvPicPr preferRelativeResize="0"/>
            <p:nvPr/>
          </p:nvPicPr>
          <p:blipFill rotWithShape="1">
            <a:blip r:embed="rId8">
              <a:alphaModFix/>
            </a:blip>
            <a:srcRect b="0" l="65832" r="0" t="0"/>
            <a:stretch/>
          </p:blipFill>
          <p:spPr>
            <a:xfrm>
              <a:off x="7351167" y="2472473"/>
              <a:ext cx="1164974" cy="1164975"/>
            </a:xfrm>
            <a:prstGeom prst="rect">
              <a:avLst/>
            </a:prstGeom>
            <a:noFill/>
            <a:ln>
              <a:noFill/>
            </a:ln>
          </p:spPr>
        </p:pic>
        <p:pic>
          <p:nvPicPr>
            <p:cNvPr id="339" name="Google Shape;339;p48"/>
            <p:cNvPicPr preferRelativeResize="0"/>
            <p:nvPr/>
          </p:nvPicPr>
          <p:blipFill rotWithShape="1">
            <a:blip r:embed="rId9">
              <a:alphaModFix/>
            </a:blip>
            <a:srcRect b="18300" l="1672" r="1672" t="0"/>
            <a:stretch/>
          </p:blipFill>
          <p:spPr>
            <a:xfrm>
              <a:off x="6165256" y="2472474"/>
              <a:ext cx="1164976" cy="1164974"/>
            </a:xfrm>
            <a:prstGeom prst="rect">
              <a:avLst/>
            </a:prstGeom>
            <a:noFill/>
            <a:ln>
              <a:noFill/>
            </a:ln>
          </p:spPr>
        </p:pic>
      </p:gr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3" name="Shape 343"/>
        <p:cNvGrpSpPr/>
        <p:nvPr/>
      </p:nvGrpSpPr>
      <p:grpSpPr>
        <a:xfrm>
          <a:off x="0" y="0"/>
          <a:ext cx="0" cy="0"/>
          <a:chOff x="0" y="0"/>
          <a:chExt cx="0" cy="0"/>
        </a:xfrm>
      </p:grpSpPr>
      <p:sp>
        <p:nvSpPr>
          <p:cNvPr id="344" name="Google Shape;344;p49"/>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45" name="Google Shape;345;p49"/>
          <p:cNvSpPr txBox="1"/>
          <p:nvPr>
            <p:ph type="title"/>
          </p:nvPr>
        </p:nvSpPr>
        <p:spPr>
          <a:xfrm>
            <a:off x="685800" y="246900"/>
            <a:ext cx="50685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Menggunakan alat prototyping</a:t>
            </a:r>
            <a:endParaRPr/>
          </a:p>
        </p:txBody>
      </p:sp>
      <p:sp>
        <p:nvSpPr>
          <p:cNvPr id="346" name="Google Shape;346;p49"/>
          <p:cNvSpPr txBox="1"/>
          <p:nvPr/>
        </p:nvSpPr>
        <p:spPr>
          <a:xfrm>
            <a:off x="762000" y="1188720"/>
            <a:ext cx="41148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Menggunakan Figma</a:t>
            </a:r>
            <a:endParaRPr b="1" sz="1800">
              <a:solidFill>
                <a:srgbClr val="743673"/>
              </a:solidFill>
              <a:highlight>
                <a:schemeClr val="lt1"/>
              </a:highlight>
              <a:latin typeface="Raleway"/>
              <a:ea typeface="Raleway"/>
              <a:cs typeface="Raleway"/>
              <a:sym typeface="Raleway"/>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Figma adalah editor grafik vektor dan alat prototyping yang utama-nya berbasis web, dengan fitur offline tambahan yang diaktifkan oleh aplikasi desktop untuk macOS dan Windows.</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Aplikasi seluler Figma yang berjudul Figma Mirror untuk Android dan iOS memungkinkan kita melihat dan berinteraksi dengan prototipe Figma secara real-time di perangkat seluler.</a:t>
            </a:r>
            <a:endParaRPr sz="1200">
              <a:solidFill>
                <a:schemeClr val="dk1"/>
              </a:solidFill>
              <a:latin typeface="Raleway Medium"/>
              <a:ea typeface="Raleway Medium"/>
              <a:cs typeface="Raleway Medium"/>
              <a:sym typeface="Raleway Medium"/>
            </a:endParaRPr>
          </a:p>
        </p:txBody>
      </p:sp>
      <p:pic>
        <p:nvPicPr>
          <p:cNvPr id="347" name="Google Shape;347;p49">
            <a:hlinkClick r:id="rId3"/>
          </p:cNvPr>
          <p:cNvPicPr preferRelativeResize="0"/>
          <p:nvPr/>
        </p:nvPicPr>
        <p:blipFill rotWithShape="1">
          <a:blip r:embed="rId4">
            <a:alphaModFix/>
          </a:blip>
          <a:srcRect b="0" l="8753" r="8745" t="0"/>
          <a:stretch/>
        </p:blipFill>
        <p:spPr>
          <a:xfrm>
            <a:off x="5486400" y="1207587"/>
            <a:ext cx="3017518" cy="2743196"/>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1" name="Shape 351"/>
        <p:cNvGrpSpPr/>
        <p:nvPr/>
      </p:nvGrpSpPr>
      <p:grpSpPr>
        <a:xfrm>
          <a:off x="0" y="0"/>
          <a:ext cx="0" cy="0"/>
          <a:chOff x="0" y="0"/>
          <a:chExt cx="0" cy="0"/>
        </a:xfrm>
      </p:grpSpPr>
      <p:sp>
        <p:nvSpPr>
          <p:cNvPr id="352" name="Google Shape;352;p50"/>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53" name="Google Shape;353;p50"/>
          <p:cNvSpPr txBox="1"/>
          <p:nvPr>
            <p:ph type="title"/>
          </p:nvPr>
        </p:nvSpPr>
        <p:spPr>
          <a:xfrm>
            <a:off x="685800" y="246900"/>
            <a:ext cx="50685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Menggunakan alat prototyping</a:t>
            </a:r>
            <a:endParaRPr/>
          </a:p>
        </p:txBody>
      </p:sp>
      <p:sp>
        <p:nvSpPr>
          <p:cNvPr id="354" name="Google Shape;354;p50"/>
          <p:cNvSpPr txBox="1"/>
          <p:nvPr/>
        </p:nvSpPr>
        <p:spPr>
          <a:xfrm>
            <a:off x="762000" y="1188725"/>
            <a:ext cx="76200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1. </a:t>
            </a:r>
            <a:r>
              <a:rPr b="1" lang="en" sz="1800">
                <a:solidFill>
                  <a:srgbClr val="743673"/>
                </a:solidFill>
                <a:highlight>
                  <a:schemeClr val="lt1"/>
                </a:highlight>
                <a:latin typeface="Raleway"/>
                <a:ea typeface="Raleway"/>
                <a:cs typeface="Raleway"/>
                <a:sym typeface="Raleway"/>
              </a:rPr>
              <a:t>Proyek, File, dan Halaman di Figma</a:t>
            </a:r>
            <a:endParaRPr b="1" sz="1800">
              <a:solidFill>
                <a:srgbClr val="743673"/>
              </a:solidFill>
              <a:highlight>
                <a:schemeClr val="lt1"/>
              </a:highlight>
              <a:latin typeface="Raleway"/>
              <a:ea typeface="Raleway"/>
              <a:cs typeface="Raleway"/>
              <a:sym typeface="Raleway"/>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Mengenal bagaimana kita mengatur dokumen - dokumen kita dalam Figma</a:t>
            </a:r>
            <a:endParaRPr sz="1200">
              <a:solidFill>
                <a:schemeClr val="dk1"/>
              </a:solidFill>
              <a:latin typeface="Raleway Medium"/>
              <a:ea typeface="Raleway Medium"/>
              <a:cs typeface="Raleway Medium"/>
              <a:sym typeface="Raleway Medium"/>
            </a:endParaRPr>
          </a:p>
        </p:txBody>
      </p:sp>
      <p:pic>
        <p:nvPicPr>
          <p:cNvPr id="355" name="Google Shape;355;p50">
            <a:hlinkClick r:id="rId3"/>
          </p:cNvPr>
          <p:cNvPicPr preferRelativeResize="0"/>
          <p:nvPr/>
        </p:nvPicPr>
        <p:blipFill>
          <a:blip r:embed="rId4">
            <a:alphaModFix/>
          </a:blip>
          <a:stretch>
            <a:fillRect/>
          </a:stretch>
        </p:blipFill>
        <p:spPr>
          <a:xfrm>
            <a:off x="762000" y="2135250"/>
            <a:ext cx="4148326" cy="2347624"/>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9" name="Shape 359"/>
        <p:cNvGrpSpPr/>
        <p:nvPr/>
      </p:nvGrpSpPr>
      <p:grpSpPr>
        <a:xfrm>
          <a:off x="0" y="0"/>
          <a:ext cx="0" cy="0"/>
          <a:chOff x="0" y="0"/>
          <a:chExt cx="0" cy="0"/>
        </a:xfrm>
      </p:grpSpPr>
      <p:sp>
        <p:nvSpPr>
          <p:cNvPr id="360" name="Google Shape;360;p51"/>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61" name="Google Shape;361;p51"/>
          <p:cNvSpPr txBox="1"/>
          <p:nvPr>
            <p:ph type="title"/>
          </p:nvPr>
        </p:nvSpPr>
        <p:spPr>
          <a:xfrm>
            <a:off x="685800" y="246900"/>
            <a:ext cx="50685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Menggunakan alat prototyping</a:t>
            </a:r>
            <a:endParaRPr/>
          </a:p>
        </p:txBody>
      </p:sp>
      <p:sp>
        <p:nvSpPr>
          <p:cNvPr id="362" name="Google Shape;362;p51"/>
          <p:cNvSpPr txBox="1"/>
          <p:nvPr/>
        </p:nvSpPr>
        <p:spPr>
          <a:xfrm>
            <a:off x="762000" y="1188725"/>
            <a:ext cx="76200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2</a:t>
            </a:r>
            <a:r>
              <a:rPr b="1" lang="en" sz="1800">
                <a:solidFill>
                  <a:srgbClr val="743673"/>
                </a:solidFill>
                <a:highlight>
                  <a:schemeClr val="lt1"/>
                </a:highlight>
                <a:latin typeface="Raleway"/>
                <a:ea typeface="Raleway"/>
                <a:cs typeface="Raleway"/>
                <a:sym typeface="Raleway"/>
              </a:rPr>
              <a:t>. Antarmuka Figma</a:t>
            </a:r>
            <a:endParaRPr b="1" sz="1800">
              <a:solidFill>
                <a:srgbClr val="743673"/>
              </a:solidFill>
              <a:highlight>
                <a:schemeClr val="lt1"/>
              </a:highlight>
              <a:latin typeface="Raleway"/>
              <a:ea typeface="Raleway"/>
              <a:cs typeface="Raleway"/>
              <a:sym typeface="Raleway"/>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K</a:t>
            </a:r>
            <a:r>
              <a:rPr lang="en" sz="1200">
                <a:solidFill>
                  <a:schemeClr val="dk1"/>
                </a:solidFill>
                <a:latin typeface="Raleway Medium"/>
                <a:ea typeface="Raleway Medium"/>
                <a:cs typeface="Raleway Medium"/>
                <a:sym typeface="Raleway Medium"/>
              </a:rPr>
              <a:t>ita akan melihat lebih dekat antarmuka pengguna dan koleksi alat Figma. Kita akan mempelajari apa yang dilakukan setiap panel, tombol, dan area ruang kerja. </a:t>
            </a:r>
            <a:endParaRPr sz="1200">
              <a:solidFill>
                <a:schemeClr val="dk1"/>
              </a:solidFill>
              <a:latin typeface="Raleway Medium"/>
              <a:ea typeface="Raleway Medium"/>
              <a:cs typeface="Raleway Medium"/>
              <a:sym typeface="Raleway Medium"/>
            </a:endParaRPr>
          </a:p>
        </p:txBody>
      </p:sp>
      <p:pic>
        <p:nvPicPr>
          <p:cNvPr id="363" name="Google Shape;363;p51">
            <a:hlinkClick r:id="rId3"/>
          </p:cNvPr>
          <p:cNvPicPr preferRelativeResize="0"/>
          <p:nvPr/>
        </p:nvPicPr>
        <p:blipFill rotWithShape="1">
          <a:blip r:embed="rId4">
            <a:alphaModFix/>
          </a:blip>
          <a:srcRect b="0" l="436" r="426" t="0"/>
          <a:stretch/>
        </p:blipFill>
        <p:spPr>
          <a:xfrm>
            <a:off x="762000" y="2287650"/>
            <a:ext cx="4148326" cy="2347625"/>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7" name="Shape 367"/>
        <p:cNvGrpSpPr/>
        <p:nvPr/>
      </p:nvGrpSpPr>
      <p:grpSpPr>
        <a:xfrm>
          <a:off x="0" y="0"/>
          <a:ext cx="0" cy="0"/>
          <a:chOff x="0" y="0"/>
          <a:chExt cx="0" cy="0"/>
        </a:xfrm>
      </p:grpSpPr>
      <p:sp>
        <p:nvSpPr>
          <p:cNvPr id="368" name="Google Shape;368;p52"/>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69" name="Google Shape;369;p52"/>
          <p:cNvSpPr txBox="1"/>
          <p:nvPr>
            <p:ph type="title"/>
          </p:nvPr>
        </p:nvSpPr>
        <p:spPr>
          <a:xfrm>
            <a:off x="685800" y="246900"/>
            <a:ext cx="50685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Menggunakan alat prototyping</a:t>
            </a:r>
            <a:endParaRPr/>
          </a:p>
        </p:txBody>
      </p:sp>
      <p:sp>
        <p:nvSpPr>
          <p:cNvPr id="370" name="Google Shape;370;p52"/>
          <p:cNvSpPr txBox="1"/>
          <p:nvPr/>
        </p:nvSpPr>
        <p:spPr>
          <a:xfrm>
            <a:off x="762000" y="1188725"/>
            <a:ext cx="76200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3</a:t>
            </a:r>
            <a:r>
              <a:rPr b="1" lang="en" sz="1800">
                <a:solidFill>
                  <a:srgbClr val="743673"/>
                </a:solidFill>
                <a:highlight>
                  <a:schemeClr val="lt1"/>
                </a:highlight>
                <a:latin typeface="Raleway"/>
                <a:ea typeface="Raleway"/>
                <a:cs typeface="Raleway"/>
                <a:sym typeface="Raleway"/>
              </a:rPr>
              <a:t>. </a:t>
            </a:r>
            <a:r>
              <a:rPr b="1" lang="en" sz="1800">
                <a:solidFill>
                  <a:srgbClr val="743673"/>
                </a:solidFill>
                <a:highlight>
                  <a:schemeClr val="lt1"/>
                </a:highlight>
                <a:latin typeface="Raleway"/>
                <a:ea typeface="Raleway"/>
                <a:cs typeface="Raleway"/>
                <a:sym typeface="Raleway"/>
              </a:rPr>
              <a:t>Frames, Shapes, dan Teks di Figma</a:t>
            </a:r>
            <a:endParaRPr b="1" sz="1800">
              <a:solidFill>
                <a:srgbClr val="743673"/>
              </a:solidFill>
              <a:highlight>
                <a:schemeClr val="lt1"/>
              </a:highlight>
              <a:latin typeface="Raleway"/>
              <a:ea typeface="Raleway"/>
              <a:cs typeface="Raleway"/>
              <a:sym typeface="Raleway"/>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K</a:t>
            </a:r>
            <a:r>
              <a:rPr lang="en" sz="1200">
                <a:solidFill>
                  <a:schemeClr val="dk1"/>
                </a:solidFill>
                <a:latin typeface="Raleway Medium"/>
                <a:ea typeface="Raleway Medium"/>
                <a:cs typeface="Raleway Medium"/>
                <a:sym typeface="Raleway Medium"/>
              </a:rPr>
              <a:t>ita akan mulai menggunakan alat paling dasar (dan bisa dibilang paling berguna) di Figma: bingkai, bentuk, dan teks.</a:t>
            </a:r>
            <a:endParaRPr sz="1200">
              <a:solidFill>
                <a:schemeClr val="dk1"/>
              </a:solidFill>
              <a:latin typeface="Raleway Medium"/>
              <a:ea typeface="Raleway Medium"/>
              <a:cs typeface="Raleway Medium"/>
              <a:sym typeface="Raleway Medium"/>
            </a:endParaRPr>
          </a:p>
        </p:txBody>
      </p:sp>
      <p:pic>
        <p:nvPicPr>
          <p:cNvPr id="371" name="Google Shape;371;p52">
            <a:hlinkClick r:id="rId3"/>
          </p:cNvPr>
          <p:cNvPicPr preferRelativeResize="0"/>
          <p:nvPr/>
        </p:nvPicPr>
        <p:blipFill rotWithShape="1">
          <a:blip r:embed="rId4">
            <a:alphaModFix/>
          </a:blip>
          <a:srcRect b="0" l="436" r="426" t="0"/>
          <a:stretch/>
        </p:blipFill>
        <p:spPr>
          <a:xfrm>
            <a:off x="762000" y="2287650"/>
            <a:ext cx="4148326" cy="2347625"/>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5" name="Shape 375"/>
        <p:cNvGrpSpPr/>
        <p:nvPr/>
      </p:nvGrpSpPr>
      <p:grpSpPr>
        <a:xfrm>
          <a:off x="0" y="0"/>
          <a:ext cx="0" cy="0"/>
          <a:chOff x="0" y="0"/>
          <a:chExt cx="0" cy="0"/>
        </a:xfrm>
      </p:grpSpPr>
      <p:sp>
        <p:nvSpPr>
          <p:cNvPr id="376" name="Google Shape;376;p53"/>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77" name="Google Shape;377;p53"/>
          <p:cNvSpPr txBox="1"/>
          <p:nvPr>
            <p:ph type="title"/>
          </p:nvPr>
        </p:nvSpPr>
        <p:spPr>
          <a:xfrm>
            <a:off x="685800" y="246900"/>
            <a:ext cx="50685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Menggunakan alat prototyping</a:t>
            </a:r>
            <a:endParaRPr/>
          </a:p>
        </p:txBody>
      </p:sp>
      <p:sp>
        <p:nvSpPr>
          <p:cNvPr id="378" name="Google Shape;378;p53"/>
          <p:cNvSpPr txBox="1"/>
          <p:nvPr/>
        </p:nvSpPr>
        <p:spPr>
          <a:xfrm>
            <a:off x="762000" y="1188725"/>
            <a:ext cx="76200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4</a:t>
            </a:r>
            <a:r>
              <a:rPr b="1" lang="en" sz="1800">
                <a:solidFill>
                  <a:srgbClr val="743673"/>
                </a:solidFill>
                <a:highlight>
                  <a:schemeClr val="lt1"/>
                </a:highlight>
                <a:latin typeface="Raleway"/>
                <a:ea typeface="Raleway"/>
                <a:cs typeface="Raleway"/>
                <a:sym typeface="Raleway"/>
              </a:rPr>
              <a:t>. </a:t>
            </a:r>
            <a:r>
              <a:rPr b="1" lang="en" sz="1800">
                <a:solidFill>
                  <a:srgbClr val="743673"/>
                </a:solidFill>
                <a:highlight>
                  <a:schemeClr val="lt1"/>
                </a:highlight>
                <a:latin typeface="Raleway"/>
                <a:ea typeface="Raleway"/>
                <a:cs typeface="Raleway"/>
                <a:sym typeface="Raleway"/>
              </a:rPr>
              <a:t>Membuat Jaringan Vektor Dengan Pen Tool</a:t>
            </a:r>
            <a:endParaRPr b="1" sz="1800">
              <a:solidFill>
                <a:srgbClr val="743673"/>
              </a:solidFill>
              <a:highlight>
                <a:schemeClr val="lt1"/>
              </a:highlight>
              <a:latin typeface="Raleway"/>
              <a:ea typeface="Raleway"/>
              <a:cs typeface="Raleway"/>
              <a:sym typeface="Raleway"/>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Anda akan belajar tentang jaringan vektor dan Pen Tool. Jaringan vektor adalah fitur unik di Figma, dan dibutuhkan penggunaan Pen Tool untuk membuatnya.</a:t>
            </a:r>
            <a:endParaRPr sz="1200">
              <a:solidFill>
                <a:schemeClr val="dk1"/>
              </a:solidFill>
              <a:latin typeface="Raleway Medium"/>
              <a:ea typeface="Raleway Medium"/>
              <a:cs typeface="Raleway Medium"/>
              <a:sym typeface="Raleway Medium"/>
            </a:endParaRPr>
          </a:p>
        </p:txBody>
      </p:sp>
      <p:pic>
        <p:nvPicPr>
          <p:cNvPr id="379" name="Google Shape;379;p53">
            <a:hlinkClick r:id="rId3"/>
          </p:cNvPr>
          <p:cNvPicPr preferRelativeResize="0"/>
          <p:nvPr/>
        </p:nvPicPr>
        <p:blipFill rotWithShape="1">
          <a:blip r:embed="rId4">
            <a:alphaModFix/>
          </a:blip>
          <a:srcRect b="0" l="258" r="258" t="0"/>
          <a:stretch/>
        </p:blipFill>
        <p:spPr>
          <a:xfrm>
            <a:off x="762000" y="2287650"/>
            <a:ext cx="4148326" cy="2347626"/>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3" name="Shape 383"/>
        <p:cNvGrpSpPr/>
        <p:nvPr/>
      </p:nvGrpSpPr>
      <p:grpSpPr>
        <a:xfrm>
          <a:off x="0" y="0"/>
          <a:ext cx="0" cy="0"/>
          <a:chOff x="0" y="0"/>
          <a:chExt cx="0" cy="0"/>
        </a:xfrm>
      </p:grpSpPr>
      <p:sp>
        <p:nvSpPr>
          <p:cNvPr id="384" name="Google Shape;384;p54"/>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85" name="Google Shape;385;p54"/>
          <p:cNvSpPr txBox="1"/>
          <p:nvPr>
            <p:ph type="title"/>
          </p:nvPr>
        </p:nvSpPr>
        <p:spPr>
          <a:xfrm>
            <a:off x="685800" y="246900"/>
            <a:ext cx="50685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Menggunakan alat prototyping</a:t>
            </a:r>
            <a:endParaRPr/>
          </a:p>
        </p:txBody>
      </p:sp>
      <p:sp>
        <p:nvSpPr>
          <p:cNvPr id="386" name="Google Shape;386;p54"/>
          <p:cNvSpPr txBox="1"/>
          <p:nvPr/>
        </p:nvSpPr>
        <p:spPr>
          <a:xfrm>
            <a:off x="762000" y="1188725"/>
            <a:ext cx="76200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5</a:t>
            </a:r>
            <a:r>
              <a:rPr b="1" lang="en" sz="1800">
                <a:solidFill>
                  <a:srgbClr val="743673"/>
                </a:solidFill>
                <a:highlight>
                  <a:schemeClr val="lt1"/>
                </a:highlight>
                <a:latin typeface="Raleway"/>
                <a:ea typeface="Raleway"/>
                <a:cs typeface="Raleway"/>
                <a:sym typeface="Raleway"/>
              </a:rPr>
              <a:t>. Grids dalam Figma</a:t>
            </a:r>
            <a:endParaRPr b="1" sz="1800">
              <a:solidFill>
                <a:srgbClr val="743673"/>
              </a:solidFill>
              <a:highlight>
                <a:schemeClr val="lt1"/>
              </a:highlight>
              <a:latin typeface="Raleway"/>
              <a:ea typeface="Raleway"/>
              <a:cs typeface="Raleway"/>
              <a:sym typeface="Raleway"/>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Anda akan belajar cara menggunakan Figma untuk membuat grids. Grids sangat berguna untuk desain antarmuka dak juga sangat berharga saat membuat ikon. Mari kita mulai.</a:t>
            </a:r>
            <a:endParaRPr sz="1200">
              <a:solidFill>
                <a:schemeClr val="dk1"/>
              </a:solidFill>
              <a:latin typeface="Raleway Medium"/>
              <a:ea typeface="Raleway Medium"/>
              <a:cs typeface="Raleway Medium"/>
              <a:sym typeface="Raleway Medium"/>
            </a:endParaRPr>
          </a:p>
        </p:txBody>
      </p:sp>
      <p:pic>
        <p:nvPicPr>
          <p:cNvPr id="387" name="Google Shape;387;p54">
            <a:hlinkClick r:id="rId3"/>
          </p:cNvPr>
          <p:cNvPicPr preferRelativeResize="0"/>
          <p:nvPr/>
        </p:nvPicPr>
        <p:blipFill rotWithShape="1">
          <a:blip r:embed="rId4">
            <a:alphaModFix/>
          </a:blip>
          <a:srcRect b="0" l="298" r="308" t="0"/>
          <a:stretch/>
        </p:blipFill>
        <p:spPr>
          <a:xfrm>
            <a:off x="762000" y="2287650"/>
            <a:ext cx="4148326" cy="2347626"/>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1" name="Shape 391"/>
        <p:cNvGrpSpPr/>
        <p:nvPr/>
      </p:nvGrpSpPr>
      <p:grpSpPr>
        <a:xfrm>
          <a:off x="0" y="0"/>
          <a:ext cx="0" cy="0"/>
          <a:chOff x="0" y="0"/>
          <a:chExt cx="0" cy="0"/>
        </a:xfrm>
      </p:grpSpPr>
      <p:sp>
        <p:nvSpPr>
          <p:cNvPr id="392" name="Google Shape;392;p55"/>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93" name="Google Shape;393;p55"/>
          <p:cNvSpPr txBox="1"/>
          <p:nvPr>
            <p:ph type="title"/>
          </p:nvPr>
        </p:nvSpPr>
        <p:spPr>
          <a:xfrm>
            <a:off x="685800" y="246900"/>
            <a:ext cx="50685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Menggunakan alat prototyping</a:t>
            </a:r>
            <a:endParaRPr/>
          </a:p>
        </p:txBody>
      </p:sp>
      <p:sp>
        <p:nvSpPr>
          <p:cNvPr id="394" name="Google Shape;394;p55"/>
          <p:cNvSpPr txBox="1"/>
          <p:nvPr/>
        </p:nvSpPr>
        <p:spPr>
          <a:xfrm>
            <a:off x="762000" y="1188725"/>
            <a:ext cx="76200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6</a:t>
            </a:r>
            <a:r>
              <a:rPr b="1" lang="en" sz="1800">
                <a:solidFill>
                  <a:srgbClr val="743673"/>
                </a:solidFill>
                <a:highlight>
                  <a:schemeClr val="lt1"/>
                </a:highlight>
                <a:latin typeface="Raleway"/>
                <a:ea typeface="Raleway"/>
                <a:cs typeface="Raleway"/>
                <a:sym typeface="Raleway"/>
              </a:rPr>
              <a:t>. Plugins dalam Figma</a:t>
            </a:r>
            <a:endParaRPr b="1" sz="1800">
              <a:solidFill>
                <a:srgbClr val="743673"/>
              </a:solidFill>
              <a:highlight>
                <a:schemeClr val="lt1"/>
              </a:highlight>
              <a:latin typeface="Raleway"/>
              <a:ea typeface="Raleway"/>
              <a:cs typeface="Raleway"/>
              <a:sym typeface="Raleway"/>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Anda akan belajar cara mencari dan menggunakan plugins di Figma. Plugins dapat membantu Anda </a:t>
            </a:r>
            <a:r>
              <a:rPr lang="en" sz="1200">
                <a:solidFill>
                  <a:schemeClr val="dk1"/>
                </a:solidFill>
                <a:latin typeface="Raleway Medium"/>
                <a:ea typeface="Raleway Medium"/>
                <a:cs typeface="Raleway Medium"/>
                <a:sym typeface="Raleway Medium"/>
              </a:rPr>
              <a:t>mendesain</a:t>
            </a:r>
            <a:r>
              <a:rPr lang="en" sz="1200">
                <a:solidFill>
                  <a:schemeClr val="dk1"/>
                </a:solidFill>
                <a:latin typeface="Raleway Medium"/>
                <a:ea typeface="Raleway Medium"/>
                <a:cs typeface="Raleway Medium"/>
                <a:sym typeface="Raleway Medium"/>
              </a:rPr>
              <a:t> dengan cepat. </a:t>
            </a:r>
            <a:endParaRPr sz="1200">
              <a:solidFill>
                <a:schemeClr val="dk1"/>
              </a:solidFill>
              <a:latin typeface="Raleway Medium"/>
              <a:ea typeface="Raleway Medium"/>
              <a:cs typeface="Raleway Medium"/>
              <a:sym typeface="Raleway Medium"/>
            </a:endParaRPr>
          </a:p>
        </p:txBody>
      </p:sp>
      <p:pic>
        <p:nvPicPr>
          <p:cNvPr id="395" name="Google Shape;395;p55">
            <a:hlinkClick r:id="rId3"/>
          </p:cNvPr>
          <p:cNvPicPr preferRelativeResize="0"/>
          <p:nvPr/>
        </p:nvPicPr>
        <p:blipFill rotWithShape="1">
          <a:blip r:embed="rId4">
            <a:alphaModFix/>
          </a:blip>
          <a:srcRect b="0" l="563" r="553" t="0"/>
          <a:stretch/>
        </p:blipFill>
        <p:spPr>
          <a:xfrm>
            <a:off x="762000" y="2287650"/>
            <a:ext cx="4148326" cy="2347627"/>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9" name="Shape 399"/>
        <p:cNvGrpSpPr/>
        <p:nvPr/>
      </p:nvGrpSpPr>
      <p:grpSpPr>
        <a:xfrm>
          <a:off x="0" y="0"/>
          <a:ext cx="0" cy="0"/>
          <a:chOff x="0" y="0"/>
          <a:chExt cx="0" cy="0"/>
        </a:xfrm>
      </p:grpSpPr>
      <p:sp>
        <p:nvSpPr>
          <p:cNvPr id="400" name="Google Shape;400;p56"/>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01" name="Google Shape;401;p56"/>
          <p:cNvSpPr txBox="1"/>
          <p:nvPr>
            <p:ph type="title"/>
          </p:nvPr>
        </p:nvSpPr>
        <p:spPr>
          <a:xfrm>
            <a:off x="685800" y="246900"/>
            <a:ext cx="50685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Menggunakan alat prototyping</a:t>
            </a:r>
            <a:endParaRPr/>
          </a:p>
        </p:txBody>
      </p:sp>
      <p:sp>
        <p:nvSpPr>
          <p:cNvPr id="402" name="Google Shape;402;p56"/>
          <p:cNvSpPr txBox="1"/>
          <p:nvPr/>
        </p:nvSpPr>
        <p:spPr>
          <a:xfrm>
            <a:off x="762000" y="1188720"/>
            <a:ext cx="41148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Beberapa channel untuk memperdalam kemampuan menggunakan Figma (Bahasa Inggris)</a:t>
            </a:r>
            <a:endParaRPr b="1" sz="1800">
              <a:solidFill>
                <a:srgbClr val="743673"/>
              </a:solidFill>
              <a:highlight>
                <a:schemeClr val="lt1"/>
              </a:highlight>
              <a:latin typeface="Raleway"/>
              <a:ea typeface="Raleway"/>
              <a:cs typeface="Raleway"/>
              <a:sym typeface="Raleway"/>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Crash Course:</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u="sng">
                <a:solidFill>
                  <a:schemeClr val="hlink"/>
                </a:solidFill>
                <a:latin typeface="Raleway Medium"/>
                <a:ea typeface="Raleway Medium"/>
                <a:cs typeface="Raleway Medium"/>
                <a:sym typeface="Raleway Medium"/>
                <a:hlinkClick r:id="rId3"/>
              </a:rPr>
              <a:t>The Figma 2021 Crash Course by Example - Design Courses</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Full Playlist Course:</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u="sng">
                <a:solidFill>
                  <a:schemeClr val="hlink"/>
                </a:solidFill>
                <a:latin typeface="Raleway Medium"/>
                <a:ea typeface="Raleway Medium"/>
                <a:cs typeface="Raleway Medium"/>
                <a:sym typeface="Raleway Medium"/>
                <a:hlinkClick r:id="rId4"/>
              </a:rPr>
              <a:t>Introduction to Figma - 2021 Beginners Tutorial (Everything You Need to Know in 20 minutes) - Mizko</a:t>
            </a:r>
            <a:endParaRPr sz="1200">
              <a:solidFill>
                <a:schemeClr val="dk1"/>
              </a:solidFill>
              <a:latin typeface="Raleway Medium"/>
              <a:ea typeface="Raleway Medium"/>
              <a:cs typeface="Raleway Medium"/>
              <a:sym typeface="Raleway Medium"/>
            </a:endParaRPr>
          </a:p>
        </p:txBody>
      </p:sp>
      <p:pic>
        <p:nvPicPr>
          <p:cNvPr id="403" name="Google Shape;403;p56">
            <a:hlinkClick r:id="rId5"/>
          </p:cNvPr>
          <p:cNvPicPr preferRelativeResize="0"/>
          <p:nvPr/>
        </p:nvPicPr>
        <p:blipFill>
          <a:blip r:embed="rId6">
            <a:alphaModFix/>
          </a:blip>
          <a:stretch>
            <a:fillRect/>
          </a:stretch>
        </p:blipFill>
        <p:spPr>
          <a:xfrm>
            <a:off x="5504700" y="966338"/>
            <a:ext cx="3111899" cy="1674968"/>
          </a:xfrm>
          <a:prstGeom prst="rect">
            <a:avLst/>
          </a:prstGeom>
          <a:noFill/>
          <a:ln>
            <a:noFill/>
          </a:ln>
        </p:spPr>
      </p:pic>
      <p:pic>
        <p:nvPicPr>
          <p:cNvPr id="404" name="Google Shape;404;p56">
            <a:hlinkClick r:id="rId7"/>
          </p:cNvPr>
          <p:cNvPicPr preferRelativeResize="0"/>
          <p:nvPr/>
        </p:nvPicPr>
        <p:blipFill>
          <a:blip r:embed="rId8">
            <a:alphaModFix/>
          </a:blip>
          <a:stretch>
            <a:fillRect/>
          </a:stretch>
        </p:blipFill>
        <p:spPr>
          <a:xfrm>
            <a:off x="5504700" y="2784152"/>
            <a:ext cx="3111899" cy="1674961"/>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8" name="Shape 408"/>
        <p:cNvGrpSpPr/>
        <p:nvPr/>
      </p:nvGrpSpPr>
      <p:grpSpPr>
        <a:xfrm>
          <a:off x="0" y="0"/>
          <a:ext cx="0" cy="0"/>
          <a:chOff x="0" y="0"/>
          <a:chExt cx="0" cy="0"/>
        </a:xfrm>
      </p:grpSpPr>
      <p:sp>
        <p:nvSpPr>
          <p:cNvPr id="409" name="Google Shape;409;p57"/>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10" name="Google Shape;410;p57"/>
          <p:cNvSpPr txBox="1"/>
          <p:nvPr>
            <p:ph type="title"/>
          </p:nvPr>
        </p:nvSpPr>
        <p:spPr>
          <a:xfrm>
            <a:off x="685800" y="246900"/>
            <a:ext cx="50685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Menggunakan alat prototyping</a:t>
            </a:r>
            <a:endParaRPr/>
          </a:p>
        </p:txBody>
      </p:sp>
      <p:sp>
        <p:nvSpPr>
          <p:cNvPr id="411" name="Google Shape;411;p57"/>
          <p:cNvSpPr txBox="1"/>
          <p:nvPr/>
        </p:nvSpPr>
        <p:spPr>
          <a:xfrm>
            <a:off x="762000" y="1188720"/>
            <a:ext cx="41148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Beberapa channel untuk memperdalam kemampuan menggunakan Figma (Bahasa Indonesia)</a:t>
            </a:r>
            <a:endParaRPr b="1" sz="1800">
              <a:solidFill>
                <a:srgbClr val="743673"/>
              </a:solidFill>
              <a:highlight>
                <a:schemeClr val="lt1"/>
              </a:highlight>
              <a:latin typeface="Raleway"/>
              <a:ea typeface="Raleway"/>
              <a:cs typeface="Raleway"/>
              <a:sym typeface="Raleway"/>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Crash Course:</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u="sng">
                <a:solidFill>
                  <a:schemeClr val="hlink"/>
                </a:solidFill>
                <a:latin typeface="Raleway Medium"/>
                <a:ea typeface="Raleway Medium"/>
                <a:cs typeface="Raleway Medium"/>
                <a:sym typeface="Raleway Medium"/>
                <a:hlinkClick r:id="rId3"/>
              </a:rPr>
              <a:t>Tutorial Bikin Web Desain di Figma, Cuma Butuh 15 Menit! - Yoko Bomb</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Full Playlist Course:</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u="sng">
                <a:solidFill>
                  <a:schemeClr val="hlink"/>
                </a:solidFill>
                <a:latin typeface="Raleway Medium"/>
                <a:ea typeface="Raleway Medium"/>
                <a:cs typeface="Raleway Medium"/>
                <a:sym typeface="Raleway Medium"/>
                <a:hlinkClick r:id="rId4"/>
              </a:rPr>
              <a:t>Tutorial Figma - BuildWith Angga</a:t>
            </a:r>
            <a:endParaRPr sz="1200">
              <a:solidFill>
                <a:schemeClr val="dk1"/>
              </a:solidFill>
              <a:latin typeface="Raleway Medium"/>
              <a:ea typeface="Raleway Medium"/>
              <a:cs typeface="Raleway Medium"/>
              <a:sym typeface="Raleway Medium"/>
            </a:endParaRPr>
          </a:p>
        </p:txBody>
      </p:sp>
      <p:pic>
        <p:nvPicPr>
          <p:cNvPr id="412" name="Google Shape;412;p57">
            <a:hlinkClick r:id="rId5"/>
          </p:cNvPr>
          <p:cNvPicPr preferRelativeResize="0"/>
          <p:nvPr/>
        </p:nvPicPr>
        <p:blipFill rotWithShape="1">
          <a:blip r:embed="rId6">
            <a:alphaModFix/>
          </a:blip>
          <a:srcRect b="1932" l="0" r="0" t="1932"/>
          <a:stretch/>
        </p:blipFill>
        <p:spPr>
          <a:xfrm>
            <a:off x="5504700" y="966338"/>
            <a:ext cx="3111900" cy="1674968"/>
          </a:xfrm>
          <a:prstGeom prst="rect">
            <a:avLst/>
          </a:prstGeom>
          <a:noFill/>
          <a:ln>
            <a:noFill/>
          </a:ln>
        </p:spPr>
      </p:pic>
      <p:pic>
        <p:nvPicPr>
          <p:cNvPr id="413" name="Google Shape;413;p57">
            <a:hlinkClick r:id="rId7"/>
          </p:cNvPr>
          <p:cNvPicPr preferRelativeResize="0"/>
          <p:nvPr/>
        </p:nvPicPr>
        <p:blipFill rotWithShape="1">
          <a:blip r:embed="rId8">
            <a:alphaModFix/>
          </a:blip>
          <a:srcRect b="661" l="359" r="-360" t="661"/>
          <a:stretch/>
        </p:blipFill>
        <p:spPr>
          <a:xfrm>
            <a:off x="5504700" y="2784152"/>
            <a:ext cx="3111899" cy="1674961"/>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7" name="Shape 417"/>
        <p:cNvGrpSpPr/>
        <p:nvPr/>
      </p:nvGrpSpPr>
      <p:grpSpPr>
        <a:xfrm>
          <a:off x="0" y="0"/>
          <a:ext cx="0" cy="0"/>
          <a:chOff x="0" y="0"/>
          <a:chExt cx="0" cy="0"/>
        </a:xfrm>
      </p:grpSpPr>
      <p:sp>
        <p:nvSpPr>
          <p:cNvPr id="418" name="Google Shape;418;p58"/>
          <p:cNvSpPr txBox="1"/>
          <p:nvPr>
            <p:ph type="title"/>
          </p:nvPr>
        </p:nvSpPr>
        <p:spPr>
          <a:xfrm>
            <a:off x="914400" y="2210700"/>
            <a:ext cx="7315200" cy="722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Saatnya </a:t>
            </a:r>
            <a:r>
              <a:rPr lang="en">
                <a:solidFill>
                  <a:schemeClr val="accent1"/>
                </a:solidFill>
              </a:rPr>
              <a:t>Quiz</a:t>
            </a:r>
            <a:endParaRPr>
              <a:solidFill>
                <a:schemeClr val="accent1"/>
              </a:solidFill>
            </a:endParaRPr>
          </a:p>
        </p:txBody>
      </p:sp>
      <p:sp>
        <p:nvSpPr>
          <p:cNvPr id="419" name="Google Shape;419;p58"/>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3" name="Shape 423"/>
        <p:cNvGrpSpPr/>
        <p:nvPr/>
      </p:nvGrpSpPr>
      <p:grpSpPr>
        <a:xfrm>
          <a:off x="0" y="0"/>
          <a:ext cx="0" cy="0"/>
          <a:chOff x="0" y="0"/>
          <a:chExt cx="0" cy="0"/>
        </a:xfrm>
      </p:grpSpPr>
      <p:sp>
        <p:nvSpPr>
          <p:cNvPr id="424" name="Google Shape;424;p59"/>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Quiz</a:t>
            </a:r>
            <a:endParaRPr/>
          </a:p>
        </p:txBody>
      </p:sp>
      <p:sp>
        <p:nvSpPr>
          <p:cNvPr id="425" name="Google Shape;425;p59"/>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2800">
                <a:solidFill>
                  <a:schemeClr val="accent1"/>
                </a:solidFill>
                <a:latin typeface="Raleway"/>
                <a:ea typeface="Raleway"/>
                <a:cs typeface="Raleway"/>
                <a:sym typeface="Raleway"/>
              </a:rPr>
              <a:t>1</a:t>
            </a:r>
            <a:r>
              <a:rPr b="1" lang="en" sz="2800">
                <a:solidFill>
                  <a:schemeClr val="accent1"/>
                </a:solidFill>
                <a:latin typeface="Raleway"/>
                <a:ea typeface="Raleway"/>
                <a:cs typeface="Raleway"/>
                <a:sym typeface="Raleway"/>
              </a:rPr>
              <a:t>.</a:t>
            </a:r>
            <a:r>
              <a:rPr b="1" lang="en" sz="1800">
                <a:solidFill>
                  <a:schemeClr val="lt1"/>
                </a:solidFill>
                <a:latin typeface="Raleway"/>
                <a:ea typeface="Raleway"/>
                <a:cs typeface="Raleway"/>
                <a:sym typeface="Raleway"/>
              </a:rPr>
              <a:t> Berikut adalah keuntungan membuat prototipe, kecuali..</a:t>
            </a:r>
            <a:endParaRPr b="1" sz="1800">
              <a:solidFill>
                <a:schemeClr val="lt1"/>
              </a:solidFill>
              <a:latin typeface="Raleway"/>
              <a:ea typeface="Raleway"/>
              <a:cs typeface="Raleway"/>
              <a:sym typeface="Raleway"/>
            </a:endParaRPr>
          </a:p>
          <a:p>
            <a:pPr indent="0" lvl="0" marL="0" rtl="0" algn="l">
              <a:lnSpc>
                <a:spcPct val="115000"/>
              </a:lnSpc>
              <a:spcBef>
                <a:spcPts val="0"/>
              </a:spcBef>
              <a:spcAft>
                <a:spcPts val="0"/>
              </a:spcAft>
              <a:buNone/>
            </a:pPr>
            <a:r>
              <a:t/>
            </a:r>
            <a:endParaRPr sz="18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Memiliki dasar yang kuat untuk memperbaiki ide.</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Dapat mengadaptasi perubahan lebih awal.</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Dapat menemukan solusi yang ideal tanpa perlu pengujian.</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Memiliki alat untuk bereksperimen dengan kebutuhan dan masalah pengguna.</a:t>
            </a:r>
            <a:endParaRPr sz="1200">
              <a:solidFill>
                <a:schemeClr val="lt1"/>
              </a:solidFill>
              <a:latin typeface="Raleway Medium"/>
              <a:ea typeface="Raleway Medium"/>
              <a:cs typeface="Raleway Medium"/>
              <a:sym typeface="Raleway Medium"/>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9" name="Shape 429"/>
        <p:cNvGrpSpPr/>
        <p:nvPr/>
      </p:nvGrpSpPr>
      <p:grpSpPr>
        <a:xfrm>
          <a:off x="0" y="0"/>
          <a:ext cx="0" cy="0"/>
          <a:chOff x="0" y="0"/>
          <a:chExt cx="0" cy="0"/>
        </a:xfrm>
      </p:grpSpPr>
      <p:sp>
        <p:nvSpPr>
          <p:cNvPr id="430" name="Google Shape;430;p60"/>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Quiz</a:t>
            </a:r>
            <a:endParaRPr/>
          </a:p>
        </p:txBody>
      </p:sp>
      <p:sp>
        <p:nvSpPr>
          <p:cNvPr id="431" name="Google Shape;431;p60"/>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2800">
                <a:solidFill>
                  <a:schemeClr val="accent1"/>
                </a:solidFill>
                <a:latin typeface="Raleway"/>
                <a:ea typeface="Raleway"/>
                <a:cs typeface="Raleway"/>
                <a:sym typeface="Raleway"/>
              </a:rPr>
              <a:t>1.</a:t>
            </a:r>
            <a:r>
              <a:rPr b="1" lang="en" sz="1800">
                <a:solidFill>
                  <a:schemeClr val="lt1"/>
                </a:solidFill>
                <a:latin typeface="Raleway"/>
                <a:ea typeface="Raleway"/>
                <a:cs typeface="Raleway"/>
                <a:sym typeface="Raleway"/>
              </a:rPr>
              <a:t> Berikut adalah keuntungan membuat prototipe, kecuali..</a:t>
            </a:r>
            <a:endParaRPr b="1" sz="1800">
              <a:solidFill>
                <a:schemeClr val="lt1"/>
              </a:solidFill>
              <a:latin typeface="Raleway"/>
              <a:ea typeface="Raleway"/>
              <a:cs typeface="Raleway"/>
              <a:sym typeface="Raleway"/>
            </a:endParaRPr>
          </a:p>
          <a:p>
            <a:pPr indent="0" lvl="0" marL="0" rtl="0" algn="l">
              <a:lnSpc>
                <a:spcPct val="115000"/>
              </a:lnSpc>
              <a:spcBef>
                <a:spcPts val="0"/>
              </a:spcBef>
              <a:spcAft>
                <a:spcPts val="0"/>
              </a:spcAft>
              <a:buNone/>
            </a:pPr>
            <a:r>
              <a:t/>
            </a:r>
            <a:endParaRPr sz="18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Memiliki dasar yang kuat untuk memperbaiki ide.</a:t>
            </a:r>
            <a:endParaRPr sz="1200">
              <a:solidFill>
                <a:srgbClr val="A667A5"/>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Dapat mengadaptasi perubahan lebih awal.</a:t>
            </a:r>
            <a:endParaRPr sz="1200">
              <a:solidFill>
                <a:srgbClr val="A667A5"/>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a:buAutoNum type="alphaUcPeriod"/>
            </a:pPr>
            <a:r>
              <a:rPr b="1" lang="en" sz="1200">
                <a:solidFill>
                  <a:schemeClr val="lt1"/>
                </a:solidFill>
                <a:latin typeface="Raleway"/>
                <a:ea typeface="Raleway"/>
                <a:cs typeface="Raleway"/>
                <a:sym typeface="Raleway"/>
              </a:rPr>
              <a:t>Dapat menemukan solusi yang ideal tanpa perlu pengujian.</a:t>
            </a:r>
            <a:endParaRPr b="1" sz="1200">
              <a:solidFill>
                <a:schemeClr val="lt1"/>
              </a:solidFill>
              <a:latin typeface="Raleway"/>
              <a:ea typeface="Raleway"/>
              <a:cs typeface="Raleway"/>
              <a:sym typeface="Raleway"/>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Memiliki alat untuk bereksperimen dengan kebutuhan dan masalah pengguna.</a:t>
            </a:r>
            <a:endParaRPr sz="1200">
              <a:solidFill>
                <a:srgbClr val="A667A5"/>
              </a:solidFill>
              <a:latin typeface="Raleway Medium"/>
              <a:ea typeface="Raleway Medium"/>
              <a:cs typeface="Raleway Medium"/>
              <a:sym typeface="Raleway Medium"/>
            </a:endParaRPr>
          </a:p>
        </p:txBody>
      </p:sp>
      <p:sp>
        <p:nvSpPr>
          <p:cNvPr id="432" name="Google Shape;432;p60"/>
          <p:cNvSpPr/>
          <p:nvPr/>
        </p:nvSpPr>
        <p:spPr>
          <a:xfrm>
            <a:off x="685800" y="3186374"/>
            <a:ext cx="7772400" cy="595200"/>
          </a:xfrm>
          <a:prstGeom prst="rect">
            <a:avLst/>
          </a:prstGeom>
          <a:solidFill>
            <a:srgbClr val="F2AB2F"/>
          </a:solid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sz="1000">
                <a:solidFill>
                  <a:srgbClr val="733572"/>
                </a:solidFill>
                <a:latin typeface="Raleway"/>
                <a:ea typeface="Raleway"/>
                <a:cs typeface="Raleway"/>
                <a:sym typeface="Raleway"/>
              </a:rPr>
              <a:t>Dengan membuat sebuah prototipe kita memang dapat menemukan solusi yang ideal, akan tetapi tetap diperlukan pengujian prototipe untuk menemukan solusi tersebut. </a:t>
            </a:r>
            <a:endParaRPr b="1" sz="1000">
              <a:solidFill>
                <a:srgbClr val="733572"/>
              </a:solidFill>
              <a:latin typeface="Raleway"/>
              <a:ea typeface="Raleway"/>
              <a:cs typeface="Raleway"/>
              <a:sym typeface="Raleway"/>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6" name="Shape 436"/>
        <p:cNvGrpSpPr/>
        <p:nvPr/>
      </p:nvGrpSpPr>
      <p:grpSpPr>
        <a:xfrm>
          <a:off x="0" y="0"/>
          <a:ext cx="0" cy="0"/>
          <a:chOff x="0" y="0"/>
          <a:chExt cx="0" cy="0"/>
        </a:xfrm>
      </p:grpSpPr>
      <p:sp>
        <p:nvSpPr>
          <p:cNvPr id="437" name="Google Shape;437;p61"/>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Quiz</a:t>
            </a:r>
            <a:endParaRPr/>
          </a:p>
        </p:txBody>
      </p:sp>
      <p:sp>
        <p:nvSpPr>
          <p:cNvPr id="438" name="Google Shape;438;p61"/>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2800">
                <a:solidFill>
                  <a:schemeClr val="accent1"/>
                </a:solidFill>
                <a:latin typeface="Raleway"/>
                <a:ea typeface="Raleway"/>
                <a:cs typeface="Raleway"/>
                <a:sym typeface="Raleway"/>
              </a:rPr>
              <a:t>2.</a:t>
            </a:r>
            <a:r>
              <a:rPr b="1" lang="en" sz="1800">
                <a:solidFill>
                  <a:schemeClr val="lt1"/>
                </a:solidFill>
                <a:latin typeface="Raleway"/>
                <a:ea typeface="Raleway"/>
                <a:cs typeface="Raleway"/>
                <a:sym typeface="Raleway"/>
              </a:rPr>
              <a:t> Berikut adalah hal - hal yang diperlukan untuk membuat prototipe, kecuali..</a:t>
            </a:r>
            <a:endParaRPr b="1" sz="1800">
              <a:solidFill>
                <a:schemeClr val="lt1"/>
              </a:solidFill>
              <a:latin typeface="Raleway"/>
              <a:ea typeface="Raleway"/>
              <a:cs typeface="Raleway"/>
              <a:sym typeface="Raleway"/>
            </a:endParaRPr>
          </a:p>
          <a:p>
            <a:pPr indent="0" lvl="0" marL="0" rtl="0" algn="l">
              <a:lnSpc>
                <a:spcPct val="115000"/>
              </a:lnSpc>
              <a:spcBef>
                <a:spcPts val="0"/>
              </a:spcBef>
              <a:spcAft>
                <a:spcPts val="0"/>
              </a:spcAft>
              <a:buNone/>
            </a:pPr>
            <a:r>
              <a:t/>
            </a:r>
            <a:endParaRPr sz="18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Solutions</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Wireframes</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Information Architecture</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Ideas</a:t>
            </a:r>
            <a:endParaRPr sz="1200">
              <a:solidFill>
                <a:schemeClr val="lt1"/>
              </a:solidFill>
              <a:latin typeface="Raleway Medium"/>
              <a:ea typeface="Raleway Medium"/>
              <a:cs typeface="Raleway Medium"/>
              <a:sym typeface="Raleway Medium"/>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2" name="Shape 442"/>
        <p:cNvGrpSpPr/>
        <p:nvPr/>
      </p:nvGrpSpPr>
      <p:grpSpPr>
        <a:xfrm>
          <a:off x="0" y="0"/>
          <a:ext cx="0" cy="0"/>
          <a:chOff x="0" y="0"/>
          <a:chExt cx="0" cy="0"/>
        </a:xfrm>
      </p:grpSpPr>
      <p:sp>
        <p:nvSpPr>
          <p:cNvPr id="443" name="Google Shape;443;p62"/>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Quiz</a:t>
            </a:r>
            <a:endParaRPr/>
          </a:p>
        </p:txBody>
      </p:sp>
      <p:sp>
        <p:nvSpPr>
          <p:cNvPr id="444" name="Google Shape;444;p62"/>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2800">
                <a:solidFill>
                  <a:schemeClr val="accent1"/>
                </a:solidFill>
                <a:latin typeface="Raleway"/>
                <a:ea typeface="Raleway"/>
                <a:cs typeface="Raleway"/>
                <a:sym typeface="Raleway"/>
              </a:rPr>
              <a:t>2</a:t>
            </a:r>
            <a:r>
              <a:rPr b="1" lang="en" sz="2800">
                <a:solidFill>
                  <a:schemeClr val="accent1"/>
                </a:solidFill>
                <a:latin typeface="Raleway"/>
                <a:ea typeface="Raleway"/>
                <a:cs typeface="Raleway"/>
                <a:sym typeface="Raleway"/>
              </a:rPr>
              <a:t>.</a:t>
            </a:r>
            <a:r>
              <a:rPr b="1" lang="en" sz="1800">
                <a:solidFill>
                  <a:schemeClr val="lt1"/>
                </a:solidFill>
                <a:latin typeface="Raleway"/>
                <a:ea typeface="Raleway"/>
                <a:cs typeface="Raleway"/>
                <a:sym typeface="Raleway"/>
              </a:rPr>
              <a:t> Berikut adalah hal - hal yang diperlukan untuk membuat prototipe, kecuali…</a:t>
            </a:r>
            <a:endParaRPr b="1" sz="1800">
              <a:solidFill>
                <a:schemeClr val="lt1"/>
              </a:solidFill>
              <a:latin typeface="Raleway"/>
              <a:ea typeface="Raleway"/>
              <a:cs typeface="Raleway"/>
              <a:sym typeface="Raleway"/>
            </a:endParaRPr>
          </a:p>
          <a:p>
            <a:pPr indent="0" lvl="0" marL="0" rtl="0" algn="l">
              <a:lnSpc>
                <a:spcPct val="115000"/>
              </a:lnSpc>
              <a:spcBef>
                <a:spcPts val="0"/>
              </a:spcBef>
              <a:spcAft>
                <a:spcPts val="0"/>
              </a:spcAft>
              <a:buNone/>
            </a:pPr>
            <a:r>
              <a:t/>
            </a:r>
            <a:endParaRPr sz="18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a:buAutoNum type="alphaUcPeriod"/>
            </a:pPr>
            <a:r>
              <a:rPr b="1" lang="en" sz="1200">
                <a:solidFill>
                  <a:schemeClr val="lt1"/>
                </a:solidFill>
                <a:latin typeface="Raleway"/>
                <a:ea typeface="Raleway"/>
                <a:cs typeface="Raleway"/>
                <a:sym typeface="Raleway"/>
              </a:rPr>
              <a:t>Solutions</a:t>
            </a:r>
            <a:endParaRPr b="1" sz="1200">
              <a:solidFill>
                <a:schemeClr val="lt1"/>
              </a:solidFill>
              <a:latin typeface="Raleway"/>
              <a:ea typeface="Raleway"/>
              <a:cs typeface="Raleway"/>
              <a:sym typeface="Raleway"/>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Wireframes</a:t>
            </a:r>
            <a:endParaRPr sz="1200">
              <a:solidFill>
                <a:srgbClr val="A667A5"/>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Information Architecture</a:t>
            </a:r>
            <a:endParaRPr sz="1200">
              <a:solidFill>
                <a:srgbClr val="A667A5"/>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Ideas</a:t>
            </a:r>
            <a:endParaRPr sz="1200">
              <a:solidFill>
                <a:srgbClr val="A667A5"/>
              </a:solidFill>
              <a:latin typeface="Raleway Medium"/>
              <a:ea typeface="Raleway Medium"/>
              <a:cs typeface="Raleway Medium"/>
              <a:sym typeface="Raleway Medium"/>
            </a:endParaRPr>
          </a:p>
        </p:txBody>
      </p:sp>
      <p:sp>
        <p:nvSpPr>
          <p:cNvPr id="445" name="Google Shape;445;p62"/>
          <p:cNvSpPr/>
          <p:nvPr/>
        </p:nvSpPr>
        <p:spPr>
          <a:xfrm>
            <a:off x="685800" y="3491174"/>
            <a:ext cx="7772400" cy="595200"/>
          </a:xfrm>
          <a:prstGeom prst="rect">
            <a:avLst/>
          </a:prstGeom>
          <a:solidFill>
            <a:srgbClr val="F2AB2F"/>
          </a:solid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sz="1000">
                <a:solidFill>
                  <a:srgbClr val="733572"/>
                </a:solidFill>
                <a:latin typeface="Raleway"/>
                <a:ea typeface="Raleway"/>
                <a:cs typeface="Raleway"/>
                <a:sym typeface="Raleway"/>
              </a:rPr>
              <a:t>Pada fase prototyping, pembuat prototipe dilakukan untuk mencari solusi yang paling ideal dari ide - ide yang telah dikemukakan. Tidaklah perlu untuk menemukan solusi yang pasti pada fase ini. </a:t>
            </a:r>
            <a:endParaRPr b="1" sz="1000">
              <a:solidFill>
                <a:srgbClr val="733572"/>
              </a:solidFill>
              <a:latin typeface="Raleway"/>
              <a:ea typeface="Raleway"/>
              <a:cs typeface="Raleway"/>
              <a:sym typeface="Raleway"/>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9" name="Shape 449"/>
        <p:cNvGrpSpPr/>
        <p:nvPr/>
      </p:nvGrpSpPr>
      <p:grpSpPr>
        <a:xfrm>
          <a:off x="0" y="0"/>
          <a:ext cx="0" cy="0"/>
          <a:chOff x="0" y="0"/>
          <a:chExt cx="0" cy="0"/>
        </a:xfrm>
      </p:grpSpPr>
      <p:sp>
        <p:nvSpPr>
          <p:cNvPr id="450" name="Google Shape;450;p63"/>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Quiz</a:t>
            </a:r>
            <a:endParaRPr/>
          </a:p>
        </p:txBody>
      </p:sp>
      <p:sp>
        <p:nvSpPr>
          <p:cNvPr id="451" name="Google Shape;451;p63"/>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2800">
                <a:solidFill>
                  <a:schemeClr val="accent1"/>
                </a:solidFill>
                <a:latin typeface="Raleway"/>
                <a:ea typeface="Raleway"/>
                <a:cs typeface="Raleway"/>
                <a:sym typeface="Raleway"/>
              </a:rPr>
              <a:t>3</a:t>
            </a:r>
            <a:r>
              <a:rPr b="1" lang="en" sz="2800">
                <a:solidFill>
                  <a:schemeClr val="accent1"/>
                </a:solidFill>
                <a:latin typeface="Raleway"/>
                <a:ea typeface="Raleway"/>
                <a:cs typeface="Raleway"/>
                <a:sym typeface="Raleway"/>
              </a:rPr>
              <a:t>.</a:t>
            </a:r>
            <a:r>
              <a:rPr b="1" lang="en" sz="1800">
                <a:solidFill>
                  <a:schemeClr val="lt1"/>
                </a:solidFill>
                <a:latin typeface="Raleway"/>
                <a:ea typeface="Raleway"/>
                <a:cs typeface="Raleway"/>
                <a:sym typeface="Raleway"/>
              </a:rPr>
              <a:t> Teknik prototyping</a:t>
            </a:r>
            <a:r>
              <a:rPr b="1" lang="en" sz="1800">
                <a:solidFill>
                  <a:schemeClr val="lt1"/>
                </a:solidFill>
                <a:latin typeface="Raleway"/>
                <a:ea typeface="Raleway"/>
                <a:cs typeface="Raleway"/>
                <a:sym typeface="Raleway"/>
              </a:rPr>
              <a:t> yang berasal dari industri film adalah</a:t>
            </a:r>
            <a:endParaRPr b="1" sz="1800">
              <a:solidFill>
                <a:schemeClr val="lt1"/>
              </a:solidFill>
              <a:latin typeface="Raleway"/>
              <a:ea typeface="Raleway"/>
              <a:cs typeface="Raleway"/>
              <a:sym typeface="Raleway"/>
            </a:endParaRPr>
          </a:p>
          <a:p>
            <a:pPr indent="0" lvl="0" marL="0" rtl="0" algn="l">
              <a:lnSpc>
                <a:spcPct val="115000"/>
              </a:lnSpc>
              <a:spcBef>
                <a:spcPts val="0"/>
              </a:spcBef>
              <a:spcAft>
                <a:spcPts val="0"/>
              </a:spcAft>
              <a:buNone/>
            </a:pPr>
            <a:r>
              <a:t/>
            </a:r>
            <a:endParaRPr sz="18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Lego prototyping</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Storyboarding</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Feasibility prototyping</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Video prototyping</a:t>
            </a:r>
            <a:endParaRPr sz="1200">
              <a:solidFill>
                <a:schemeClr val="lt1"/>
              </a:solidFill>
              <a:latin typeface="Raleway Medium"/>
              <a:ea typeface="Raleway Medium"/>
              <a:cs typeface="Raleway Medium"/>
              <a:sym typeface="Raleway Medium"/>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5" name="Shape 455"/>
        <p:cNvGrpSpPr/>
        <p:nvPr/>
      </p:nvGrpSpPr>
      <p:grpSpPr>
        <a:xfrm>
          <a:off x="0" y="0"/>
          <a:ext cx="0" cy="0"/>
          <a:chOff x="0" y="0"/>
          <a:chExt cx="0" cy="0"/>
        </a:xfrm>
      </p:grpSpPr>
      <p:sp>
        <p:nvSpPr>
          <p:cNvPr id="456" name="Google Shape;456;p64"/>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Quiz</a:t>
            </a:r>
            <a:endParaRPr/>
          </a:p>
        </p:txBody>
      </p:sp>
      <p:sp>
        <p:nvSpPr>
          <p:cNvPr id="457" name="Google Shape;457;p64"/>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2800">
                <a:solidFill>
                  <a:schemeClr val="accent1"/>
                </a:solidFill>
                <a:latin typeface="Raleway"/>
                <a:ea typeface="Raleway"/>
                <a:cs typeface="Raleway"/>
                <a:sym typeface="Raleway"/>
              </a:rPr>
              <a:t>3.</a:t>
            </a:r>
            <a:r>
              <a:rPr b="1" lang="en" sz="1800">
                <a:solidFill>
                  <a:schemeClr val="lt1"/>
                </a:solidFill>
                <a:latin typeface="Raleway"/>
                <a:ea typeface="Raleway"/>
                <a:cs typeface="Raleway"/>
                <a:sym typeface="Raleway"/>
              </a:rPr>
              <a:t> Teknik prototyping yang berasal dari industri film adalah</a:t>
            </a:r>
            <a:endParaRPr b="1" sz="1800">
              <a:solidFill>
                <a:schemeClr val="lt1"/>
              </a:solidFill>
              <a:latin typeface="Raleway"/>
              <a:ea typeface="Raleway"/>
              <a:cs typeface="Raleway"/>
              <a:sym typeface="Raleway"/>
            </a:endParaRPr>
          </a:p>
          <a:p>
            <a:pPr indent="0" lvl="0" marL="0" rtl="0" algn="l">
              <a:lnSpc>
                <a:spcPct val="115000"/>
              </a:lnSpc>
              <a:spcBef>
                <a:spcPts val="0"/>
              </a:spcBef>
              <a:spcAft>
                <a:spcPts val="0"/>
              </a:spcAft>
              <a:buNone/>
            </a:pPr>
            <a:r>
              <a:t/>
            </a:r>
            <a:endParaRPr sz="18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Lego prototyping</a:t>
            </a:r>
            <a:endParaRPr sz="1200">
              <a:solidFill>
                <a:srgbClr val="A667A5"/>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a:buAutoNum type="alphaUcPeriod"/>
            </a:pPr>
            <a:r>
              <a:rPr b="1" lang="en" sz="1200">
                <a:solidFill>
                  <a:schemeClr val="lt1"/>
                </a:solidFill>
                <a:latin typeface="Raleway"/>
                <a:ea typeface="Raleway"/>
                <a:cs typeface="Raleway"/>
                <a:sym typeface="Raleway"/>
              </a:rPr>
              <a:t>Storyboarding</a:t>
            </a:r>
            <a:endParaRPr b="1" sz="1200">
              <a:solidFill>
                <a:schemeClr val="lt1"/>
              </a:solidFill>
              <a:latin typeface="Raleway"/>
              <a:ea typeface="Raleway"/>
              <a:cs typeface="Raleway"/>
              <a:sym typeface="Raleway"/>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Feasibility prototyping</a:t>
            </a:r>
            <a:endParaRPr sz="1200">
              <a:solidFill>
                <a:srgbClr val="A667A5"/>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Video prototyping</a:t>
            </a:r>
            <a:endParaRPr sz="1200">
              <a:solidFill>
                <a:srgbClr val="A667A5"/>
              </a:solidFill>
              <a:latin typeface="Raleway Medium"/>
              <a:ea typeface="Raleway Medium"/>
              <a:cs typeface="Raleway Medium"/>
              <a:sym typeface="Raleway Medium"/>
            </a:endParaRPr>
          </a:p>
        </p:txBody>
      </p:sp>
      <p:sp>
        <p:nvSpPr>
          <p:cNvPr id="458" name="Google Shape;458;p64"/>
          <p:cNvSpPr/>
          <p:nvPr/>
        </p:nvSpPr>
        <p:spPr>
          <a:xfrm>
            <a:off x="685800" y="3186374"/>
            <a:ext cx="7772400" cy="595200"/>
          </a:xfrm>
          <a:prstGeom prst="rect">
            <a:avLst/>
          </a:prstGeom>
          <a:solidFill>
            <a:srgbClr val="F2AB2F"/>
          </a:solid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sz="1000">
                <a:solidFill>
                  <a:srgbClr val="733572"/>
                </a:solidFill>
                <a:latin typeface="Raleway"/>
                <a:ea typeface="Raleway"/>
                <a:cs typeface="Raleway"/>
                <a:sym typeface="Raleway"/>
              </a:rPr>
              <a:t>Storyboarding adalah teknik yang berasal dari industri film dan memungkinkan Anda dengan cepat dan murah memandu pemangku kepentingan dan pengguna melalui suatu produk.</a:t>
            </a:r>
            <a:endParaRPr b="1" sz="1000">
              <a:solidFill>
                <a:srgbClr val="733572"/>
              </a:solidFill>
              <a:latin typeface="Raleway"/>
              <a:ea typeface="Raleway"/>
              <a:cs typeface="Raleway"/>
              <a:sym typeface="Raleway"/>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2" name="Shape 462"/>
        <p:cNvGrpSpPr/>
        <p:nvPr/>
      </p:nvGrpSpPr>
      <p:grpSpPr>
        <a:xfrm>
          <a:off x="0" y="0"/>
          <a:ext cx="0" cy="0"/>
          <a:chOff x="0" y="0"/>
          <a:chExt cx="0" cy="0"/>
        </a:xfrm>
      </p:grpSpPr>
      <p:sp>
        <p:nvSpPr>
          <p:cNvPr id="463" name="Google Shape;463;p65"/>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Quiz</a:t>
            </a:r>
            <a:endParaRPr/>
          </a:p>
        </p:txBody>
      </p:sp>
      <p:sp>
        <p:nvSpPr>
          <p:cNvPr id="464" name="Google Shape;464;p65"/>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2800">
                <a:solidFill>
                  <a:schemeClr val="accent1"/>
                </a:solidFill>
                <a:latin typeface="Raleway"/>
                <a:ea typeface="Raleway"/>
                <a:cs typeface="Raleway"/>
                <a:sym typeface="Raleway"/>
              </a:rPr>
              <a:t>4</a:t>
            </a:r>
            <a:r>
              <a:rPr b="1" lang="en" sz="2800">
                <a:solidFill>
                  <a:schemeClr val="accent1"/>
                </a:solidFill>
                <a:latin typeface="Raleway"/>
                <a:ea typeface="Raleway"/>
                <a:cs typeface="Raleway"/>
                <a:sym typeface="Raleway"/>
              </a:rPr>
              <a:t>.</a:t>
            </a:r>
            <a:r>
              <a:rPr b="1" lang="en" sz="1800">
                <a:solidFill>
                  <a:schemeClr val="lt1"/>
                </a:solidFill>
                <a:latin typeface="Raleway"/>
                <a:ea typeface="Raleway"/>
                <a:cs typeface="Raleway"/>
                <a:sym typeface="Raleway"/>
              </a:rPr>
              <a:t> Berikut adalah macam - macam prototypes berdasarkan kompleksitas teknologi, kecuali…</a:t>
            </a:r>
            <a:endParaRPr b="1" sz="1800">
              <a:solidFill>
                <a:schemeClr val="lt1"/>
              </a:solidFill>
              <a:latin typeface="Raleway"/>
              <a:ea typeface="Raleway"/>
              <a:cs typeface="Raleway"/>
              <a:sym typeface="Raleway"/>
            </a:endParaRPr>
          </a:p>
          <a:p>
            <a:pPr indent="0" lvl="0" marL="0" rtl="0" algn="l">
              <a:lnSpc>
                <a:spcPct val="115000"/>
              </a:lnSpc>
              <a:spcBef>
                <a:spcPts val="0"/>
              </a:spcBef>
              <a:spcAft>
                <a:spcPts val="0"/>
              </a:spcAft>
              <a:buNone/>
            </a:pPr>
            <a:r>
              <a:t/>
            </a:r>
            <a:endParaRPr sz="18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High fidelity prototype</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Low fidelity prototype</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Live data prototype</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Video prototype</a:t>
            </a:r>
            <a:endParaRPr sz="1200">
              <a:solidFill>
                <a:schemeClr val="lt1"/>
              </a:solidFill>
              <a:latin typeface="Raleway Medium"/>
              <a:ea typeface="Raleway Medium"/>
              <a:cs typeface="Raleway Medium"/>
              <a:sym typeface="Raleway Medium"/>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8" name="Shape 468"/>
        <p:cNvGrpSpPr/>
        <p:nvPr/>
      </p:nvGrpSpPr>
      <p:grpSpPr>
        <a:xfrm>
          <a:off x="0" y="0"/>
          <a:ext cx="0" cy="0"/>
          <a:chOff x="0" y="0"/>
          <a:chExt cx="0" cy="0"/>
        </a:xfrm>
      </p:grpSpPr>
      <p:sp>
        <p:nvSpPr>
          <p:cNvPr id="469" name="Google Shape;469;p66"/>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Quiz</a:t>
            </a:r>
            <a:endParaRPr/>
          </a:p>
        </p:txBody>
      </p:sp>
      <p:sp>
        <p:nvSpPr>
          <p:cNvPr id="470" name="Google Shape;470;p66"/>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2800">
                <a:solidFill>
                  <a:schemeClr val="accent1"/>
                </a:solidFill>
                <a:latin typeface="Raleway"/>
                <a:ea typeface="Raleway"/>
                <a:cs typeface="Raleway"/>
                <a:sym typeface="Raleway"/>
              </a:rPr>
              <a:t>4.</a:t>
            </a:r>
            <a:r>
              <a:rPr b="1" lang="en" sz="1800">
                <a:solidFill>
                  <a:schemeClr val="lt1"/>
                </a:solidFill>
                <a:latin typeface="Raleway"/>
                <a:ea typeface="Raleway"/>
                <a:cs typeface="Raleway"/>
                <a:sym typeface="Raleway"/>
              </a:rPr>
              <a:t> Berikut adalah macam - macam prototypes berdasarkan kompleksitas teknologi, kecuali…</a:t>
            </a:r>
            <a:endParaRPr b="1" sz="1800">
              <a:solidFill>
                <a:schemeClr val="lt1"/>
              </a:solidFill>
              <a:latin typeface="Raleway"/>
              <a:ea typeface="Raleway"/>
              <a:cs typeface="Raleway"/>
              <a:sym typeface="Raleway"/>
            </a:endParaRPr>
          </a:p>
          <a:p>
            <a:pPr indent="0" lvl="0" marL="0" rtl="0" algn="l">
              <a:lnSpc>
                <a:spcPct val="115000"/>
              </a:lnSpc>
              <a:spcBef>
                <a:spcPts val="0"/>
              </a:spcBef>
              <a:spcAft>
                <a:spcPts val="0"/>
              </a:spcAft>
              <a:buNone/>
            </a:pPr>
            <a:r>
              <a:t/>
            </a:r>
            <a:endParaRPr sz="18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High fidelity prototype</a:t>
            </a:r>
            <a:endParaRPr sz="1200">
              <a:solidFill>
                <a:srgbClr val="A667A5"/>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Low fidelity prototype</a:t>
            </a:r>
            <a:endParaRPr sz="1200">
              <a:solidFill>
                <a:srgbClr val="A667A5"/>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Live data prototype</a:t>
            </a:r>
            <a:endParaRPr sz="1200">
              <a:solidFill>
                <a:srgbClr val="A667A5"/>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a:buAutoNum type="alphaUcPeriod"/>
            </a:pPr>
            <a:r>
              <a:rPr b="1" lang="en" sz="1200">
                <a:solidFill>
                  <a:schemeClr val="lt1"/>
                </a:solidFill>
                <a:latin typeface="Raleway"/>
                <a:ea typeface="Raleway"/>
                <a:cs typeface="Raleway"/>
                <a:sym typeface="Raleway"/>
              </a:rPr>
              <a:t>Video prototype</a:t>
            </a:r>
            <a:endParaRPr b="1" sz="1200">
              <a:solidFill>
                <a:schemeClr val="lt1"/>
              </a:solidFill>
              <a:latin typeface="Raleway"/>
              <a:ea typeface="Raleway"/>
              <a:cs typeface="Raleway"/>
              <a:sym typeface="Raleway"/>
            </a:endParaRPr>
          </a:p>
        </p:txBody>
      </p:sp>
      <p:sp>
        <p:nvSpPr>
          <p:cNvPr id="471" name="Google Shape;471;p66"/>
          <p:cNvSpPr/>
          <p:nvPr/>
        </p:nvSpPr>
        <p:spPr>
          <a:xfrm>
            <a:off x="685800" y="3491174"/>
            <a:ext cx="7772400" cy="595200"/>
          </a:xfrm>
          <a:prstGeom prst="rect">
            <a:avLst/>
          </a:prstGeom>
          <a:solidFill>
            <a:srgbClr val="F2AB2F"/>
          </a:solid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sz="1000">
                <a:solidFill>
                  <a:srgbClr val="733572"/>
                </a:solidFill>
                <a:latin typeface="Raleway"/>
                <a:ea typeface="Raleway"/>
                <a:cs typeface="Raleway"/>
                <a:sym typeface="Raleway"/>
              </a:rPr>
              <a:t>Video </a:t>
            </a:r>
            <a:r>
              <a:rPr b="1" lang="en" sz="1000">
                <a:solidFill>
                  <a:srgbClr val="733572"/>
                </a:solidFill>
                <a:latin typeface="Raleway"/>
                <a:ea typeface="Raleway"/>
                <a:cs typeface="Raleway"/>
                <a:sym typeface="Raleway"/>
              </a:rPr>
              <a:t>prototype</a:t>
            </a:r>
            <a:r>
              <a:rPr b="1" lang="en" sz="1000">
                <a:solidFill>
                  <a:srgbClr val="733572"/>
                </a:solidFill>
                <a:latin typeface="Raleway"/>
                <a:ea typeface="Raleway"/>
                <a:cs typeface="Raleway"/>
                <a:sym typeface="Raleway"/>
              </a:rPr>
              <a:t> adalah macam prototype yang dibedakan oleh alat yang digunakan.</a:t>
            </a:r>
            <a:endParaRPr b="1" sz="1000">
              <a:solidFill>
                <a:srgbClr val="733572"/>
              </a:solidFill>
              <a:latin typeface="Raleway"/>
              <a:ea typeface="Raleway"/>
              <a:cs typeface="Raleway"/>
              <a:sym typeface="Raleway"/>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5" name="Shape 475"/>
        <p:cNvGrpSpPr/>
        <p:nvPr/>
      </p:nvGrpSpPr>
      <p:grpSpPr>
        <a:xfrm>
          <a:off x="0" y="0"/>
          <a:ext cx="0" cy="0"/>
          <a:chOff x="0" y="0"/>
          <a:chExt cx="0" cy="0"/>
        </a:xfrm>
      </p:grpSpPr>
      <p:sp>
        <p:nvSpPr>
          <p:cNvPr id="476" name="Google Shape;476;p67"/>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Quiz</a:t>
            </a:r>
            <a:endParaRPr/>
          </a:p>
        </p:txBody>
      </p:sp>
      <p:sp>
        <p:nvSpPr>
          <p:cNvPr id="477" name="Google Shape;477;p67"/>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2800">
                <a:solidFill>
                  <a:schemeClr val="accent1"/>
                </a:solidFill>
                <a:latin typeface="Raleway"/>
                <a:ea typeface="Raleway"/>
                <a:cs typeface="Raleway"/>
                <a:sym typeface="Raleway"/>
              </a:rPr>
              <a:t>5</a:t>
            </a:r>
            <a:r>
              <a:rPr b="1" lang="en" sz="2800">
                <a:solidFill>
                  <a:schemeClr val="accent1"/>
                </a:solidFill>
                <a:latin typeface="Raleway"/>
                <a:ea typeface="Raleway"/>
                <a:cs typeface="Raleway"/>
                <a:sym typeface="Raleway"/>
              </a:rPr>
              <a:t>.</a:t>
            </a:r>
            <a:r>
              <a:rPr b="1" lang="en" sz="1800">
                <a:solidFill>
                  <a:schemeClr val="lt1"/>
                </a:solidFill>
                <a:latin typeface="Raleway"/>
                <a:ea typeface="Raleway"/>
                <a:cs typeface="Raleway"/>
                <a:sym typeface="Raleway"/>
              </a:rPr>
              <a:t> Kegunaan utama low fidelity prototype adalah...</a:t>
            </a:r>
            <a:endParaRPr b="1" sz="1800">
              <a:solidFill>
                <a:schemeClr val="lt1"/>
              </a:solidFill>
              <a:latin typeface="Raleway"/>
              <a:ea typeface="Raleway"/>
              <a:cs typeface="Raleway"/>
              <a:sym typeface="Raleway"/>
            </a:endParaRPr>
          </a:p>
          <a:p>
            <a:pPr indent="0" lvl="0" marL="0" rtl="0" algn="l">
              <a:lnSpc>
                <a:spcPct val="115000"/>
              </a:lnSpc>
              <a:spcBef>
                <a:spcPts val="0"/>
              </a:spcBef>
              <a:spcAft>
                <a:spcPts val="0"/>
              </a:spcAft>
              <a:buNone/>
            </a:pPr>
            <a:r>
              <a:t/>
            </a:r>
            <a:endParaRPr sz="18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Sebagai wireframe</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Menguji alur kerja</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M</a:t>
            </a:r>
            <a:r>
              <a:rPr lang="en" sz="1200">
                <a:solidFill>
                  <a:schemeClr val="lt1"/>
                </a:solidFill>
                <a:latin typeface="Raleway Medium"/>
                <a:ea typeface="Raleway Medium"/>
                <a:cs typeface="Raleway Medium"/>
                <a:sym typeface="Raleway Medium"/>
              </a:rPr>
              <a:t>engidentifikasi masalah kegunaan lebih awal</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Menunjukkan model yang realistis</a:t>
            </a:r>
            <a:endParaRPr sz="1200">
              <a:solidFill>
                <a:schemeClr val="lt1"/>
              </a:solidFill>
              <a:latin typeface="Raleway Medium"/>
              <a:ea typeface="Raleway Medium"/>
              <a:cs typeface="Raleway Medium"/>
              <a:sym typeface="Raleway Medium"/>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1" name="Shape 481"/>
        <p:cNvGrpSpPr/>
        <p:nvPr/>
      </p:nvGrpSpPr>
      <p:grpSpPr>
        <a:xfrm>
          <a:off x="0" y="0"/>
          <a:ext cx="0" cy="0"/>
          <a:chOff x="0" y="0"/>
          <a:chExt cx="0" cy="0"/>
        </a:xfrm>
      </p:grpSpPr>
      <p:sp>
        <p:nvSpPr>
          <p:cNvPr id="482" name="Google Shape;482;p68"/>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Quiz</a:t>
            </a:r>
            <a:endParaRPr/>
          </a:p>
        </p:txBody>
      </p:sp>
      <p:sp>
        <p:nvSpPr>
          <p:cNvPr id="483" name="Google Shape;483;p68"/>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2800">
                <a:solidFill>
                  <a:schemeClr val="accent1"/>
                </a:solidFill>
                <a:latin typeface="Raleway"/>
                <a:ea typeface="Raleway"/>
                <a:cs typeface="Raleway"/>
                <a:sym typeface="Raleway"/>
              </a:rPr>
              <a:t>5.</a:t>
            </a:r>
            <a:r>
              <a:rPr b="1" lang="en" sz="1800">
                <a:solidFill>
                  <a:schemeClr val="lt1"/>
                </a:solidFill>
                <a:latin typeface="Raleway"/>
                <a:ea typeface="Raleway"/>
                <a:cs typeface="Raleway"/>
                <a:sym typeface="Raleway"/>
              </a:rPr>
              <a:t> Kegunaan utama low fidelity prototype adalah...</a:t>
            </a:r>
            <a:endParaRPr b="1" sz="1800">
              <a:solidFill>
                <a:schemeClr val="lt1"/>
              </a:solidFill>
              <a:latin typeface="Raleway"/>
              <a:ea typeface="Raleway"/>
              <a:cs typeface="Raleway"/>
              <a:sym typeface="Raleway"/>
            </a:endParaRPr>
          </a:p>
          <a:p>
            <a:pPr indent="0" lvl="0" marL="0" rtl="0" algn="l">
              <a:lnSpc>
                <a:spcPct val="115000"/>
              </a:lnSpc>
              <a:spcBef>
                <a:spcPts val="0"/>
              </a:spcBef>
              <a:spcAft>
                <a:spcPts val="0"/>
              </a:spcAft>
              <a:buNone/>
            </a:pPr>
            <a:r>
              <a:t/>
            </a:r>
            <a:endParaRPr sz="18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Sebagai wireframe</a:t>
            </a:r>
            <a:endParaRPr sz="1200">
              <a:solidFill>
                <a:srgbClr val="A667A5"/>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Menguji alur kerja</a:t>
            </a:r>
            <a:endParaRPr sz="1200">
              <a:solidFill>
                <a:srgbClr val="A667A5"/>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Mengidentifikasi masalah kegunaan lebih awal</a:t>
            </a:r>
            <a:endParaRPr sz="1200">
              <a:solidFill>
                <a:srgbClr val="A667A5"/>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a:buAutoNum type="alphaUcPeriod"/>
            </a:pPr>
            <a:r>
              <a:rPr b="1" lang="en" sz="1200">
                <a:solidFill>
                  <a:schemeClr val="lt1"/>
                </a:solidFill>
                <a:latin typeface="Raleway"/>
                <a:ea typeface="Raleway"/>
                <a:cs typeface="Raleway"/>
                <a:sym typeface="Raleway"/>
              </a:rPr>
              <a:t>Menunjukkan model yang realistis</a:t>
            </a:r>
            <a:endParaRPr b="1" sz="1200">
              <a:solidFill>
                <a:schemeClr val="lt1"/>
              </a:solidFill>
              <a:latin typeface="Raleway"/>
              <a:ea typeface="Raleway"/>
              <a:cs typeface="Raleway"/>
              <a:sym typeface="Raleway"/>
            </a:endParaRPr>
          </a:p>
        </p:txBody>
      </p:sp>
      <p:sp>
        <p:nvSpPr>
          <p:cNvPr id="484" name="Google Shape;484;p68"/>
          <p:cNvSpPr/>
          <p:nvPr/>
        </p:nvSpPr>
        <p:spPr>
          <a:xfrm>
            <a:off x="685800" y="3186374"/>
            <a:ext cx="7772400" cy="595200"/>
          </a:xfrm>
          <a:prstGeom prst="rect">
            <a:avLst/>
          </a:prstGeom>
          <a:solidFill>
            <a:srgbClr val="F2AB2F"/>
          </a:solid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sz="1000">
                <a:solidFill>
                  <a:srgbClr val="733572"/>
                </a:solidFill>
                <a:latin typeface="Raleway"/>
                <a:ea typeface="Raleway"/>
                <a:cs typeface="Raleway"/>
                <a:sym typeface="Raleway"/>
              </a:rPr>
              <a:t>Menunjukkan model yang realistis adalah salah satu kegunaan dari high fidelity prototypes.</a:t>
            </a:r>
            <a:endParaRPr b="1" sz="1000">
              <a:solidFill>
                <a:srgbClr val="733572"/>
              </a:solidFill>
              <a:latin typeface="Raleway"/>
              <a:ea typeface="Raleway"/>
              <a:cs typeface="Raleway"/>
              <a:sym typeface="Raleway"/>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8" name="Shape 488"/>
        <p:cNvGrpSpPr/>
        <p:nvPr/>
      </p:nvGrpSpPr>
      <p:grpSpPr>
        <a:xfrm>
          <a:off x="0" y="0"/>
          <a:ext cx="0" cy="0"/>
          <a:chOff x="0" y="0"/>
          <a:chExt cx="0" cy="0"/>
        </a:xfrm>
      </p:grpSpPr>
      <p:sp>
        <p:nvSpPr>
          <p:cNvPr id="489" name="Google Shape;489;p69"/>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Quiz</a:t>
            </a:r>
            <a:endParaRPr/>
          </a:p>
        </p:txBody>
      </p:sp>
      <p:sp>
        <p:nvSpPr>
          <p:cNvPr id="490" name="Google Shape;490;p69"/>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2800">
                <a:solidFill>
                  <a:schemeClr val="accent1"/>
                </a:solidFill>
                <a:latin typeface="Raleway"/>
                <a:ea typeface="Raleway"/>
                <a:cs typeface="Raleway"/>
                <a:sym typeface="Raleway"/>
              </a:rPr>
              <a:t>6</a:t>
            </a:r>
            <a:r>
              <a:rPr b="1" lang="en" sz="2800">
                <a:solidFill>
                  <a:schemeClr val="accent1"/>
                </a:solidFill>
                <a:latin typeface="Raleway"/>
                <a:ea typeface="Raleway"/>
                <a:cs typeface="Raleway"/>
                <a:sym typeface="Raleway"/>
              </a:rPr>
              <a:t>.</a:t>
            </a:r>
            <a:r>
              <a:rPr b="1" lang="en" sz="1800">
                <a:solidFill>
                  <a:schemeClr val="lt1"/>
                </a:solidFill>
                <a:latin typeface="Raleway"/>
                <a:ea typeface="Raleway"/>
                <a:cs typeface="Raleway"/>
                <a:sym typeface="Raleway"/>
              </a:rPr>
              <a:t> Berikut adalah kegunaan - kegunaan Figma, kecuali...</a:t>
            </a:r>
            <a:endParaRPr b="1" sz="1800">
              <a:solidFill>
                <a:schemeClr val="lt1"/>
              </a:solidFill>
              <a:latin typeface="Raleway"/>
              <a:ea typeface="Raleway"/>
              <a:cs typeface="Raleway"/>
              <a:sym typeface="Raleway"/>
            </a:endParaRPr>
          </a:p>
          <a:p>
            <a:pPr indent="0" lvl="0" marL="0" rtl="0" algn="l">
              <a:lnSpc>
                <a:spcPct val="115000"/>
              </a:lnSpc>
              <a:spcBef>
                <a:spcPts val="0"/>
              </a:spcBef>
              <a:spcAft>
                <a:spcPts val="0"/>
              </a:spcAft>
              <a:buNone/>
            </a:pPr>
            <a:r>
              <a:t/>
            </a:r>
            <a:endParaRPr sz="18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Wireframing</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Membuat vector</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Membuat video</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Prototyping</a:t>
            </a:r>
            <a:endParaRPr sz="1200">
              <a:solidFill>
                <a:schemeClr val="lt1"/>
              </a:solidFill>
              <a:latin typeface="Raleway Medium"/>
              <a:ea typeface="Raleway Medium"/>
              <a:cs typeface="Raleway Medium"/>
              <a:sym typeface="Raleway Medium"/>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4" name="Shape 494"/>
        <p:cNvGrpSpPr/>
        <p:nvPr/>
      </p:nvGrpSpPr>
      <p:grpSpPr>
        <a:xfrm>
          <a:off x="0" y="0"/>
          <a:ext cx="0" cy="0"/>
          <a:chOff x="0" y="0"/>
          <a:chExt cx="0" cy="0"/>
        </a:xfrm>
      </p:grpSpPr>
      <p:sp>
        <p:nvSpPr>
          <p:cNvPr id="495" name="Google Shape;495;p70"/>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Quiz</a:t>
            </a:r>
            <a:endParaRPr/>
          </a:p>
        </p:txBody>
      </p:sp>
      <p:sp>
        <p:nvSpPr>
          <p:cNvPr id="496" name="Google Shape;496;p70"/>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2800">
                <a:solidFill>
                  <a:schemeClr val="accent1"/>
                </a:solidFill>
                <a:latin typeface="Raleway"/>
                <a:ea typeface="Raleway"/>
                <a:cs typeface="Raleway"/>
                <a:sym typeface="Raleway"/>
              </a:rPr>
              <a:t>6.</a:t>
            </a:r>
            <a:r>
              <a:rPr b="1" lang="en" sz="1800">
                <a:solidFill>
                  <a:schemeClr val="lt1"/>
                </a:solidFill>
                <a:latin typeface="Raleway"/>
                <a:ea typeface="Raleway"/>
                <a:cs typeface="Raleway"/>
                <a:sym typeface="Raleway"/>
              </a:rPr>
              <a:t> Berikut adalah kegunaan - kegunaan Figma, kecuali...</a:t>
            </a:r>
            <a:endParaRPr b="1" sz="1800">
              <a:solidFill>
                <a:schemeClr val="lt1"/>
              </a:solidFill>
              <a:latin typeface="Raleway"/>
              <a:ea typeface="Raleway"/>
              <a:cs typeface="Raleway"/>
              <a:sym typeface="Raleway"/>
            </a:endParaRPr>
          </a:p>
          <a:p>
            <a:pPr indent="0" lvl="0" marL="0" rtl="0" algn="l">
              <a:lnSpc>
                <a:spcPct val="115000"/>
              </a:lnSpc>
              <a:spcBef>
                <a:spcPts val="0"/>
              </a:spcBef>
              <a:spcAft>
                <a:spcPts val="0"/>
              </a:spcAft>
              <a:buNone/>
            </a:pPr>
            <a:r>
              <a:t/>
            </a:r>
            <a:endParaRPr sz="1800">
              <a:solidFill>
                <a:srgbClr val="A667A5"/>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Wireframing</a:t>
            </a:r>
            <a:endParaRPr sz="1200">
              <a:solidFill>
                <a:srgbClr val="A667A5"/>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Membuat vector</a:t>
            </a:r>
            <a:endParaRPr sz="1200">
              <a:solidFill>
                <a:srgbClr val="A667A5"/>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a:buAutoNum type="alphaUcPeriod"/>
            </a:pPr>
            <a:r>
              <a:rPr b="1" lang="en" sz="1200">
                <a:solidFill>
                  <a:schemeClr val="lt1"/>
                </a:solidFill>
                <a:latin typeface="Raleway"/>
                <a:ea typeface="Raleway"/>
                <a:cs typeface="Raleway"/>
                <a:sym typeface="Raleway"/>
              </a:rPr>
              <a:t>Membuat video</a:t>
            </a:r>
            <a:endParaRPr b="1" sz="1200">
              <a:solidFill>
                <a:schemeClr val="lt1"/>
              </a:solidFill>
              <a:latin typeface="Raleway"/>
              <a:ea typeface="Raleway"/>
              <a:cs typeface="Raleway"/>
              <a:sym typeface="Raleway"/>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Prototyping</a:t>
            </a:r>
            <a:endParaRPr sz="1200">
              <a:solidFill>
                <a:srgbClr val="A667A5"/>
              </a:solidFill>
              <a:latin typeface="Raleway Medium"/>
              <a:ea typeface="Raleway Medium"/>
              <a:cs typeface="Raleway Medium"/>
              <a:sym typeface="Raleway Medium"/>
            </a:endParaRPr>
          </a:p>
        </p:txBody>
      </p:sp>
      <p:sp>
        <p:nvSpPr>
          <p:cNvPr id="497" name="Google Shape;497;p70"/>
          <p:cNvSpPr/>
          <p:nvPr/>
        </p:nvSpPr>
        <p:spPr>
          <a:xfrm>
            <a:off x="685800" y="3186374"/>
            <a:ext cx="7772400" cy="595200"/>
          </a:xfrm>
          <a:prstGeom prst="rect">
            <a:avLst/>
          </a:prstGeom>
          <a:solidFill>
            <a:srgbClr val="F2AB2F"/>
          </a:solid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sz="1000">
                <a:solidFill>
                  <a:srgbClr val="733572"/>
                </a:solidFill>
                <a:latin typeface="Raleway"/>
                <a:ea typeface="Raleway"/>
                <a:cs typeface="Raleway"/>
                <a:sym typeface="Raleway"/>
              </a:rPr>
              <a:t>Kita dapat membuat sebuah prototype frame - by - frame dalam figma, akan tetapi kita tidak mengedit video dan mengolah video dalam Figma.</a:t>
            </a:r>
            <a:endParaRPr b="1" sz="1000">
              <a:solidFill>
                <a:srgbClr val="733572"/>
              </a:solidFill>
              <a:latin typeface="Raleway"/>
              <a:ea typeface="Raleway"/>
              <a:cs typeface="Raleway"/>
              <a:sym typeface="Raleway"/>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1" name="Shape 501"/>
        <p:cNvGrpSpPr/>
        <p:nvPr/>
      </p:nvGrpSpPr>
      <p:grpSpPr>
        <a:xfrm>
          <a:off x="0" y="0"/>
          <a:ext cx="0" cy="0"/>
          <a:chOff x="0" y="0"/>
          <a:chExt cx="0" cy="0"/>
        </a:xfrm>
      </p:grpSpPr>
      <p:sp>
        <p:nvSpPr>
          <p:cNvPr id="502" name="Google Shape;502;p71"/>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03" name="Google Shape;503;p71"/>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Referensi dan bacaan lebih lanjut</a:t>
            </a:r>
            <a:endParaRPr/>
          </a:p>
        </p:txBody>
      </p:sp>
      <p:pic>
        <p:nvPicPr>
          <p:cNvPr id="504" name="Google Shape;504;p71"/>
          <p:cNvPicPr preferRelativeResize="0"/>
          <p:nvPr/>
        </p:nvPicPr>
        <p:blipFill rotWithShape="1">
          <a:blip r:embed="rId3">
            <a:alphaModFix/>
          </a:blip>
          <a:srcRect b="0" l="0" r="0" t="0"/>
          <a:stretch/>
        </p:blipFill>
        <p:spPr>
          <a:xfrm>
            <a:off x="5638796" y="1097113"/>
            <a:ext cx="2743199" cy="3511629"/>
          </a:xfrm>
          <a:prstGeom prst="rect">
            <a:avLst/>
          </a:prstGeom>
          <a:noFill/>
          <a:ln>
            <a:noFill/>
          </a:ln>
        </p:spPr>
      </p:pic>
      <p:sp>
        <p:nvSpPr>
          <p:cNvPr id="505" name="Google Shape;505;p71"/>
          <p:cNvSpPr txBox="1"/>
          <p:nvPr/>
        </p:nvSpPr>
        <p:spPr>
          <a:xfrm>
            <a:off x="685800" y="1024128"/>
            <a:ext cx="4114800" cy="36576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1600"/>
              </a:spcBef>
              <a:spcAft>
                <a:spcPts val="0"/>
              </a:spcAft>
              <a:buClr>
                <a:srgbClr val="000000"/>
              </a:buClr>
              <a:buSzPts val="1400"/>
              <a:buFont typeface="Arial"/>
              <a:buNone/>
            </a:pPr>
            <a:r>
              <a:rPr b="1" lang="en" sz="1800">
                <a:solidFill>
                  <a:srgbClr val="743673"/>
                </a:solidFill>
                <a:highlight>
                  <a:schemeClr val="lt1"/>
                </a:highlight>
                <a:latin typeface="Raleway"/>
                <a:ea typeface="Raleway"/>
                <a:cs typeface="Raleway"/>
                <a:sym typeface="Raleway"/>
              </a:rPr>
              <a:t>Referensi dan bacaan lebih lanjut</a:t>
            </a:r>
            <a:endParaRPr b="1" sz="1800">
              <a:solidFill>
                <a:srgbClr val="743673"/>
              </a:solidFill>
              <a:highlight>
                <a:schemeClr val="lt1"/>
              </a:highlight>
              <a:latin typeface="Raleway"/>
              <a:ea typeface="Raleway"/>
              <a:cs typeface="Raleway"/>
              <a:sym typeface="Raleway"/>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1) </a:t>
            </a:r>
            <a:r>
              <a:rPr lang="en" sz="1200" u="sng">
                <a:solidFill>
                  <a:schemeClr val="hlink"/>
                </a:solidFill>
                <a:latin typeface="Raleway Medium"/>
                <a:ea typeface="Raleway Medium"/>
                <a:cs typeface="Raleway Medium"/>
                <a:sym typeface="Raleway Medium"/>
                <a:hlinkClick r:id="rId4"/>
              </a:rPr>
              <a:t>Design Thinking by Interaction Design Foundation</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2) </a:t>
            </a:r>
            <a:r>
              <a:rPr lang="en" sz="1200" u="sng">
                <a:solidFill>
                  <a:schemeClr val="hlink"/>
                </a:solidFill>
                <a:latin typeface="Raleway Medium"/>
                <a:ea typeface="Raleway Medium"/>
                <a:cs typeface="Raleway Medium"/>
                <a:sym typeface="Raleway Medium"/>
                <a:hlinkClick r:id="rId5"/>
              </a:rPr>
              <a:t>5 Stages in The Design Thinking Process by Interaction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hlink"/>
                </a:solidFill>
                <a:uFill>
                  <a:noFill/>
                </a:uFill>
                <a:latin typeface="Raleway Medium"/>
                <a:ea typeface="Raleway Medium"/>
                <a:cs typeface="Raleway Medium"/>
                <a:sym typeface="Raleway Medium"/>
                <a:hlinkClick r:id="rId6"/>
              </a:rPr>
              <a:t>    </a:t>
            </a:r>
            <a:r>
              <a:rPr lang="en" sz="1200" u="sng">
                <a:solidFill>
                  <a:schemeClr val="hlink"/>
                </a:solidFill>
                <a:latin typeface="Raleway Medium"/>
                <a:ea typeface="Raleway Medium"/>
                <a:cs typeface="Raleway Medium"/>
                <a:sym typeface="Raleway Medium"/>
                <a:hlinkClick r:id="rId7"/>
              </a:rPr>
              <a:t>Design Foundation</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3) </a:t>
            </a:r>
            <a:r>
              <a:rPr lang="en" sz="1200" u="sng">
                <a:solidFill>
                  <a:schemeClr val="hlink"/>
                </a:solidFill>
                <a:latin typeface="Raleway Medium"/>
                <a:ea typeface="Raleway Medium"/>
                <a:cs typeface="Raleway Medium"/>
                <a:sym typeface="Raleway Medium"/>
                <a:hlinkClick r:id="rId8"/>
              </a:rPr>
              <a:t>Prototyping by Interaction Design Foundation</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4) </a:t>
            </a:r>
            <a:r>
              <a:rPr lang="en" sz="1200" u="sng">
                <a:solidFill>
                  <a:schemeClr val="hlink"/>
                </a:solidFill>
                <a:latin typeface="Raleway Medium"/>
                <a:ea typeface="Raleway Medium"/>
                <a:cs typeface="Raleway Medium"/>
                <a:sym typeface="Raleway Medium"/>
                <a:hlinkClick r:id="rId9"/>
              </a:rPr>
              <a:t>Stage 4 in the Design Thinking Process: Prototype by</a:t>
            </a:r>
            <a:endParaRPr/>
          </a:p>
          <a:p>
            <a:pPr indent="0" lvl="0" marL="0" rtl="0" algn="l">
              <a:lnSpc>
                <a:spcPct val="115000"/>
              </a:lnSpc>
              <a:spcBef>
                <a:spcPts val="0"/>
              </a:spcBef>
              <a:spcAft>
                <a:spcPts val="0"/>
              </a:spcAft>
              <a:buNone/>
            </a:pPr>
            <a:r>
              <a:rPr lang="en"/>
              <a:t>   </a:t>
            </a:r>
            <a:r>
              <a:rPr lang="en" sz="1200" u="sng">
                <a:solidFill>
                  <a:schemeClr val="hlink"/>
                </a:solidFill>
                <a:latin typeface="Raleway Medium"/>
                <a:ea typeface="Raleway Medium"/>
                <a:cs typeface="Raleway Medium"/>
                <a:sym typeface="Raleway Medium"/>
                <a:hlinkClick r:id="rId10"/>
              </a:rPr>
              <a:t> Interaction Design Foundation</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5) </a:t>
            </a:r>
            <a:r>
              <a:rPr lang="en" sz="1200" u="sng">
                <a:solidFill>
                  <a:schemeClr val="hlink"/>
                </a:solidFill>
                <a:latin typeface="Raleway Medium"/>
                <a:ea typeface="Raleway Medium"/>
                <a:cs typeface="Raleway Medium"/>
                <a:sym typeface="Raleway Medium"/>
                <a:hlinkClick r:id="rId11"/>
              </a:rPr>
              <a:t>Design Thinking Phase 4 - Everything you Need to </a:t>
            </a:r>
            <a:endParaRPr/>
          </a:p>
          <a:p>
            <a:pPr indent="0" lvl="0" marL="0" rtl="0" algn="l">
              <a:lnSpc>
                <a:spcPct val="115000"/>
              </a:lnSpc>
              <a:spcBef>
                <a:spcPts val="0"/>
              </a:spcBef>
              <a:spcAft>
                <a:spcPts val="0"/>
              </a:spcAft>
              <a:buNone/>
            </a:pPr>
            <a:r>
              <a:rPr lang="en"/>
              <a:t>   </a:t>
            </a:r>
            <a:r>
              <a:rPr lang="en" sz="1200" u="sng">
                <a:solidFill>
                  <a:schemeClr val="hlink"/>
                </a:solidFill>
                <a:latin typeface="Raleway Medium"/>
                <a:ea typeface="Raleway Medium"/>
                <a:cs typeface="Raleway Medium"/>
                <a:sym typeface="Raleway Medium"/>
                <a:hlinkClick r:id="rId12"/>
              </a:rPr>
              <a:t>Know About Prototyping by workshopper.com</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6) </a:t>
            </a:r>
            <a:r>
              <a:rPr lang="en" sz="1200" u="sng">
                <a:solidFill>
                  <a:schemeClr val="hlink"/>
                </a:solidFill>
                <a:latin typeface="Raleway Medium"/>
                <a:ea typeface="Raleway Medium"/>
                <a:cs typeface="Raleway Medium"/>
                <a:sym typeface="Raleway Medium"/>
                <a:hlinkClick r:id="rId13"/>
              </a:rPr>
              <a:t>The 4 different types of product prototypes by Reforge</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7) </a:t>
            </a:r>
            <a:r>
              <a:rPr lang="en" sz="1200" u="sng">
                <a:solidFill>
                  <a:schemeClr val="hlink"/>
                </a:solidFill>
                <a:latin typeface="Raleway Medium"/>
                <a:ea typeface="Raleway Medium"/>
                <a:cs typeface="Raleway Medium"/>
                <a:sym typeface="Raleway Medium"/>
                <a:hlinkClick r:id="rId14"/>
              </a:rPr>
              <a:t>Introduction to Figma by Adi Purdila on envatotuts+ </a:t>
            </a:r>
            <a:endParaRPr sz="1200">
              <a:solidFill>
                <a:schemeClr val="dk1"/>
              </a:solidFill>
              <a:latin typeface="Raleway Medium"/>
              <a:ea typeface="Raleway Medium"/>
              <a:cs typeface="Raleway Medium"/>
              <a:sym typeface="Raleway Medium"/>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733572"/>
        </a:solidFill>
      </p:bgPr>
    </p:bg>
    <p:spTree>
      <p:nvGrpSpPr>
        <p:cNvPr id="509" name="Shape 509"/>
        <p:cNvGrpSpPr/>
        <p:nvPr/>
      </p:nvGrpSpPr>
      <p:grpSpPr>
        <a:xfrm>
          <a:off x="0" y="0"/>
          <a:ext cx="0" cy="0"/>
          <a:chOff x="0" y="0"/>
          <a:chExt cx="0" cy="0"/>
        </a:xfrm>
      </p:grpSpPr>
      <p:sp>
        <p:nvSpPr>
          <p:cNvPr id="510" name="Google Shape;510;p72"/>
          <p:cNvSpPr/>
          <p:nvPr/>
        </p:nvSpPr>
        <p:spPr>
          <a:xfrm>
            <a:off x="4031975" y="2179724"/>
            <a:ext cx="2448300" cy="2448300"/>
          </a:xfrm>
          <a:prstGeom prst="ellipse">
            <a:avLst/>
          </a:prstGeom>
          <a:solidFill>
            <a:srgbClr val="5E2B62">
              <a:alpha val="43920"/>
            </a:srgbClr>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511" name="Google Shape;511;p72"/>
          <p:cNvSpPr/>
          <p:nvPr/>
        </p:nvSpPr>
        <p:spPr>
          <a:xfrm>
            <a:off x="2880172" y="732662"/>
            <a:ext cx="3058800" cy="3058800"/>
          </a:xfrm>
          <a:prstGeom prst="ellipse">
            <a:avLst/>
          </a:prstGeom>
          <a:solidFill>
            <a:srgbClr val="5E2B62">
              <a:alpha val="43920"/>
            </a:srgbClr>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512" name="Google Shape;512;p72"/>
          <p:cNvSpPr/>
          <p:nvPr/>
        </p:nvSpPr>
        <p:spPr>
          <a:xfrm>
            <a:off x="1580031" y="515479"/>
            <a:ext cx="3493200" cy="3493200"/>
          </a:xfrm>
          <a:prstGeom prst="ellipse">
            <a:avLst/>
          </a:prstGeom>
          <a:solidFill>
            <a:srgbClr val="5E2B62">
              <a:alpha val="43920"/>
            </a:srgbClr>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513" name="Google Shape;513;p72"/>
          <p:cNvSpPr/>
          <p:nvPr/>
        </p:nvSpPr>
        <p:spPr>
          <a:xfrm>
            <a:off x="4787172" y="1388640"/>
            <a:ext cx="2776800" cy="2776800"/>
          </a:xfrm>
          <a:prstGeom prst="ellipse">
            <a:avLst/>
          </a:prstGeom>
          <a:solidFill>
            <a:srgbClr val="5E2B62">
              <a:alpha val="60780"/>
            </a:srgbClr>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514" name="Google Shape;514;p72"/>
          <p:cNvSpPr/>
          <p:nvPr/>
        </p:nvSpPr>
        <p:spPr>
          <a:xfrm>
            <a:off x="1752271" y="1608981"/>
            <a:ext cx="2795700" cy="623400"/>
          </a:xfrm>
          <a:prstGeom prst="rect">
            <a:avLst/>
          </a:prstGeom>
          <a:noFill/>
          <a:ln>
            <a:noFill/>
          </a:ln>
        </p:spPr>
        <p:txBody>
          <a:bodyPr anchorCtr="0" anchor="t" bIns="34275" lIns="68575" spcFirstLastPara="1" rIns="68575" wrap="square" tIns="34275">
            <a:noAutofit/>
          </a:bodyPr>
          <a:lstStyle/>
          <a:p>
            <a:pPr indent="0" lvl="0" marL="0" marR="0" rtl="0" algn="r">
              <a:lnSpc>
                <a:spcPct val="100000"/>
              </a:lnSpc>
              <a:spcBef>
                <a:spcPts val="0"/>
              </a:spcBef>
              <a:spcAft>
                <a:spcPts val="0"/>
              </a:spcAft>
              <a:buClr>
                <a:srgbClr val="F2AB2F"/>
              </a:buClr>
              <a:buSzPts val="3600"/>
              <a:buFont typeface="Montserrat"/>
              <a:buNone/>
            </a:pPr>
            <a:r>
              <a:rPr b="1" lang="en" sz="3600">
                <a:solidFill>
                  <a:srgbClr val="F2AB2F"/>
                </a:solidFill>
                <a:latin typeface="Montserrat"/>
                <a:ea typeface="Montserrat"/>
                <a:cs typeface="Montserrat"/>
                <a:sym typeface="Montserrat"/>
              </a:rPr>
              <a:t>TERIMA</a:t>
            </a:r>
            <a:endParaRPr b="1" i="0" sz="3600" u="none" cap="none" strike="noStrike">
              <a:solidFill>
                <a:srgbClr val="F2AB2F"/>
              </a:solidFill>
              <a:latin typeface="Montserrat"/>
              <a:ea typeface="Montserrat"/>
              <a:cs typeface="Montserrat"/>
              <a:sym typeface="Montserrat"/>
            </a:endParaRPr>
          </a:p>
        </p:txBody>
      </p:sp>
      <p:sp>
        <p:nvSpPr>
          <p:cNvPr id="515" name="Google Shape;515;p72"/>
          <p:cNvSpPr/>
          <p:nvPr/>
        </p:nvSpPr>
        <p:spPr>
          <a:xfrm>
            <a:off x="1684821" y="2179714"/>
            <a:ext cx="2795700" cy="623400"/>
          </a:xfrm>
          <a:prstGeom prst="rect">
            <a:avLst/>
          </a:prstGeom>
          <a:noFill/>
          <a:ln>
            <a:noFill/>
          </a:ln>
        </p:spPr>
        <p:txBody>
          <a:bodyPr anchorCtr="0" anchor="t" bIns="34275" lIns="68575" spcFirstLastPara="1" rIns="68575" wrap="square" tIns="34275">
            <a:noAutofit/>
          </a:bodyPr>
          <a:lstStyle/>
          <a:p>
            <a:pPr indent="0" lvl="0" marL="0" marR="0" rtl="0" algn="r">
              <a:lnSpc>
                <a:spcPct val="100000"/>
              </a:lnSpc>
              <a:spcBef>
                <a:spcPts val="0"/>
              </a:spcBef>
              <a:spcAft>
                <a:spcPts val="0"/>
              </a:spcAft>
              <a:buClr>
                <a:srgbClr val="F2AB2F"/>
              </a:buClr>
              <a:buSzPts val="3600"/>
              <a:buFont typeface="Montserrat"/>
              <a:buNone/>
            </a:pPr>
            <a:r>
              <a:rPr b="1" lang="en" sz="3600">
                <a:solidFill>
                  <a:srgbClr val="F2AB2F"/>
                </a:solidFill>
                <a:latin typeface="Montserrat"/>
                <a:ea typeface="Montserrat"/>
                <a:cs typeface="Montserrat"/>
                <a:sym typeface="Montserrat"/>
              </a:rPr>
              <a:t>KASIH</a:t>
            </a:r>
            <a:endParaRPr sz="1100"/>
          </a:p>
        </p:txBody>
      </p:sp>
      <p:pic>
        <p:nvPicPr>
          <p:cNvPr id="516" name="Google Shape;516;p72"/>
          <p:cNvPicPr preferRelativeResize="0"/>
          <p:nvPr/>
        </p:nvPicPr>
        <p:blipFill rotWithShape="1">
          <a:blip r:embed="rId3">
            <a:alphaModFix/>
          </a:blip>
          <a:srcRect b="0" l="0" r="13247" t="0"/>
          <a:stretch/>
        </p:blipFill>
        <p:spPr>
          <a:xfrm>
            <a:off x="5450801" y="1946964"/>
            <a:ext cx="1440495" cy="1660396"/>
          </a:xfrm>
          <a:prstGeom prst="rect">
            <a:avLst/>
          </a:prstGeom>
          <a:noFill/>
          <a:ln>
            <a:noFill/>
          </a:ln>
        </p:spPr>
      </p:pic>
      <p:sp>
        <p:nvSpPr>
          <p:cNvPr id="517" name="Google Shape;517;p72"/>
          <p:cNvSpPr/>
          <p:nvPr/>
        </p:nvSpPr>
        <p:spPr>
          <a:xfrm>
            <a:off x="2000840" y="3114985"/>
            <a:ext cx="1341000" cy="1341000"/>
          </a:xfrm>
          <a:prstGeom prst="ellipse">
            <a:avLst/>
          </a:prstGeom>
          <a:solidFill>
            <a:srgbClr val="5E2B62">
              <a:alpha val="43920"/>
            </a:srgbClr>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