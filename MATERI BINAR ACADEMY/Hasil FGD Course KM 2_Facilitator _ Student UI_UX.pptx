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6858000" cy="9144000"/>
  <p:embeddedFontLst>
    <p:embeddedFont>
      <p:font typeface="Raleway"/>
      <p:regular r:id="rId17"/>
      <p:bold r:id="rId18"/>
      <p:italic r:id="rId19"/>
      <p:boldItalic r:id="rId20"/>
    </p:embeddedFont>
    <p:embeddedFont>
      <p:font typeface="Montserrat"/>
      <p:regular r:id="rId21"/>
      <p:bold r:id="rId22"/>
      <p:italic r:id="rId23"/>
      <p:boldItalic r:id="rId24"/>
    </p:embeddedFont>
    <p:embeddedFont>
      <p:font typeface="Montserrat Medium"/>
      <p:regular r:id="rId25"/>
      <p:bold r:id="rId26"/>
      <p:italic r:id="rId27"/>
      <p:boldItalic r:id="rId28"/>
    </p:embeddedFont>
    <p:embeddedFont>
      <p:font typeface="Lato Black"/>
      <p:bold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22" Type="http://schemas.openxmlformats.org/officeDocument/2006/relationships/font" Target="fonts/Montserrat-bold.fntdata"/><Relationship Id="rId21" Type="http://schemas.openxmlformats.org/officeDocument/2006/relationships/font" Target="fonts/Montserrat-regular.fntdata"/><Relationship Id="rId24" Type="http://schemas.openxmlformats.org/officeDocument/2006/relationships/font" Target="fonts/Montserrat-boldItalic.fntdata"/><Relationship Id="rId23" Type="http://schemas.openxmlformats.org/officeDocument/2006/relationships/font" Target="fonts/Montserrat-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MontserratMedium-bold.fntdata"/><Relationship Id="rId25" Type="http://schemas.openxmlformats.org/officeDocument/2006/relationships/font" Target="fonts/MontserratMedium-regular.fntdata"/><Relationship Id="rId28" Type="http://schemas.openxmlformats.org/officeDocument/2006/relationships/font" Target="fonts/MontserratMedium-boldItalic.fntdata"/><Relationship Id="rId27" Type="http://schemas.openxmlformats.org/officeDocument/2006/relationships/font" Target="fonts/MontserratMedium-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LatoBlack-bold.fntdata"/><Relationship Id="rId7" Type="http://schemas.openxmlformats.org/officeDocument/2006/relationships/slide" Target="slides/slide3.xml"/><Relationship Id="rId8" Type="http://schemas.openxmlformats.org/officeDocument/2006/relationships/slide" Target="slides/slide4.xml"/><Relationship Id="rId30" Type="http://schemas.openxmlformats.org/officeDocument/2006/relationships/font" Target="fonts/LatoBlack-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Raleway-regular.fntdata"/><Relationship Id="rId16" Type="http://schemas.openxmlformats.org/officeDocument/2006/relationships/slide" Target="slides/slide12.xml"/><Relationship Id="rId19" Type="http://schemas.openxmlformats.org/officeDocument/2006/relationships/font" Target="fonts/Raleway-italic.fntdata"/><Relationship Id="rId18" Type="http://schemas.openxmlformats.org/officeDocument/2006/relationships/font" Target="fonts/Raleway-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2d6bf95ed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2d6bf95ed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33f64b511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33f64b511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33f64b511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33f64b511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351bbdb02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351bbdb02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347c0704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347c0704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349a1376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349a1376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33f64b511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33f64b511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351bbdb02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351bbdb0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351bbdb02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351bbdb02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351bbdb02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351bbdb02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7.png"/><Relationship Id="rId6" Type="http://schemas.openxmlformats.org/officeDocument/2006/relationships/image" Target="../media/image3.png"/><Relationship Id="rId7"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77" name="Shape 77"/>
        <p:cNvGrpSpPr/>
        <p:nvPr/>
      </p:nvGrpSpPr>
      <p:grpSpPr>
        <a:xfrm>
          <a:off x="0" y="0"/>
          <a:ext cx="0" cy="0"/>
          <a:chOff x="0" y="0"/>
          <a:chExt cx="0" cy="0"/>
        </a:xfrm>
      </p:grpSpPr>
      <p:sp>
        <p:nvSpPr>
          <p:cNvPr id="78" name="Google Shape;78;p15"/>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Hasil FGD Course KM</a:t>
            </a:r>
            <a:endParaRPr b="1" sz="240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Facilitator &amp; Student UI/UX</a:t>
            </a:r>
            <a:endParaRPr b="1">
              <a:solidFill>
                <a:srgbClr val="FFFFFF"/>
              </a:solidFill>
              <a:latin typeface="Montserrat"/>
              <a:ea typeface="Montserrat"/>
              <a:cs typeface="Montserrat"/>
              <a:sym typeface="Montserrat"/>
            </a:endParaRPr>
          </a:p>
        </p:txBody>
      </p:sp>
      <p:cxnSp>
        <p:nvCxnSpPr>
          <p:cNvPr id="79" name="Google Shape;79;p15"/>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80" name="Google Shape;80;p15"/>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81" name="Google Shape;81;p15"/>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7" name="Google Shape;87;p1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Hasil FGD - UI/UX</a:t>
            </a:r>
            <a:endParaRPr>
              <a:latin typeface="Montserrat"/>
              <a:ea typeface="Montserrat"/>
              <a:cs typeface="Montserrat"/>
              <a:sym typeface="Montserrat"/>
            </a:endParaRPr>
          </a:p>
        </p:txBody>
      </p:sp>
      <p:sp>
        <p:nvSpPr>
          <p:cNvPr id="88" name="Google Shape;88;p16"/>
          <p:cNvSpPr txBox="1"/>
          <p:nvPr/>
        </p:nvSpPr>
        <p:spPr>
          <a:xfrm>
            <a:off x="500550" y="1161150"/>
            <a:ext cx="4218000" cy="28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743673"/>
                </a:solidFill>
                <a:latin typeface="Montserrat"/>
                <a:ea typeface="Montserrat"/>
                <a:cs typeface="Montserrat"/>
                <a:sym typeface="Montserrat"/>
              </a:rPr>
              <a:t>Pengantar</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1000"/>
              </a:spcBef>
              <a:spcAft>
                <a:spcPts val="0"/>
              </a:spcAft>
              <a:buNone/>
            </a:pPr>
            <a:r>
              <a:rPr lang="en" sz="1000">
                <a:solidFill>
                  <a:schemeClr val="dk1"/>
                </a:solidFill>
                <a:latin typeface="Montserrat Medium"/>
                <a:ea typeface="Montserrat Medium"/>
                <a:cs typeface="Montserrat Medium"/>
                <a:sym typeface="Montserrat Medium"/>
              </a:rPr>
              <a:t>Sehubungan dengan Kampus Merdeka Batch 3 yang akan diselenggarakan pada tanggal 23 Juli 2022, maka dari itu perlu adanya peningkatan kualitas baik dari learning journey dan proses pembelajaran di kelas terutama di kelas UI/UX Course.</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1000"/>
              </a:spcBef>
              <a:spcAft>
                <a:spcPts val="0"/>
              </a:spcAft>
              <a:buNone/>
            </a:pPr>
            <a:r>
              <a:rPr lang="en" sz="1000">
                <a:solidFill>
                  <a:schemeClr val="dk1"/>
                </a:solidFill>
                <a:latin typeface="Montserrat Medium"/>
                <a:ea typeface="Montserrat Medium"/>
                <a:cs typeface="Montserrat Medium"/>
                <a:sym typeface="Montserrat Medium"/>
              </a:rPr>
              <a:t>D</a:t>
            </a:r>
            <a:r>
              <a:rPr lang="en" sz="1000">
                <a:solidFill>
                  <a:schemeClr val="dk1"/>
                </a:solidFill>
                <a:latin typeface="Montserrat Medium"/>
                <a:ea typeface="Montserrat Medium"/>
                <a:cs typeface="Montserrat Medium"/>
                <a:sym typeface="Montserrat Medium"/>
              </a:rPr>
              <a:t>eck ini berisi hasil riset ID tentang </a:t>
            </a:r>
            <a:r>
              <a:rPr lang="en" sz="1000">
                <a:solidFill>
                  <a:schemeClr val="dk1"/>
                </a:solidFill>
                <a:latin typeface="Montserrat Medium"/>
                <a:ea typeface="Montserrat Medium"/>
                <a:cs typeface="Montserrat Medium"/>
                <a:sym typeface="Montserrat Medium"/>
              </a:rPr>
              <a:t>course feedback dari student </a:t>
            </a:r>
            <a:r>
              <a:rPr lang="en" sz="1000">
                <a:solidFill>
                  <a:schemeClr val="dk1"/>
                </a:solidFill>
                <a:latin typeface="Montserrat Medium"/>
                <a:ea typeface="Montserrat Medium"/>
                <a:cs typeface="Montserrat Medium"/>
                <a:sym typeface="Montserrat Medium"/>
              </a:rPr>
              <a:t>selama operasional program Kampus Merdeka Batch 2.</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1000"/>
              </a:spcAft>
              <a:buNone/>
            </a:pPr>
            <a:r>
              <a:t/>
            </a:r>
            <a:endParaRPr sz="1000">
              <a:solidFill>
                <a:schemeClr val="dk1"/>
              </a:solidFill>
              <a:latin typeface="Montserrat Medium"/>
              <a:ea typeface="Montserrat Medium"/>
              <a:cs typeface="Montserrat Medium"/>
              <a:sym typeface="Montserrat Medium"/>
            </a:endParaRPr>
          </a:p>
        </p:txBody>
      </p:sp>
      <p:pic>
        <p:nvPicPr>
          <p:cNvPr id="89" name="Google Shape;89;p16"/>
          <p:cNvPicPr preferRelativeResize="0"/>
          <p:nvPr/>
        </p:nvPicPr>
        <p:blipFill>
          <a:blip r:embed="rId3">
            <a:alphaModFix/>
          </a:blip>
          <a:stretch>
            <a:fillRect/>
          </a:stretch>
        </p:blipFill>
        <p:spPr>
          <a:xfrm>
            <a:off x="5720826" y="1097425"/>
            <a:ext cx="2505999" cy="367907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5" name="Google Shape;95;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Course Review - Facilitator</a:t>
            </a:r>
            <a:endParaRPr>
              <a:latin typeface="Montserrat"/>
              <a:ea typeface="Montserrat"/>
              <a:cs typeface="Montserrat"/>
              <a:sym typeface="Montserrat"/>
            </a:endParaRPr>
          </a:p>
        </p:txBody>
      </p:sp>
      <p:pic>
        <p:nvPicPr>
          <p:cNvPr id="96" name="Google Shape;96;p17"/>
          <p:cNvPicPr preferRelativeResize="0"/>
          <p:nvPr/>
        </p:nvPicPr>
        <p:blipFill>
          <a:blip r:embed="rId3">
            <a:alphaModFix/>
          </a:blip>
          <a:stretch>
            <a:fillRect/>
          </a:stretch>
        </p:blipFill>
        <p:spPr>
          <a:xfrm>
            <a:off x="10387950" y="1208048"/>
            <a:ext cx="2620326" cy="3330576"/>
          </a:xfrm>
          <a:prstGeom prst="rect">
            <a:avLst/>
          </a:prstGeom>
          <a:noFill/>
          <a:ln>
            <a:noFill/>
          </a:ln>
        </p:spPr>
      </p:pic>
      <p:sp>
        <p:nvSpPr>
          <p:cNvPr id="97" name="Google Shape;97;p17"/>
          <p:cNvSpPr txBox="1"/>
          <p:nvPr/>
        </p:nvSpPr>
        <p:spPr>
          <a:xfrm>
            <a:off x="479850" y="1036325"/>
            <a:ext cx="45720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solidFill>
                  <a:srgbClr val="743673"/>
                </a:solidFill>
                <a:latin typeface="Montserrat"/>
                <a:ea typeface="Montserrat"/>
                <a:cs typeface="Montserrat"/>
                <a:sym typeface="Montserrat"/>
              </a:rPr>
              <a:t>Saran/Masukan Learning journey (Milestone)</a:t>
            </a:r>
            <a:endParaRPr b="1">
              <a:solidFill>
                <a:srgbClr val="743673"/>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Milestone sudah cukup mengakomodir kebutuhan perkembangan industri, tetapi perlu diperluas lagi kebutuhan yang diperlukan terutama seperti design system dll.</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D2D untuk riset dan desain sistem perlu diperbanyak lagi waktunya.</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Metode PBL: Perlu ditambah case sesuai teori yang dipelajari ditambahkan pada bahan materi untuk bisa dipecahkan oleh student melalui workshop yang dilakukan pada proses pembelajaran sebelum mengerjakan challenge.</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Pada setiap chapter perlu diadakan grooming antara ID, Facil, dan SME terkait hal apa yang harus dilakukan pada saat mengajar.</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Alokasi waktu D2D untuk riset dan desain sistem perlu diperbanyak lagi waktunya.</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p:txBody>
      </p:sp>
      <p:pic>
        <p:nvPicPr>
          <p:cNvPr id="98" name="Google Shape;98;p17"/>
          <p:cNvPicPr preferRelativeResize="0"/>
          <p:nvPr/>
        </p:nvPicPr>
        <p:blipFill>
          <a:blip r:embed="rId4">
            <a:alphaModFix/>
          </a:blip>
          <a:stretch>
            <a:fillRect/>
          </a:stretch>
        </p:blipFill>
        <p:spPr>
          <a:xfrm>
            <a:off x="5257800" y="1412325"/>
            <a:ext cx="3597601" cy="29220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nvSpPr>
        <p:spPr>
          <a:xfrm>
            <a:off x="685800" y="1113225"/>
            <a:ext cx="4748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solidFill>
                  <a:srgbClr val="743673"/>
                </a:solidFill>
                <a:latin typeface="Montserrat"/>
                <a:ea typeface="Montserrat"/>
                <a:cs typeface="Montserrat"/>
                <a:sym typeface="Montserrat"/>
              </a:rPr>
              <a:t>Saran/Masukan Reading Materials</a:t>
            </a:r>
            <a:endParaRPr b="1"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Materi pengenalan sejarah UI/UX perlu ditinjau ulang karena sebagai pengetahuan tambahan tidak perlu masukan dalam topik chapter/bisa digabung dengan materi yang lain yang bobotnya lebih ringan, perlu diselipkan adanya teori kemudian langsung praktik.</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Pengenalan basic knowledge pada chapter 1 terlalu banyak, dan challengenya hanya mengulas ulang sejarah aja yang menurut student menarik, lebih baik relevansi challengenya disesuaikan kembali dengan design thinking.</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Perlu ditambah struktur materi best practice mengenai riset secara aktual di lapangan seperti mengatur riset, metode riset, mengolah data dsb.</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100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Materi design system perlu dispesifikan kembali cakupannya sesuai kebutuhan sekarang, Seperti. Atomic Design, Auto layout, dsb.</a:t>
            </a:r>
            <a:endParaRPr sz="1000">
              <a:solidFill>
                <a:schemeClr val="dk1"/>
              </a:solidFill>
              <a:latin typeface="Montserrat"/>
              <a:ea typeface="Montserrat"/>
              <a:cs typeface="Montserrat"/>
              <a:sym typeface="Montserrat"/>
            </a:endParaRPr>
          </a:p>
        </p:txBody>
      </p:sp>
      <p:sp>
        <p:nvSpPr>
          <p:cNvPr id="104" name="Google Shape;104;p1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 name="Google Shape;105;p1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Course Review - Facilitator</a:t>
            </a:r>
            <a:endParaRPr>
              <a:latin typeface="Montserrat"/>
              <a:ea typeface="Montserrat"/>
              <a:cs typeface="Montserrat"/>
              <a:sym typeface="Montserrat"/>
            </a:endParaRPr>
          </a:p>
        </p:txBody>
      </p:sp>
      <p:pic>
        <p:nvPicPr>
          <p:cNvPr id="106" name="Google Shape;106;p18"/>
          <p:cNvPicPr preferRelativeResize="0"/>
          <p:nvPr/>
        </p:nvPicPr>
        <p:blipFill>
          <a:blip r:embed="rId3">
            <a:alphaModFix/>
          </a:blip>
          <a:stretch>
            <a:fillRect/>
          </a:stretch>
        </p:blipFill>
        <p:spPr>
          <a:xfrm>
            <a:off x="5876347" y="1113225"/>
            <a:ext cx="2465799" cy="36045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nvSpPr>
        <p:spPr>
          <a:xfrm>
            <a:off x="685800" y="1034950"/>
            <a:ext cx="4730100" cy="3676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t/>
            </a:r>
            <a:endParaRPr b="1">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5"/>
            </a:pPr>
            <a:r>
              <a:rPr lang="en" sz="1000">
                <a:solidFill>
                  <a:schemeClr val="dk1"/>
                </a:solidFill>
                <a:latin typeface="Montserrat"/>
                <a:ea typeface="Montserrat"/>
                <a:cs typeface="Montserrat"/>
                <a:sym typeface="Montserrat"/>
              </a:rPr>
              <a:t>Materi mengenai praktik tools Figma seharusnya porsinya lebih diperbanyak lagi pada setiap chapter Seperti penggunaan tools Fig Jam dsb., sehingga setelah mempelajari materi/teori dari reading materials student bisa langsung mempraktekkan apa yang telah dipelajari pada setiap chapternya selain mengerjakan challenge.</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startAt="5"/>
            </a:pPr>
            <a:r>
              <a:rPr lang="en" sz="1000">
                <a:solidFill>
                  <a:schemeClr val="dk1"/>
                </a:solidFill>
                <a:latin typeface="Montserrat"/>
                <a:ea typeface="Montserrat"/>
                <a:cs typeface="Montserrat"/>
                <a:sym typeface="Montserrat"/>
              </a:rPr>
              <a:t>Challenge chapter 6 cakupannya hanya redesign saja, tidak menyinggung terkait ux writing, padahal keduanya ada dalam satu chapter materi.</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startAt="5"/>
            </a:pPr>
            <a:r>
              <a:rPr lang="en" sz="1000">
                <a:solidFill>
                  <a:schemeClr val="dk1"/>
                </a:solidFill>
                <a:latin typeface="Montserrat"/>
                <a:ea typeface="Montserrat"/>
                <a:cs typeface="Montserrat"/>
                <a:sym typeface="Montserrat"/>
              </a:rPr>
              <a:t>CH6 materi UX Writing kurang terstruktur dan perlu diperluas lagi karena kurang menyentuh secara detailnya.</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startAt="5"/>
            </a:pPr>
            <a:r>
              <a:rPr lang="en" sz="1000">
                <a:solidFill>
                  <a:schemeClr val="dk1"/>
                </a:solidFill>
                <a:latin typeface="Montserrat"/>
                <a:ea typeface="Montserrat"/>
                <a:cs typeface="Montserrat"/>
                <a:sym typeface="Montserrat"/>
              </a:rPr>
              <a:t>Chapter 8 terkait kebutuhan materi, Metodologi Manajemen Proyek baiknya langsung menjelaskan pada metode yang sering digunakan di industri saat ini seperti scrum/agile dan best practice di perusahaan/industri seperti apa.</a:t>
            </a:r>
            <a:endParaRPr sz="1000">
              <a:solidFill>
                <a:schemeClr val="dk1"/>
              </a:solidFill>
              <a:latin typeface="Montserrat"/>
              <a:ea typeface="Montserrat"/>
              <a:cs typeface="Montserrat"/>
              <a:sym typeface="Montserrat"/>
            </a:endParaRPr>
          </a:p>
        </p:txBody>
      </p:sp>
      <p:sp>
        <p:nvSpPr>
          <p:cNvPr id="112" name="Google Shape;112;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Course Review - </a:t>
            </a:r>
            <a:r>
              <a:rPr lang="en">
                <a:latin typeface="Montserrat"/>
                <a:ea typeface="Montserrat"/>
                <a:cs typeface="Montserrat"/>
                <a:sym typeface="Montserrat"/>
              </a:rPr>
              <a:t>Facilitator</a:t>
            </a:r>
            <a:endParaRPr>
              <a:latin typeface="Montserrat"/>
              <a:ea typeface="Montserrat"/>
              <a:cs typeface="Montserrat"/>
              <a:sym typeface="Montserrat"/>
            </a:endParaRPr>
          </a:p>
        </p:txBody>
      </p:sp>
      <p:pic>
        <p:nvPicPr>
          <p:cNvPr id="114" name="Google Shape;114;p19"/>
          <p:cNvPicPr preferRelativeResize="0"/>
          <p:nvPr/>
        </p:nvPicPr>
        <p:blipFill>
          <a:blip r:embed="rId3">
            <a:alphaModFix/>
          </a:blip>
          <a:stretch>
            <a:fillRect/>
          </a:stretch>
        </p:blipFill>
        <p:spPr>
          <a:xfrm>
            <a:off x="5876347" y="1113225"/>
            <a:ext cx="2465799" cy="36045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nvSpPr>
        <p:spPr>
          <a:xfrm>
            <a:off x="562650" y="1124125"/>
            <a:ext cx="492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t/>
            </a:r>
            <a:endParaRPr b="1">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9"/>
            </a:pPr>
            <a:r>
              <a:rPr lang="en" sz="1000">
                <a:solidFill>
                  <a:schemeClr val="dk1"/>
                </a:solidFill>
                <a:latin typeface="Montserrat"/>
                <a:ea typeface="Montserrat"/>
                <a:cs typeface="Montserrat"/>
                <a:sym typeface="Montserrat"/>
              </a:rPr>
              <a:t>Terdapat contoh-contoh yang masih menggantung yang perlu ditinjau kembali, selebihnya cakupannya sudah relevan.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startAt="9"/>
            </a:pPr>
            <a:r>
              <a:rPr lang="en" sz="1000">
                <a:solidFill>
                  <a:schemeClr val="dk1"/>
                </a:solidFill>
                <a:latin typeface="Montserrat"/>
                <a:ea typeface="Montserrat"/>
                <a:cs typeface="Montserrat"/>
                <a:sym typeface="Montserrat"/>
              </a:rPr>
              <a:t>Ilustrasi, contoh, redaksi penulisan cukup membantu untuk pemahaman materi bagi student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startAt="9"/>
            </a:pPr>
            <a:r>
              <a:rPr lang="en" sz="1000">
                <a:solidFill>
                  <a:schemeClr val="dk1"/>
                </a:solidFill>
                <a:latin typeface="Montserrat"/>
                <a:ea typeface="Montserrat"/>
                <a:cs typeface="Montserrat"/>
                <a:sym typeface="Montserrat"/>
              </a:rPr>
              <a:t>Perlu diselipkan best practice secara aktual penerapan/pemakaian UI/UX di beberapa industri/perusahaan.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1000"/>
              </a:spcAft>
              <a:buClr>
                <a:schemeClr val="dk1"/>
              </a:buClr>
              <a:buSzPts val="1000"/>
              <a:buFont typeface="Montserrat"/>
              <a:buAutoNum type="arabicPeriod" startAt="9"/>
            </a:pPr>
            <a:r>
              <a:rPr lang="en" sz="1000">
                <a:solidFill>
                  <a:schemeClr val="dk1"/>
                </a:solidFill>
                <a:latin typeface="Montserrat"/>
                <a:ea typeface="Montserrat"/>
                <a:cs typeface="Montserrat"/>
                <a:sym typeface="Montserrat"/>
              </a:rPr>
              <a:t>Untuk persiapan menghadapi final project perlu ditambah materi mengenai pembuatan Deck Research.</a:t>
            </a:r>
            <a:endParaRPr sz="1000">
              <a:solidFill>
                <a:schemeClr val="dk1"/>
              </a:solidFill>
              <a:latin typeface="Montserrat"/>
              <a:ea typeface="Montserrat"/>
              <a:cs typeface="Montserrat"/>
              <a:sym typeface="Montserrat"/>
            </a:endParaRPr>
          </a:p>
        </p:txBody>
      </p:sp>
      <p:sp>
        <p:nvSpPr>
          <p:cNvPr id="120" name="Google Shape;120;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Course Review - Facilitator</a:t>
            </a:r>
            <a:endParaRPr>
              <a:latin typeface="Montserrat"/>
              <a:ea typeface="Montserrat"/>
              <a:cs typeface="Montserrat"/>
              <a:sym typeface="Montserrat"/>
            </a:endParaRPr>
          </a:p>
        </p:txBody>
      </p:sp>
      <p:pic>
        <p:nvPicPr>
          <p:cNvPr id="122" name="Google Shape;122;p20"/>
          <p:cNvPicPr preferRelativeResize="0"/>
          <p:nvPr/>
        </p:nvPicPr>
        <p:blipFill>
          <a:blip r:embed="rId3">
            <a:alphaModFix/>
          </a:blip>
          <a:stretch>
            <a:fillRect/>
          </a:stretch>
        </p:blipFill>
        <p:spPr>
          <a:xfrm>
            <a:off x="5828819" y="1124125"/>
            <a:ext cx="2692156" cy="3698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nvSpPr>
        <p:spPr>
          <a:xfrm>
            <a:off x="572400" y="971550"/>
            <a:ext cx="492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startAt="13"/>
            </a:pPr>
            <a:r>
              <a:rPr lang="en" sz="1000">
                <a:solidFill>
                  <a:schemeClr val="dk1"/>
                </a:solidFill>
                <a:latin typeface="Montserrat"/>
                <a:ea typeface="Montserrat"/>
                <a:cs typeface="Montserrat"/>
                <a:sym typeface="Montserrat"/>
              </a:rPr>
              <a:t>Kalau bisa ditambah referensi video untuk membantu student memahami metode project management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startAt="13"/>
            </a:pPr>
            <a:r>
              <a:rPr lang="en" sz="1000">
                <a:solidFill>
                  <a:schemeClr val="dk1"/>
                </a:solidFill>
                <a:latin typeface="Montserrat"/>
                <a:ea typeface="Montserrat"/>
                <a:cs typeface="Montserrat"/>
                <a:sym typeface="Montserrat"/>
              </a:rPr>
              <a:t>Materi antar topik/sub topik masih ada beberapa yang masih redundan dan masih terasa seperti terjemahan pada beberapa bagian chapter materi terkait design thinking process.</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startAt="13"/>
            </a:pPr>
            <a:r>
              <a:rPr lang="en" sz="1000">
                <a:solidFill>
                  <a:schemeClr val="dk1"/>
                </a:solidFill>
                <a:latin typeface="Montserrat"/>
                <a:ea typeface="Montserrat"/>
                <a:cs typeface="Montserrat"/>
                <a:sym typeface="Montserrat"/>
              </a:rPr>
              <a:t>Terdapat beberapa bobot materinya yang tidak berimbang (ada yang sedikit dan banyak) dengan jumlah alokasi waktu per harinya, sehingga membuat sisa waktunya menjadi banyak yang tidak terpakai, tetapi sisanya digunakan dengan Games untuk meningkatkan keterlibatan student.</a:t>
            </a:r>
            <a:endParaRPr sz="1000">
              <a:solidFill>
                <a:schemeClr val="dk1"/>
              </a:solidFill>
              <a:latin typeface="Montserrat"/>
              <a:ea typeface="Montserrat"/>
              <a:cs typeface="Montserrat"/>
              <a:sym typeface="Montserrat"/>
            </a:endParaRPr>
          </a:p>
        </p:txBody>
      </p:sp>
      <p:sp>
        <p:nvSpPr>
          <p:cNvPr id="128" name="Google Shape;128;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9" name="Google Shape;129;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Course Review - Facilitator</a:t>
            </a:r>
            <a:endParaRPr>
              <a:latin typeface="Montserrat"/>
              <a:ea typeface="Montserrat"/>
              <a:cs typeface="Montserrat"/>
              <a:sym typeface="Montserrat"/>
            </a:endParaRPr>
          </a:p>
        </p:txBody>
      </p:sp>
      <p:pic>
        <p:nvPicPr>
          <p:cNvPr id="130" name="Google Shape;130;p21"/>
          <p:cNvPicPr preferRelativeResize="0"/>
          <p:nvPr/>
        </p:nvPicPr>
        <p:blipFill>
          <a:blip r:embed="rId3">
            <a:alphaModFix/>
          </a:blip>
          <a:stretch>
            <a:fillRect/>
          </a:stretch>
        </p:blipFill>
        <p:spPr>
          <a:xfrm>
            <a:off x="5828819" y="1124125"/>
            <a:ext cx="2692156" cy="36988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txBox="1"/>
          <p:nvPr/>
        </p:nvSpPr>
        <p:spPr>
          <a:xfrm>
            <a:off x="732900" y="1122250"/>
            <a:ext cx="4837200" cy="3502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solidFill>
                  <a:srgbClr val="743673"/>
                </a:solidFill>
                <a:latin typeface="Montserrat"/>
                <a:ea typeface="Montserrat"/>
                <a:cs typeface="Montserrat"/>
                <a:sym typeface="Montserrat"/>
              </a:rPr>
              <a:t>Saran/Masukan Quiz &amp; Challenge</a:t>
            </a:r>
            <a:endParaRPr b="1">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a:pPr>
            <a:r>
              <a:rPr lang="en" sz="1000">
                <a:solidFill>
                  <a:schemeClr val="dk1"/>
                </a:solidFill>
                <a:highlight>
                  <a:srgbClr val="FFFFFF"/>
                </a:highlight>
                <a:latin typeface="Montserrat"/>
                <a:ea typeface="Montserrat"/>
                <a:cs typeface="Montserrat"/>
                <a:sym typeface="Montserrat"/>
              </a:rPr>
              <a:t>Soal kuis sudah bisa mengevaluasi kemampuan student walaupun pada saat 3 chapter awal student soalnya bisa dilihat soal terlebih dahulu di RM yang sempat membuat student langsung melihat kunci jawabannya, dan tingkatan soal levelnya perlu ditingkatkan lagi (High Order Thinking) kalau bisa menggunakan jenis soal yang terbuka/essay.</a:t>
            </a:r>
            <a:endParaRPr sz="1000">
              <a:solidFill>
                <a:schemeClr val="dk1"/>
              </a:solidFill>
              <a:highlight>
                <a:srgbClr val="FFFFFF"/>
              </a:highlight>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a:pPr>
            <a:r>
              <a:rPr lang="en" sz="1000">
                <a:solidFill>
                  <a:schemeClr val="dk1"/>
                </a:solidFill>
                <a:highlight>
                  <a:srgbClr val="FFFFFF"/>
                </a:highlight>
                <a:latin typeface="Montserrat"/>
                <a:ea typeface="Montserrat"/>
                <a:cs typeface="Montserrat"/>
                <a:sym typeface="Montserrat"/>
              </a:rPr>
              <a:t>Opsi jawaban masih menemukan yang bias/kemungkinan jawaban yang benarnya ada dua.</a:t>
            </a:r>
            <a:endParaRPr sz="1000">
              <a:solidFill>
                <a:schemeClr val="dk1"/>
              </a:solidFill>
              <a:highlight>
                <a:srgbClr val="FFFFFF"/>
              </a:highlight>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a:pPr>
            <a:r>
              <a:rPr lang="en" sz="1000">
                <a:solidFill>
                  <a:schemeClr val="dk1"/>
                </a:solidFill>
                <a:highlight>
                  <a:srgbClr val="FFFFFF"/>
                </a:highlight>
                <a:latin typeface="Montserrat"/>
                <a:ea typeface="Montserrat"/>
                <a:cs typeface="Montserrat"/>
                <a:sym typeface="Montserrat"/>
              </a:rPr>
              <a:t>Setiap instruksi challenge kalau bisa diperjelas lagi seperti bagaimana gambaran outputnya secara keseluruhan challenge bentuknya bagaimana/kasih contohnya.</a:t>
            </a:r>
            <a:endParaRPr sz="1000">
              <a:solidFill>
                <a:schemeClr val="dk1"/>
              </a:solidFill>
              <a:highlight>
                <a:srgbClr val="FFFFFF"/>
              </a:highlight>
              <a:latin typeface="Montserrat"/>
              <a:ea typeface="Montserrat"/>
              <a:cs typeface="Montserrat"/>
              <a:sym typeface="Montserrat"/>
            </a:endParaRPr>
          </a:p>
          <a:p>
            <a:pPr indent="-292100" lvl="0" marL="457200" rtl="0" algn="just">
              <a:lnSpc>
                <a:spcPct val="115000"/>
              </a:lnSpc>
              <a:spcBef>
                <a:spcPts val="1000"/>
              </a:spcBef>
              <a:spcAft>
                <a:spcPts val="1000"/>
              </a:spcAft>
              <a:buClr>
                <a:schemeClr val="dk1"/>
              </a:buClr>
              <a:buSzPts val="1000"/>
              <a:buFont typeface="Montserrat"/>
              <a:buAutoNum type="arabicPeriod"/>
            </a:pPr>
            <a:r>
              <a:rPr lang="en" sz="1000">
                <a:solidFill>
                  <a:schemeClr val="dk1"/>
                </a:solidFill>
                <a:highlight>
                  <a:srgbClr val="FFFFFF"/>
                </a:highlight>
                <a:latin typeface="Montserrat"/>
                <a:ea typeface="Montserrat"/>
                <a:cs typeface="Montserrat"/>
                <a:sym typeface="Montserrat"/>
              </a:rPr>
              <a:t>Instruksi pengerjaan challenge secara per individu ataupun tim perlu dicantumkan agar mempermudah student</a:t>
            </a:r>
            <a:endParaRPr sz="1000">
              <a:solidFill>
                <a:schemeClr val="dk1"/>
              </a:solidFill>
              <a:highlight>
                <a:srgbClr val="FFFFFF"/>
              </a:highlight>
              <a:latin typeface="Montserrat"/>
              <a:ea typeface="Montserrat"/>
              <a:cs typeface="Montserrat"/>
              <a:sym typeface="Montserrat"/>
            </a:endParaRPr>
          </a:p>
        </p:txBody>
      </p:sp>
      <p:sp>
        <p:nvSpPr>
          <p:cNvPr id="136" name="Google Shape;136;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7" name="Google Shape;137;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Course Review - Facilitator</a:t>
            </a:r>
            <a:endParaRPr>
              <a:latin typeface="Montserrat"/>
              <a:ea typeface="Montserrat"/>
              <a:cs typeface="Montserrat"/>
              <a:sym typeface="Montserrat"/>
            </a:endParaRPr>
          </a:p>
        </p:txBody>
      </p:sp>
      <p:pic>
        <p:nvPicPr>
          <p:cNvPr id="138" name="Google Shape;138;p22"/>
          <p:cNvPicPr preferRelativeResize="0"/>
          <p:nvPr/>
        </p:nvPicPr>
        <p:blipFill>
          <a:blip r:embed="rId3">
            <a:alphaModFix/>
          </a:blip>
          <a:stretch>
            <a:fillRect/>
          </a:stretch>
        </p:blipFill>
        <p:spPr>
          <a:xfrm>
            <a:off x="6162675" y="1055975"/>
            <a:ext cx="2018278" cy="35922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4" name="Google Shape;144;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Course Review - Student</a:t>
            </a:r>
            <a:endParaRPr>
              <a:latin typeface="Montserrat"/>
              <a:ea typeface="Montserrat"/>
              <a:cs typeface="Montserrat"/>
              <a:sym typeface="Montserrat"/>
            </a:endParaRPr>
          </a:p>
        </p:txBody>
      </p:sp>
      <p:sp>
        <p:nvSpPr>
          <p:cNvPr id="145" name="Google Shape;145;p23"/>
          <p:cNvSpPr txBox="1"/>
          <p:nvPr/>
        </p:nvSpPr>
        <p:spPr>
          <a:xfrm>
            <a:off x="685800" y="1036600"/>
            <a:ext cx="4292400" cy="367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solidFill>
                  <a:srgbClr val="743673"/>
                </a:solidFill>
                <a:latin typeface="Montserrat"/>
                <a:ea typeface="Montserrat"/>
                <a:cs typeface="Montserrat"/>
                <a:sym typeface="Montserrat"/>
              </a:rPr>
              <a:t>Saran/Masukan Learning journey (Milestone)</a:t>
            </a:r>
            <a:endParaRPr b="1">
              <a:solidFill>
                <a:schemeClr val="dk1"/>
              </a:solidFill>
              <a:latin typeface="Montserrat"/>
              <a:ea typeface="Montserrat"/>
              <a:cs typeface="Montserrat"/>
              <a:sym typeface="Montserrat"/>
            </a:endParaRPr>
          </a:p>
          <a:p>
            <a:pPr indent="-298450" lvl="0" marL="457200" rtl="0" algn="just">
              <a:lnSpc>
                <a:spcPct val="115000"/>
              </a:lnSpc>
              <a:spcBef>
                <a:spcPts val="1000"/>
              </a:spcBef>
              <a:spcAft>
                <a:spcPts val="0"/>
              </a:spcAft>
              <a:buClr>
                <a:schemeClr val="dk1"/>
              </a:buClr>
              <a:buSzPts val="1100"/>
              <a:buFont typeface="Montserrat Medium"/>
              <a:buAutoNum type="arabicPeriod"/>
            </a:pPr>
            <a:r>
              <a:rPr lang="en" sz="1000">
                <a:solidFill>
                  <a:schemeClr val="dk1"/>
                </a:solidFill>
                <a:latin typeface="Montserrat"/>
                <a:ea typeface="Montserrat"/>
                <a:cs typeface="Montserrat"/>
                <a:sym typeface="Montserrat"/>
              </a:rPr>
              <a:t>Learning journey sudah berurutan dari yang basic, intermediate sampai advance sesuai tingkatan kemampuan berpikir student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100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Struktur materi yang cukup menarik bagi student untuk  bisa dijadikan bekal berkarir sebagai Product Designer, namun ada yang dirasa terlalu padat dan ada yang kurang detail dan waktu yang kurang khususnya aktivitas terkait desain sistem dan tools figma.</a:t>
            </a:r>
            <a:endParaRPr sz="1000">
              <a:solidFill>
                <a:schemeClr val="dk1"/>
              </a:solidFill>
              <a:latin typeface="Montserrat"/>
              <a:ea typeface="Montserrat"/>
              <a:cs typeface="Montserrat"/>
              <a:sym typeface="Montserrat"/>
            </a:endParaRPr>
          </a:p>
        </p:txBody>
      </p:sp>
      <p:pic>
        <p:nvPicPr>
          <p:cNvPr id="146" name="Google Shape;146;p23"/>
          <p:cNvPicPr preferRelativeResize="0"/>
          <p:nvPr/>
        </p:nvPicPr>
        <p:blipFill>
          <a:blip r:embed="rId3">
            <a:alphaModFix/>
          </a:blip>
          <a:stretch>
            <a:fillRect/>
          </a:stretch>
        </p:blipFill>
        <p:spPr>
          <a:xfrm>
            <a:off x="5338800" y="1427300"/>
            <a:ext cx="3342200" cy="3098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nvSpPr>
        <p:spPr>
          <a:xfrm>
            <a:off x="490350" y="872850"/>
            <a:ext cx="5078100" cy="357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solidFill>
                  <a:srgbClr val="743673"/>
                </a:solidFill>
                <a:latin typeface="Montserrat"/>
                <a:ea typeface="Montserrat"/>
                <a:cs typeface="Montserrat"/>
                <a:sym typeface="Montserrat"/>
              </a:rPr>
              <a:t>Saran/Masukan Reading Materials</a:t>
            </a:r>
            <a:endParaRPr b="1" sz="16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Materi dapat dipelajari dengan mudah, saat memasuki chapter 7-8 tingkat kesulitannya semakin tinggi untuk student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Topik materi dalam RM mengenai desain sistem secara langkah-langkah dan praktikum perlu diperluas lagi scope materinya.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Praktik tools Figma perlu diselipkan pada setiap chapternya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Ilustrasi dan bahasa reading materials memudahkan student untuk memahami materi, saat memasuki dua chapter terakhir load materinya lumayan banyak</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Penjelasan, Contoh, dan Analogi Membantu student untuk lebih memahami materi maksud dari materi yang bersifat abstrak</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RM CH8 bobot materi dalam slidenya terlalu banyak, perlu disesuaikan dengan menjelaskan langsung/to the point ke metode yang sedang digunakan di industri saat ini.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Reading materials menarik, tidak terlalu bertele-tele, cukup memudahkan memahami materi, tetapi urutan materi reading material masih menemukan yang kurang terstruktur</a:t>
            </a:r>
            <a:endParaRPr sz="1000">
              <a:solidFill>
                <a:schemeClr val="dk1"/>
              </a:solidFill>
              <a:latin typeface="Montserrat"/>
              <a:ea typeface="Montserrat"/>
              <a:cs typeface="Montserrat"/>
              <a:sym typeface="Montserrat"/>
            </a:endParaRPr>
          </a:p>
        </p:txBody>
      </p:sp>
      <p:sp>
        <p:nvSpPr>
          <p:cNvPr id="152" name="Google Shape;152;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3" name="Google Shape;153;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Course Review - Student</a:t>
            </a:r>
            <a:endParaRPr>
              <a:latin typeface="Montserrat"/>
              <a:ea typeface="Montserrat"/>
              <a:cs typeface="Montserrat"/>
              <a:sym typeface="Montserrat"/>
            </a:endParaRPr>
          </a:p>
        </p:txBody>
      </p:sp>
      <p:pic>
        <p:nvPicPr>
          <p:cNvPr id="154" name="Google Shape;154;p24"/>
          <p:cNvPicPr preferRelativeResize="0"/>
          <p:nvPr/>
        </p:nvPicPr>
        <p:blipFill>
          <a:blip r:embed="rId3">
            <a:alphaModFix/>
          </a:blip>
          <a:stretch>
            <a:fillRect/>
          </a:stretch>
        </p:blipFill>
        <p:spPr>
          <a:xfrm>
            <a:off x="6023056" y="977275"/>
            <a:ext cx="2448545" cy="3579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nvSpPr>
        <p:spPr>
          <a:xfrm>
            <a:off x="553950" y="917075"/>
            <a:ext cx="5014500" cy="373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solidFill>
                  <a:srgbClr val="743673"/>
                </a:solidFill>
                <a:latin typeface="Montserrat"/>
                <a:ea typeface="Montserrat"/>
                <a:cs typeface="Montserrat"/>
                <a:sym typeface="Montserrat"/>
              </a:rPr>
              <a:t>Saran/Masukan Quiz &amp; Challenge</a:t>
            </a:r>
            <a:endParaRPr b="1" sz="16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Challenge diperjelas lagi alur perintahnya dan kasih contoh bagaimana bentuk/standar output yang diharapkannya seperti apa.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Referensi &amp; </a:t>
            </a:r>
            <a:r>
              <a:rPr lang="en" sz="1000">
                <a:solidFill>
                  <a:schemeClr val="dk1"/>
                </a:solidFill>
                <a:latin typeface="Montserrat"/>
                <a:ea typeface="Montserrat"/>
                <a:cs typeface="Montserrat"/>
                <a:sym typeface="Montserrat"/>
              </a:rPr>
              <a:t>Hyperlink</a:t>
            </a:r>
            <a:r>
              <a:rPr lang="en" sz="1000">
                <a:solidFill>
                  <a:schemeClr val="dk1"/>
                </a:solidFill>
                <a:latin typeface="Montserrat"/>
                <a:ea typeface="Montserrat"/>
                <a:cs typeface="Montserrat"/>
                <a:sym typeface="Montserrat"/>
              </a:rPr>
              <a:t> dalam reading material membantu student untuk mengeksplor materi &amp; membuka wawasan yang sebelumnya tidak tahu, menjadi tahu hal yang baru tentang UI/UX</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Durasi pengerjaan challenge sudah cukup (tergantung manajemen waktu masing-masing student)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Petunjuk pada deck challenge masih ada yang multitafsir seperti pengerjaanya secara individu atau berkelompok untuk pengerjaan challengenya.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Pengerjaan challenge CH8 lumayan membutuhkan effort karena perlu memahami lebih dalam mengenai project plan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Soal quiz perlu disesuaikan dengan materi, karena masih ada soal yang menguji hal yang mendetail tetapi dalam reading materialnya tidak menjelaskan secara detailnya</a:t>
            </a:r>
            <a:endParaRPr sz="1000">
              <a:solidFill>
                <a:schemeClr val="dk1"/>
              </a:solidFill>
              <a:latin typeface="Montserrat"/>
              <a:ea typeface="Montserrat"/>
              <a:cs typeface="Montserrat"/>
              <a:sym typeface="Montserrat"/>
            </a:endParaRPr>
          </a:p>
        </p:txBody>
      </p:sp>
      <p:sp>
        <p:nvSpPr>
          <p:cNvPr id="160" name="Google Shape;160;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1" name="Google Shape;161;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Course Review - Student</a:t>
            </a:r>
            <a:endParaRPr>
              <a:latin typeface="Montserrat"/>
              <a:ea typeface="Montserrat"/>
              <a:cs typeface="Montserrat"/>
              <a:sym typeface="Montserrat"/>
            </a:endParaRPr>
          </a:p>
        </p:txBody>
      </p:sp>
      <p:pic>
        <p:nvPicPr>
          <p:cNvPr id="162" name="Google Shape;162;p25"/>
          <p:cNvPicPr preferRelativeResize="0"/>
          <p:nvPr/>
        </p:nvPicPr>
        <p:blipFill>
          <a:blip r:embed="rId3">
            <a:alphaModFix/>
          </a:blip>
          <a:stretch>
            <a:fillRect/>
          </a:stretch>
        </p:blipFill>
        <p:spPr>
          <a:xfrm>
            <a:off x="6162675" y="1055975"/>
            <a:ext cx="2018278" cy="35922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166" name="Shape 166"/>
        <p:cNvGrpSpPr/>
        <p:nvPr/>
      </p:nvGrpSpPr>
      <p:grpSpPr>
        <a:xfrm>
          <a:off x="0" y="0"/>
          <a:ext cx="0" cy="0"/>
          <a:chOff x="0" y="0"/>
          <a:chExt cx="0" cy="0"/>
        </a:xfrm>
      </p:grpSpPr>
      <p:sp>
        <p:nvSpPr>
          <p:cNvPr id="167" name="Google Shape;167;p26"/>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6"/>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169" name="Google Shape;169;p26"/>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170" name="Google Shape;170;p26"/>
          <p:cNvPicPr preferRelativeResize="0"/>
          <p:nvPr/>
        </p:nvPicPr>
        <p:blipFill>
          <a:blip r:embed="rId5">
            <a:alphaModFix/>
          </a:blip>
          <a:stretch>
            <a:fillRect/>
          </a:stretch>
        </p:blipFill>
        <p:spPr>
          <a:xfrm>
            <a:off x="1103225" y="6174213"/>
            <a:ext cx="1991475" cy="689575"/>
          </a:xfrm>
          <a:prstGeom prst="rect">
            <a:avLst/>
          </a:prstGeom>
          <a:noFill/>
          <a:ln>
            <a:noFill/>
          </a:ln>
        </p:spPr>
      </p:pic>
      <p:pic>
        <p:nvPicPr>
          <p:cNvPr id="171" name="Google Shape;171;p26"/>
          <p:cNvPicPr preferRelativeResize="0"/>
          <p:nvPr/>
        </p:nvPicPr>
        <p:blipFill>
          <a:blip r:embed="rId6">
            <a:alphaModFix/>
          </a:blip>
          <a:stretch>
            <a:fillRect/>
          </a:stretch>
        </p:blipFill>
        <p:spPr>
          <a:xfrm>
            <a:off x="487625" y="4141560"/>
            <a:ext cx="1991475" cy="685884"/>
          </a:xfrm>
          <a:prstGeom prst="rect">
            <a:avLst/>
          </a:prstGeom>
          <a:noFill/>
          <a:ln>
            <a:noFill/>
          </a:ln>
        </p:spPr>
      </p:pic>
      <p:sp>
        <p:nvSpPr>
          <p:cNvPr id="172" name="Google Shape;172;p26"/>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3" name="Google Shape;173;p26"/>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174" name="Google Shape;174;p26"/>
          <p:cNvPicPr preferRelativeResize="0"/>
          <p:nvPr/>
        </p:nvPicPr>
        <p:blipFill>
          <a:blip r:embed="rId7">
            <a:alphaModFix/>
          </a:blip>
          <a:stretch>
            <a:fillRect/>
          </a:stretch>
        </p:blipFill>
        <p:spPr>
          <a:xfrm>
            <a:off x="1734050" y="469336"/>
            <a:ext cx="5675902" cy="420482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